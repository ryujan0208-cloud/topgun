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55"/>
  </p:notesMasterIdLst>
  <p:sldIdLst>
    <p:sldId id="256" r:id="rId2"/>
    <p:sldId id="257" r:id="rId3"/>
    <p:sldId id="264" r:id="rId4"/>
    <p:sldId id="265" r:id="rId5"/>
    <p:sldId id="266" r:id="rId6"/>
    <p:sldId id="267" r:id="rId7"/>
    <p:sldId id="268" r:id="rId8"/>
    <p:sldId id="270" r:id="rId9"/>
    <p:sldId id="271" r:id="rId10"/>
    <p:sldId id="272" r:id="rId11"/>
    <p:sldId id="273" r:id="rId12"/>
    <p:sldId id="274" r:id="rId13"/>
    <p:sldId id="275" r:id="rId14"/>
    <p:sldId id="276" r:id="rId15"/>
    <p:sldId id="277" r:id="rId16"/>
    <p:sldId id="278" r:id="rId17"/>
    <p:sldId id="279" r:id="rId18"/>
    <p:sldId id="280" r:id="rId19"/>
    <p:sldId id="281" r:id="rId20"/>
    <p:sldId id="282" r:id="rId21"/>
    <p:sldId id="283" r:id="rId22"/>
    <p:sldId id="284" r:id="rId23"/>
    <p:sldId id="285" r:id="rId24"/>
    <p:sldId id="286" r:id="rId25"/>
    <p:sldId id="287" r:id="rId26"/>
    <p:sldId id="288" r:id="rId27"/>
    <p:sldId id="289" r:id="rId28"/>
    <p:sldId id="290" r:id="rId29"/>
    <p:sldId id="291" r:id="rId30"/>
    <p:sldId id="292" r:id="rId31"/>
    <p:sldId id="293" r:id="rId32"/>
    <p:sldId id="294" r:id="rId33"/>
    <p:sldId id="295" r:id="rId34"/>
    <p:sldId id="296" r:id="rId35"/>
    <p:sldId id="297" r:id="rId36"/>
    <p:sldId id="298" r:id="rId37"/>
    <p:sldId id="299" r:id="rId38"/>
    <p:sldId id="300" r:id="rId39"/>
    <p:sldId id="301" r:id="rId40"/>
    <p:sldId id="302" r:id="rId41"/>
    <p:sldId id="303" r:id="rId42"/>
    <p:sldId id="304" r:id="rId43"/>
    <p:sldId id="305" r:id="rId44"/>
    <p:sldId id="306" r:id="rId45"/>
    <p:sldId id="307" r:id="rId46"/>
    <p:sldId id="308" r:id="rId47"/>
    <p:sldId id="309" r:id="rId48"/>
    <p:sldId id="310" r:id="rId49"/>
    <p:sldId id="311" r:id="rId50"/>
    <p:sldId id="312" r:id="rId51"/>
    <p:sldId id="313" r:id="rId52"/>
    <p:sldId id="314" r:id="rId53"/>
    <p:sldId id="315" r:id="rId54"/>
  </p:sldIdLst>
  <p:sldSz cx="12192000" cy="6858000"/>
  <p:notesSz cx="6858000" cy="9144000"/>
  <p:embeddedFontLst>
    <p:embeddedFont>
      <p:font typeface="Malgun Gothic" panose="020B0503020000020004" pitchFamily="50" charset="-127"/>
      <p:regular r:id="rId56"/>
      <p:bold r:id="rId57"/>
    </p:embeddedFont>
    <p:embeddedFont>
      <p:font typeface="Cascadia Mono" panose="020B0609020000020004" pitchFamily="49" charset="0"/>
      <p:regular r:id="rId58"/>
      <p:bold r:id="rId59"/>
      <p:italic r:id="rId60"/>
      <p:boldItalic r:id="rId61"/>
    </p:embeddedFont>
    <p:embeddedFont>
      <p:font typeface="Noto Sans KR" panose="020B0200000000000000" pitchFamily="50" charset="-127"/>
      <p:regular r:id="rId62"/>
      <p:bold r:id="rId6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73" roundtripDataSignature="AMtx7mh44tZIB/fddoA7m70qB7nUYVre5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060E579-8E2B-459A-8DE3-BCF1734577AA}">
  <a:tblStyle styleId="{D060E579-8E2B-459A-8DE3-BCF1734577AA}" styleName="Table_0">
    <a:wholeTbl>
      <a:tcTxStyle b="off" i="off">
        <a:font>
          <a:latin typeface="맑은 고딕"/>
          <a:ea typeface="맑은 고딕"/>
          <a:cs typeface="맑은 고딕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E9EC"/>
          </a:solidFill>
        </a:fill>
      </a:tcStyle>
    </a:wholeTbl>
    <a:band1H>
      <a:tcTxStyle/>
      <a:tcStyle>
        <a:tcBdr/>
        <a:fill>
          <a:solidFill>
            <a:srgbClr val="CAD1D8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D1D8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80BE1FB7-3CA1-410F-A817-A3F1670AB12D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63" Type="http://schemas.openxmlformats.org/officeDocument/2006/relationships/font" Target="fonts/font8.fntdata"/><Relationship Id="rId76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font" Target="fonts/font3.fntdata"/><Relationship Id="rId7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2.fntdata"/><Relationship Id="rId61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font" Target="fonts/font5.fntdata"/><Relationship Id="rId73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1.fntdata"/><Relationship Id="rId77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4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font" Target="fonts/font7.fntdata"/><Relationship Id="rId75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소개</a:t>
            </a:r>
            <a:endParaRPr/>
          </a:p>
        </p:txBody>
      </p:sp>
      <p:sp>
        <p:nvSpPr>
          <p:cNvPr id="87" name="Google Shape;8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9" name="Google Shape;189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여러분들의 팀소개나 포부를 모두 읽어봤습니다.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거의 국방연구를 위한 열사들이 되어 계시던데..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아무튼 가끔 센서오차같은 내용이 나와서 확실하게 정하고 넘어갑니다.</a:t>
            </a:r>
            <a:endParaRPr/>
          </a:p>
        </p:txBody>
      </p:sp>
      <p:sp>
        <p:nvSpPr>
          <p:cNvPr id="190" name="Google Shape;190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0" name="Google Shape;210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앞서 말한것 처럼 상대를 격추, 최대한 많은 대미지를 주는것을 목표로함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교전 공간은 해수면 고도 1000ft 이상, 1000ft 이하 고도 도달 시 추락 처리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200초간 교전을 진행하고 더 많은 체력을 보유한 팀이 승리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0" name="Google Shape;230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알파도그 파이트나 AIP에서 사용한 대미지 알고리즘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범위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거리 비례 대미지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9" name="Google Shape;249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여러분은 어린이 난이도로 진행함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따라서 시간에 따라 점점 공격 범위가 늘어남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대신 Phase1에 적기를 위치 시킨다면 Phase1의 대미지가 들어가는 형식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어떻게든 여러분의 전투기가 공격을하고 무승부가 안나게 하기 위한 조치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6" name="Google Shape;296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제 2안으로 거의 결정됨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2" name="Google Shape;312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5" name="Google Shape;335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" name="Google Shape;355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7" name="Google Shape;367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7" name="Google Shape;377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4" name="Google Shape;404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4" name="Google Shape;434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3" name="Google Shape;453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0" name="Google Shape;460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0" name="Google Shape;490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1" name="Google Shape;491;p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8" name="Google Shape;508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9" name="Google Shape;529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6" name="Google Shape;556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9" name="Google Shape;589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7" name="Google Shape;607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8" name="Google Shape;608;p3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23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4" name="Google Shape;624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6" name="Google Shape;656;p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7" name="Google Shape;657;p3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25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endParaRPr/>
          </a:p>
        </p:txBody>
      </p:sp>
      <p:sp>
        <p:nvSpPr>
          <p:cNvPr id="664" name="Google Shape;664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rPr lang="ko-KR"/>
              <a:t>저는 언리얼엔진 개발자이기도 하고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rPr lang="ko-KR"/>
              <a:t>프로젝트의 초기 개발을 언리얼엔진 BT를 이용해서 개발을 했기때문에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rPr lang="ko-KR"/>
              <a:t>언리얼 엔진으로 이미 완성이된 BT를 학습에 활용하기 위하여 CPP 기반 트리로 재구현했습니다.</a:t>
            </a:r>
            <a:endParaRPr/>
          </a:p>
        </p:txBody>
      </p:sp>
      <p:sp>
        <p:nvSpPr>
          <p:cNvPr id="699" name="Google Shape;699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lgun Gothic"/>
              <a:buNone/>
            </a:pPr>
            <a:r>
              <a:rPr lang="ko-KR">
                <a:solidFill>
                  <a:schemeClr val="lt1"/>
                </a:solidFill>
              </a:rPr>
              <a:t>AIP의 BT가 UE의 방식을 따르고 있기 때문에 설명</a:t>
            </a:r>
            <a:endParaRPr/>
          </a:p>
        </p:txBody>
      </p:sp>
      <p:sp>
        <p:nvSpPr>
          <p:cNvPr id="716" name="Google Shape;716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endParaRPr/>
          </a:p>
        </p:txBody>
      </p:sp>
      <p:sp>
        <p:nvSpPr>
          <p:cNvPr id="742" name="Google Shape;742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endParaRPr/>
          </a:p>
        </p:txBody>
      </p:sp>
      <p:sp>
        <p:nvSpPr>
          <p:cNvPr id="772" name="Google Shape;772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2" name="Google Shape;812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p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endParaRPr/>
          </a:p>
        </p:txBody>
      </p:sp>
      <p:sp>
        <p:nvSpPr>
          <p:cNvPr id="840" name="Google Shape;840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p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endParaRPr/>
          </a:p>
        </p:txBody>
      </p:sp>
      <p:sp>
        <p:nvSpPr>
          <p:cNvPr id="882" name="Google Shape;882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p4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endParaRPr/>
          </a:p>
        </p:txBody>
      </p:sp>
      <p:sp>
        <p:nvSpPr>
          <p:cNvPr id="938" name="Google Shape;938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p4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4" name="Google Shape;954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p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2" name="Google Shape;962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p4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7" name="Google Shape;967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4" name="Google Shape;974;p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5" name="Google Shape;975;p4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38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Google Shape;987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88" name="Google Shape;988;p4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9" name="Google Shape;989;p4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39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5" name="Google Shape;1005;p4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6" name="Google Shape;1006;p4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40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6" name="Google Shape;1016;p4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7" name="Google Shape;1017;p4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41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3" name="Google Shape;1033;p4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4" name="Google Shape;1034;p4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42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Google Shape;1050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1" name="Google Shape;1051;p5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2" name="Google Shape;1052;p5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43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Google Shape;1062;p5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3" name="Google Shape;1063;p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" name="Google Shape;1068;p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69" name="Google Shape;1069;p5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이건 제가 사용한 방법이지 정답은 아닙니다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그냥 여러분이 하고 싶은 방향대로 하는게 정답입니다</a:t>
            </a:r>
            <a:endParaRPr/>
          </a:p>
        </p:txBody>
      </p:sp>
      <p:sp>
        <p:nvSpPr>
          <p:cNvPr id="1070" name="Google Shape;1070;p5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45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Google Shape;1086;p5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7" name="Google Shape;1087;p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" name="Google Shape;1105;p5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6" name="Google Shape;1106;p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" name="Google Shape;1131;p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2" name="Google Shape;1132;p5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3" name="Google Shape;1133;p5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48</a:t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1" name="Google Shape;1141;p5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2" name="Google Shape;1142;p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6" name="Google Shape;1156;p5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7" name="Google Shape;1157;p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1" name="Google Shape;1171;p5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2" name="Google Shape;1172;p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5" name="Google Shape;1185;p5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6" name="Google Shape;1186;p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9" name="Google Shape;1209;p6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0" name="Google Shape;1210;p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6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6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6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6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6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6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6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6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6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6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6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6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6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6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6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6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6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6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6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6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6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6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6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6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7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7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7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7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7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7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7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71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7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7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7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7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7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72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7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7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7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73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73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7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7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7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6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2" name="Google Shape;12;p6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3" name="Google Shape;13;p6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4" name="Google Shape;14;p6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jp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7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49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/>
          <p:nvPr/>
        </p:nvSpPr>
        <p:spPr>
          <a:xfrm>
            <a:off x="0" y="5311444"/>
            <a:ext cx="12192000" cy="1546556"/>
          </a:xfrm>
          <a:prstGeom prst="rect">
            <a:avLst/>
          </a:prstGeom>
          <a:gradFill>
            <a:gsLst>
              <a:gs pos="0">
                <a:schemeClr val="dk1"/>
              </a:gs>
              <a:gs pos="50000">
                <a:srgbClr val="BECBD7"/>
              </a:gs>
              <a:gs pos="61000">
                <a:schemeClr val="lt1"/>
              </a:gs>
              <a:gs pos="100000">
                <a:schemeClr val="lt1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0" name="Google Shape;90;p1"/>
          <p:cNvSpPr txBox="1">
            <a:spLocks noGrp="1"/>
          </p:cNvSpPr>
          <p:nvPr>
            <p:ph type="ctrTitle"/>
          </p:nvPr>
        </p:nvSpPr>
        <p:spPr>
          <a:xfrm>
            <a:off x="1" y="804863"/>
            <a:ext cx="12191999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algun Gothic"/>
              <a:buNone/>
            </a:pPr>
            <a:r>
              <a:rPr lang="ko-KR">
                <a:solidFill>
                  <a:schemeClr val="lt1"/>
                </a:solidFill>
              </a:rPr>
              <a:t>2026 AI Pilot Top Gun Challenge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91" name="Google Shape;91;p1"/>
          <p:cNvSpPr txBox="1">
            <a:spLocks noGrp="1"/>
          </p:cNvSpPr>
          <p:nvPr>
            <p:ph type="subTitle" idx="1"/>
          </p:nvPr>
        </p:nvSpPr>
        <p:spPr>
          <a:xfrm>
            <a:off x="1524000" y="3462059"/>
            <a:ext cx="9144000" cy="4050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ko-KR">
                <a:solidFill>
                  <a:schemeClr val="lt1"/>
                </a:solidFill>
              </a:rPr>
              <a:t>AI Takes Flight</a:t>
            </a:r>
            <a:endParaRPr/>
          </a:p>
        </p:txBody>
      </p:sp>
      <p:sp>
        <p:nvSpPr>
          <p:cNvPr id="92" name="Google Shape;92;p1"/>
          <p:cNvSpPr txBox="1"/>
          <p:nvPr/>
        </p:nvSpPr>
        <p:spPr>
          <a:xfrm>
            <a:off x="0" y="4745845"/>
            <a:ext cx="12192000" cy="6510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328125"/>
              </a:lnSpc>
              <a:spcBef>
                <a:spcPts val="0"/>
              </a:spcBef>
              <a:spcAft>
                <a:spcPts val="0"/>
              </a:spcAft>
              <a:buClr>
                <a:srgbClr val="D0382C"/>
              </a:buClr>
              <a:buSzPts val="1600"/>
              <a:buFont typeface="Noto Sans KR"/>
              <a:buNone/>
            </a:pPr>
            <a:r>
              <a:rPr lang="ko-KR" sz="1600" b="1" i="0" u="none" strike="noStrike" cap="none">
                <a:solidFill>
                  <a:srgbClr val="D0382C"/>
                </a:solidFill>
                <a:latin typeface="Noto Sans KR"/>
                <a:ea typeface="Noto Sans KR"/>
                <a:cs typeface="Noto Sans KR"/>
                <a:sym typeface="Noto Sans KR"/>
              </a:rPr>
              <a:t>REALTIMEVISUAL</a:t>
            </a:r>
            <a:endParaRPr/>
          </a:p>
        </p:txBody>
      </p:sp>
      <p:pic>
        <p:nvPicPr>
          <p:cNvPr id="93" name="Google Shape;93;p1"/>
          <p:cNvPicPr preferRelativeResize="0"/>
          <p:nvPr/>
        </p:nvPicPr>
        <p:blipFill rotWithShape="1">
          <a:blip r:embed="rId3">
            <a:alphaModFix/>
          </a:blip>
          <a:srcRect l="27423" t="33814" r="26168"/>
          <a:stretch/>
        </p:blipFill>
        <p:spPr>
          <a:xfrm>
            <a:off x="185665" y="6410027"/>
            <a:ext cx="524036" cy="30938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"/>
          <p:cNvPicPr preferRelativeResize="0"/>
          <p:nvPr/>
        </p:nvPicPr>
        <p:blipFill rotWithShape="1">
          <a:blip r:embed="rId4">
            <a:alphaModFix/>
          </a:blip>
          <a:srcRect l="24543" t="30605" r="24335" b="10968"/>
          <a:stretch/>
        </p:blipFill>
        <p:spPr>
          <a:xfrm>
            <a:off x="931525" y="6410301"/>
            <a:ext cx="629855" cy="30628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"/>
          <p:cNvPicPr preferRelativeResize="0"/>
          <p:nvPr/>
        </p:nvPicPr>
        <p:blipFill rotWithShape="1">
          <a:blip r:embed="rId5">
            <a:alphaModFix/>
          </a:blip>
          <a:srcRect l="16311" t="25305" r="12528" b="22830"/>
          <a:stretch/>
        </p:blipFill>
        <p:spPr>
          <a:xfrm>
            <a:off x="1783204" y="6407477"/>
            <a:ext cx="895343" cy="31193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"/>
          <p:cNvPicPr preferRelativeResize="0"/>
          <p:nvPr/>
        </p:nvPicPr>
        <p:blipFill rotWithShape="1">
          <a:blip r:embed="rId6">
            <a:alphaModFix/>
          </a:blip>
          <a:srcRect l="17299" t="32773" r="14429" b="29745"/>
          <a:stretch/>
        </p:blipFill>
        <p:spPr>
          <a:xfrm>
            <a:off x="7445248" y="6380846"/>
            <a:ext cx="1350657" cy="30628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"/>
          <p:cNvPicPr preferRelativeResize="0"/>
          <p:nvPr/>
        </p:nvPicPr>
        <p:blipFill rotWithShape="1">
          <a:blip r:embed="rId7">
            <a:alphaModFix/>
          </a:blip>
          <a:srcRect l="16051" t="36611" r="14393" b="30085"/>
          <a:stretch/>
        </p:blipFill>
        <p:spPr>
          <a:xfrm>
            <a:off x="6108028" y="6418592"/>
            <a:ext cx="1251285" cy="25073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"/>
          <p:cNvPicPr preferRelativeResize="0"/>
          <p:nvPr/>
        </p:nvPicPr>
        <p:blipFill rotWithShape="1">
          <a:blip r:embed="rId8">
            <a:alphaModFix/>
          </a:blip>
          <a:srcRect l="23011" t="14208" r="20127" b="5490"/>
          <a:stretch/>
        </p:blipFill>
        <p:spPr>
          <a:xfrm>
            <a:off x="2932939" y="6357571"/>
            <a:ext cx="593057" cy="357318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"/>
          <p:cNvPicPr preferRelativeResize="0"/>
          <p:nvPr/>
        </p:nvPicPr>
        <p:blipFill rotWithShape="1">
          <a:blip r:embed="rId9">
            <a:alphaModFix/>
          </a:blip>
          <a:srcRect l="17786" t="24358" r="13192" b="25521"/>
          <a:stretch/>
        </p:blipFill>
        <p:spPr>
          <a:xfrm>
            <a:off x="3790087" y="6399135"/>
            <a:ext cx="866635" cy="2697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"/>
          <p:cNvPicPr preferRelativeResize="0"/>
          <p:nvPr/>
        </p:nvPicPr>
        <p:blipFill rotWithShape="1">
          <a:blip r:embed="rId10">
            <a:alphaModFix/>
          </a:blip>
          <a:srcRect l="27774" t="27781" r="26589" b="16042"/>
          <a:stretch/>
        </p:blipFill>
        <p:spPr>
          <a:xfrm>
            <a:off x="9059996" y="6392894"/>
            <a:ext cx="576759" cy="3026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"/>
          <p:cNvPicPr preferRelativeResize="0"/>
          <p:nvPr/>
        </p:nvPicPr>
        <p:blipFill rotWithShape="1">
          <a:blip r:embed="rId11">
            <a:alphaModFix/>
          </a:blip>
          <a:srcRect l="17747" t="32885" r="17208" b="28153"/>
          <a:stretch/>
        </p:blipFill>
        <p:spPr>
          <a:xfrm>
            <a:off x="4839238" y="6405021"/>
            <a:ext cx="1182855" cy="2914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"/>
          <p:cNvPicPr preferRelativeResize="0"/>
          <p:nvPr/>
        </p:nvPicPr>
        <p:blipFill rotWithShape="1">
          <a:blip r:embed="rId12">
            <a:alphaModFix/>
          </a:blip>
          <a:srcRect l="34096" t="16176" r="32757" b="3133"/>
          <a:stretch/>
        </p:blipFill>
        <p:spPr>
          <a:xfrm>
            <a:off x="11506231" y="6357571"/>
            <a:ext cx="334287" cy="3379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"/>
          <p:cNvPicPr preferRelativeResize="0"/>
          <p:nvPr/>
        </p:nvPicPr>
        <p:blipFill rotWithShape="1">
          <a:blip r:embed="rId13">
            <a:alphaModFix/>
          </a:blip>
          <a:srcRect l="20094" t="12884" r="18833" b="6608"/>
          <a:stretch/>
        </p:blipFill>
        <p:spPr>
          <a:xfrm>
            <a:off x="10062549" y="6244327"/>
            <a:ext cx="1092200" cy="59926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"/>
          <p:cNvSpPr txBox="1"/>
          <p:nvPr/>
        </p:nvSpPr>
        <p:spPr>
          <a:xfrm>
            <a:off x="0" y="4415145"/>
            <a:ext cx="12191999" cy="6524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291666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lgun Gothic"/>
              <a:buNone/>
            </a:pPr>
            <a:r>
              <a:rPr lang="ko-KR" sz="18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Competition Technology Partner</a:t>
            </a: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 txBox="1"/>
          <p:nvPr/>
        </p:nvSpPr>
        <p:spPr>
          <a:xfrm>
            <a:off x="6038850" y="3575050"/>
            <a:ext cx="6038850" cy="2954655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특강 1일차</a:t>
            </a:r>
            <a:r>
              <a:rPr lang="ko-KR" sz="18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: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>
                <a:solidFill>
                  <a:srgbClr val="0070C0"/>
                </a:solidFill>
                <a:latin typeface="Malgun Gothic"/>
                <a:ea typeface="Malgun Gothic"/>
                <a:cs typeface="Malgun Gothic"/>
                <a:sym typeface="Malgun Gothic"/>
              </a:rPr>
              <a:t>	#Orientation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>
                <a:solidFill>
                  <a:srgbClr val="0070C0"/>
                </a:solidFill>
                <a:latin typeface="Malgun Gothic"/>
                <a:ea typeface="Malgun Gothic"/>
                <a:cs typeface="Malgun Gothic"/>
                <a:sym typeface="Malgun Gothic"/>
              </a:rPr>
              <a:t>		- 대회 소개</a:t>
            </a:r>
            <a:endParaRPr sz="1800" b="1">
              <a:solidFill>
                <a:srgbClr val="0070C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>
                <a:solidFill>
                  <a:srgbClr val="0070C0"/>
                </a:solidFill>
                <a:latin typeface="Malgun Gothic"/>
                <a:ea typeface="Malgun Gothic"/>
                <a:cs typeface="Malgun Gothic"/>
                <a:sym typeface="Malgun Gothic"/>
              </a:rPr>
              <a:t>		- 교전 룰 소개</a:t>
            </a:r>
            <a:endParaRPr sz="1800" b="1">
              <a:solidFill>
                <a:srgbClr val="0070C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>
                <a:solidFill>
                  <a:srgbClr val="0070C0"/>
                </a:solidFill>
                <a:latin typeface="Malgun Gothic"/>
                <a:ea typeface="Malgun Gothic"/>
                <a:cs typeface="Malgun Gothic"/>
                <a:sym typeface="Malgun Gothic"/>
              </a:rPr>
              <a:t>		- 개발 환경 &amp; 대회 경기 환경 소개</a:t>
            </a:r>
            <a:endParaRPr sz="1800" b="1">
              <a:solidFill>
                <a:srgbClr val="0070C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	</a:t>
            </a: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#전투기 AI에 대하여</a:t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	#Behavior Tree 기반 AI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	#실습</a:t>
            </a:r>
            <a:endParaRPr/>
          </a:p>
        </p:txBody>
      </p:sp>
      <p:pic>
        <p:nvPicPr>
          <p:cNvPr id="110" name="Google Shape;110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39" y="0"/>
            <a:ext cx="12185522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1" name="Google Shape;111;p2"/>
          <p:cNvCxnSpPr/>
          <p:nvPr/>
        </p:nvCxnSpPr>
        <p:spPr>
          <a:xfrm>
            <a:off x="4006850" y="3041650"/>
            <a:ext cx="7296150" cy="0"/>
          </a:xfrm>
          <a:prstGeom prst="straightConnector1">
            <a:avLst/>
          </a:prstGeom>
          <a:noFill/>
          <a:ln w="19050" cap="flat" cmpd="sng">
            <a:solidFill>
              <a:srgbClr val="5DFFA6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9"/>
          <p:cNvSpPr txBox="1"/>
          <p:nvPr/>
        </p:nvSpPr>
        <p:spPr>
          <a:xfrm>
            <a:off x="0" y="0"/>
            <a:ext cx="343876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대회소개 : 그래서 뭘 해야하나?</a:t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85" name="Google Shape;185;p9"/>
          <p:cNvCxnSpPr/>
          <p:nvPr/>
        </p:nvCxnSpPr>
        <p:spPr>
          <a:xfrm>
            <a:off x="0" y="369332"/>
            <a:ext cx="6165130" cy="0"/>
          </a:xfrm>
          <a:prstGeom prst="straightConnector1">
            <a:avLst/>
          </a:prstGeom>
          <a:noFill/>
          <a:ln w="19050" cap="flat" cmpd="sng">
            <a:solidFill>
              <a:srgbClr val="5DFFA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86" name="Google Shape;186;p9"/>
          <p:cNvSpPr txBox="1"/>
          <p:nvPr/>
        </p:nvSpPr>
        <p:spPr>
          <a:xfrm>
            <a:off x="425451" y="990600"/>
            <a:ext cx="11398250" cy="3416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각 참여팀은 REALTIMEVISUAL이 제공하는 AI 전투기 개발 환경을 통하여 </a:t>
            </a:r>
            <a:r>
              <a:rPr lang="ko-KR" sz="1800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AI 전투기 모델을 개발</a:t>
            </a:r>
            <a:endParaRPr sz="1800">
              <a:solidFill>
                <a:srgbClr val="FF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각 참여팀의 AI 전투기들을 교전을 통해 가장 성능 좋은, 정확하게 말해 </a:t>
            </a:r>
            <a:r>
              <a:rPr lang="ko-KR" sz="1800">
                <a:solidFill>
                  <a:srgbClr val="00B0F0"/>
                </a:solidFill>
                <a:latin typeface="Malgun Gothic"/>
                <a:ea typeface="Malgun Gothic"/>
                <a:cs typeface="Malgun Gothic"/>
                <a:sym typeface="Malgun Gothic"/>
              </a:rPr>
              <a:t>가장 잘싸우는 AI를 선발하는 대회</a:t>
            </a:r>
            <a:endParaRPr sz="1800">
              <a:solidFill>
                <a:srgbClr val="00B0F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미국 DARPA의 Alpha Dog Fight 프로젝트와 국내에서 진행한 관련 프로젝트의 교전방식을 채용</a:t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하지만 학생들의 실력 및 개발 시간을 고려하여 </a:t>
            </a:r>
            <a:r>
              <a:rPr lang="ko-KR" sz="1800">
                <a:solidFill>
                  <a:srgbClr val="00B050"/>
                </a:solidFill>
                <a:latin typeface="Malgun Gothic"/>
                <a:ea typeface="Malgun Gothic"/>
                <a:cs typeface="Malgun Gothic"/>
                <a:sym typeface="Malgun Gothic"/>
              </a:rPr>
              <a:t>난이도를 낮춘 방식으로 진행</a:t>
            </a:r>
            <a:endParaRPr sz="1800">
              <a:solidFill>
                <a:srgbClr val="00B05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B05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8월말에 예선전을 통해 8팀 + 4팀을 선출</a:t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9월 중순에 토너먼트를 통해 1등팀을 결정</a:t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i="1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제공하는 AI 개발환경은 일정 부분이 열화, 제거된 상태로 제공</a:t>
            </a:r>
            <a:endParaRPr sz="1800" i="1">
              <a:solidFill>
                <a:srgbClr val="FF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0"/>
          <p:cNvSpPr txBox="1"/>
          <p:nvPr/>
        </p:nvSpPr>
        <p:spPr>
          <a:xfrm>
            <a:off x="0" y="0"/>
            <a:ext cx="163538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대회 룰 : 개요</a:t>
            </a:r>
            <a:endParaRPr/>
          </a:p>
        </p:txBody>
      </p:sp>
      <p:cxnSp>
        <p:nvCxnSpPr>
          <p:cNvPr id="193" name="Google Shape;193;p10"/>
          <p:cNvCxnSpPr/>
          <p:nvPr/>
        </p:nvCxnSpPr>
        <p:spPr>
          <a:xfrm>
            <a:off x="0" y="369332"/>
            <a:ext cx="6165130" cy="0"/>
          </a:xfrm>
          <a:prstGeom prst="straightConnector1">
            <a:avLst/>
          </a:prstGeom>
          <a:noFill/>
          <a:ln w="19050" cap="flat" cmpd="sng">
            <a:solidFill>
              <a:srgbClr val="5DFFA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94" name="Google Shape;194;p10"/>
          <p:cNvSpPr txBox="1"/>
          <p:nvPr/>
        </p:nvSpPr>
        <p:spPr>
          <a:xfrm>
            <a:off x="457201" y="929341"/>
            <a:ext cx="10071988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Perfect State Information(Ground-truth state information)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lang="ko-KR" sz="1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센서 오차, 탐지 지연, 노이즈, 가시성 제한 없이 시뮬레이터가 알고 있는 실제 정답, 상태값을 그대로 에이전트에게 제공</a:t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5" name="Google Shape;195;p10"/>
          <p:cNvSpPr txBox="1"/>
          <p:nvPr/>
        </p:nvSpPr>
        <p:spPr>
          <a:xfrm>
            <a:off x="736601" y="1507887"/>
            <a:ext cx="6385081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rgbClr val="FFFF00"/>
                </a:solidFill>
                <a:latin typeface="Malgun Gothic"/>
                <a:ea typeface="Malgun Gothic"/>
                <a:cs typeface="Malgun Gothic"/>
                <a:sym typeface="Malgun Gothic"/>
              </a:rPr>
              <a:t>간단하게 말해서 나는(내 전투기는) 적의 실시간 위치, 자세, 속도를 제공 받음</a:t>
            </a:r>
            <a:endParaRPr sz="1400">
              <a:solidFill>
                <a:srgbClr val="FFFF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rgbClr val="FFFF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순수하게 AI의 상황인지-&gt;전투기 조종 성능만을 평가</a:t>
            </a:r>
            <a:endParaRPr/>
          </a:p>
        </p:txBody>
      </p:sp>
      <p:sp>
        <p:nvSpPr>
          <p:cNvPr id="196" name="Google Shape;196;p10"/>
          <p:cNvSpPr txBox="1"/>
          <p:nvPr/>
        </p:nvSpPr>
        <p:spPr>
          <a:xfrm>
            <a:off x="457201" y="2216031"/>
            <a:ext cx="10015883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Frame Rate 60Hz(DeltaTime : 0.016666)로 진행</a:t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lang="ko-KR" sz="1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0.016666초에 한번씩 계산을 하는 구조를 기본으로 진행. 교전 서버는 AI 클라이언트에게 60HZ 로 전장 정보를 전송 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lang="ko-KR" sz="1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전장 정보를 받은 AI 클라이언트는 해당 정보를 활용하여 가장 적절한 판단을 수행하는 전투기 조종명령을 서버로 전송</a:t>
            </a:r>
            <a:endParaRPr sz="14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lang="ko-KR" sz="1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네트워크 연결에 의한 응답시간이 아닌 순수 AI연산 과정으로 인한 응답시간이 0.1667 초를 넘어가는 경우 패널티 적용</a:t>
            </a:r>
            <a:endParaRPr sz="14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7" name="Google Shape;197;p10"/>
          <p:cNvSpPr txBox="1"/>
          <p:nvPr/>
        </p:nvSpPr>
        <p:spPr>
          <a:xfrm>
            <a:off x="457201" y="4776213"/>
            <a:ext cx="6781023" cy="800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기총(전투기에 달린 기관총)만 사용하는 초근접 교전</a:t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lang="ko-KR" sz="1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미사일이 아닌 기총의 범위를 아주 러프하게 확률적으로 모의하는 방식을 사용</a:t>
            </a:r>
            <a:endParaRPr sz="14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lang="ko-KR" sz="1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주어진 시간내에 더 많은 대미지를 입히거나 격추 시키면 승리</a:t>
            </a:r>
            <a:endParaRPr sz="14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8" name="Google Shape;198;p10"/>
          <p:cNvSpPr/>
          <p:nvPr/>
        </p:nvSpPr>
        <p:spPr>
          <a:xfrm>
            <a:off x="1001842" y="3575050"/>
            <a:ext cx="817692" cy="800219"/>
          </a:xfrm>
          <a:prstGeom prst="rect">
            <a:avLst/>
          </a:prstGeom>
          <a:solidFill>
            <a:srgbClr val="7030A0"/>
          </a:solidFill>
          <a:ln w="19050" cap="flat" cmpd="sng">
            <a:solidFill>
              <a:srgbClr val="DAB2F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교전</a:t>
            </a:r>
            <a:endParaRPr sz="12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서버</a:t>
            </a:r>
            <a:endParaRPr/>
          </a:p>
        </p:txBody>
      </p:sp>
      <p:sp>
        <p:nvSpPr>
          <p:cNvPr id="199" name="Google Shape;199;p10"/>
          <p:cNvSpPr/>
          <p:nvPr/>
        </p:nvSpPr>
        <p:spPr>
          <a:xfrm>
            <a:off x="3704445" y="3575050"/>
            <a:ext cx="817692" cy="800219"/>
          </a:xfrm>
          <a:prstGeom prst="rect">
            <a:avLst/>
          </a:prstGeom>
          <a:solidFill>
            <a:srgbClr val="FF0000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접속</a:t>
            </a:r>
            <a:endParaRPr sz="9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클라이언트</a:t>
            </a:r>
            <a:endParaRPr/>
          </a:p>
        </p:txBody>
      </p:sp>
      <p:cxnSp>
        <p:nvCxnSpPr>
          <p:cNvPr id="200" name="Google Shape;200;p10"/>
          <p:cNvCxnSpPr/>
          <p:nvPr/>
        </p:nvCxnSpPr>
        <p:spPr>
          <a:xfrm>
            <a:off x="1819534" y="3759200"/>
            <a:ext cx="1850766" cy="0"/>
          </a:xfrm>
          <a:prstGeom prst="straightConnector1">
            <a:avLst/>
          </a:prstGeom>
          <a:noFill/>
          <a:ln w="19050" cap="flat" cmpd="sng">
            <a:solidFill>
              <a:srgbClr val="92D05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01" name="Google Shape;201;p10"/>
          <p:cNvCxnSpPr/>
          <p:nvPr/>
        </p:nvCxnSpPr>
        <p:spPr>
          <a:xfrm rot="10800000">
            <a:off x="1819534" y="4115307"/>
            <a:ext cx="1850766" cy="0"/>
          </a:xfrm>
          <a:prstGeom prst="straightConnector1">
            <a:avLst/>
          </a:prstGeom>
          <a:noFill/>
          <a:ln w="19050" cap="flat" cmpd="sng">
            <a:solidFill>
              <a:srgbClr val="FFC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02" name="Google Shape;202;p10"/>
          <p:cNvSpPr txBox="1"/>
          <p:nvPr/>
        </p:nvSpPr>
        <p:spPr>
          <a:xfrm>
            <a:off x="2354543" y="3497590"/>
            <a:ext cx="748923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50">
                <a:solidFill>
                  <a:srgbClr val="8CD872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전장정보</a:t>
            </a:r>
            <a:endParaRPr/>
          </a:p>
        </p:txBody>
      </p:sp>
      <p:sp>
        <p:nvSpPr>
          <p:cNvPr id="203" name="Google Shape;203;p10"/>
          <p:cNvSpPr txBox="1"/>
          <p:nvPr/>
        </p:nvSpPr>
        <p:spPr>
          <a:xfrm>
            <a:off x="2354543" y="4128007"/>
            <a:ext cx="748923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50">
                <a:solidFill>
                  <a:srgbClr val="FFFF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조종명령</a:t>
            </a:r>
            <a:endParaRPr/>
          </a:p>
        </p:txBody>
      </p:sp>
      <p:sp>
        <p:nvSpPr>
          <p:cNvPr id="204" name="Google Shape;204;p10"/>
          <p:cNvSpPr/>
          <p:nvPr/>
        </p:nvSpPr>
        <p:spPr>
          <a:xfrm>
            <a:off x="5045333" y="3473450"/>
            <a:ext cx="3175000" cy="928109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여러분의 AI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상황인식,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최적의 행동 추론</a:t>
            </a:r>
            <a:endParaRPr sz="11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명령값 생성 등</a:t>
            </a:r>
            <a:endParaRPr sz="11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05" name="Google Shape;205;p10"/>
          <p:cNvCxnSpPr/>
          <p:nvPr/>
        </p:nvCxnSpPr>
        <p:spPr>
          <a:xfrm>
            <a:off x="4522137" y="3759200"/>
            <a:ext cx="526113" cy="0"/>
          </a:xfrm>
          <a:prstGeom prst="straightConnector1">
            <a:avLst/>
          </a:prstGeom>
          <a:noFill/>
          <a:ln w="19050" cap="flat" cmpd="sng">
            <a:solidFill>
              <a:srgbClr val="92D05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06" name="Google Shape;206;p10"/>
          <p:cNvCxnSpPr/>
          <p:nvPr/>
        </p:nvCxnSpPr>
        <p:spPr>
          <a:xfrm rot="10800000">
            <a:off x="4522137" y="4128007"/>
            <a:ext cx="523196" cy="0"/>
          </a:xfrm>
          <a:prstGeom prst="straightConnector1">
            <a:avLst/>
          </a:prstGeom>
          <a:noFill/>
          <a:ln w="19050" cap="flat" cmpd="sng">
            <a:solidFill>
              <a:srgbClr val="FFC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07" name="Google Shape;207;p10"/>
          <p:cNvSpPr txBox="1"/>
          <p:nvPr/>
        </p:nvSpPr>
        <p:spPr>
          <a:xfrm>
            <a:off x="8447493" y="3776753"/>
            <a:ext cx="2779928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꼭 1/60초로 AI의 판단을 안내려도 괜찮지만</a:t>
            </a:r>
            <a:endParaRPr sz="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조종명령은 전장정보에 대한 답으로 꼭 60hz로 답해야함</a:t>
            </a:r>
            <a:endParaRPr sz="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1"/>
          <p:cNvSpPr txBox="1"/>
          <p:nvPr/>
        </p:nvSpPr>
        <p:spPr>
          <a:xfrm>
            <a:off x="0" y="0"/>
            <a:ext cx="2534668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대회 룰 : 교전 룰</a:t>
            </a:r>
            <a:endParaRPr/>
          </a:p>
        </p:txBody>
      </p:sp>
      <p:cxnSp>
        <p:nvCxnSpPr>
          <p:cNvPr id="214" name="Google Shape;214;p11"/>
          <p:cNvCxnSpPr/>
          <p:nvPr/>
        </p:nvCxnSpPr>
        <p:spPr>
          <a:xfrm>
            <a:off x="-152815" y="6052158"/>
            <a:ext cx="12777128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15" name="Google Shape;215;p11"/>
          <p:cNvSpPr txBox="1"/>
          <p:nvPr/>
        </p:nvSpPr>
        <p:spPr>
          <a:xfrm>
            <a:off x="27251" y="6074631"/>
            <a:ext cx="214437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지면(해수면 고도 0ft)</a:t>
            </a:r>
            <a:endParaRPr sz="16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16" name="Google Shape;216;p11"/>
          <p:cNvCxnSpPr/>
          <p:nvPr/>
        </p:nvCxnSpPr>
        <p:spPr>
          <a:xfrm>
            <a:off x="-152815" y="4589118"/>
            <a:ext cx="12777128" cy="0"/>
          </a:xfrm>
          <a:prstGeom prst="straightConnector1">
            <a:avLst/>
          </a:prstGeom>
          <a:noFill/>
          <a:ln w="19050" cap="flat" cmpd="sng">
            <a:solidFill>
              <a:srgbClr val="00B0F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17" name="Google Shape;217;p11"/>
          <p:cNvCxnSpPr/>
          <p:nvPr/>
        </p:nvCxnSpPr>
        <p:spPr>
          <a:xfrm>
            <a:off x="3778477" y="4589118"/>
            <a:ext cx="0" cy="1463040"/>
          </a:xfrm>
          <a:prstGeom prst="straightConnector1">
            <a:avLst/>
          </a:prstGeom>
          <a:noFill/>
          <a:ln w="19050" cap="flat" cmpd="sng">
            <a:solidFill>
              <a:srgbClr val="5DFFA6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218" name="Google Shape;218;p11"/>
          <p:cNvSpPr txBox="1"/>
          <p:nvPr/>
        </p:nvSpPr>
        <p:spPr>
          <a:xfrm>
            <a:off x="4035864" y="5313865"/>
            <a:ext cx="214481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1000ft(약 300미터)</a:t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19" name="Google Shape;219;p11"/>
          <p:cNvSpPr txBox="1"/>
          <p:nvPr/>
        </p:nvSpPr>
        <p:spPr>
          <a:xfrm>
            <a:off x="9537460" y="4606869"/>
            <a:ext cx="262924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1000ft 이하 고도 도달시 추락 처리</a:t>
            </a:r>
            <a:endParaRPr/>
          </a:p>
        </p:txBody>
      </p:sp>
      <p:sp>
        <p:nvSpPr>
          <p:cNvPr id="220" name="Google Shape;220;p11"/>
          <p:cNvSpPr txBox="1"/>
          <p:nvPr/>
        </p:nvSpPr>
        <p:spPr>
          <a:xfrm>
            <a:off x="-6963" y="4250564"/>
            <a:ext cx="1077539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교전 공간</a:t>
            </a:r>
            <a:endParaRPr/>
          </a:p>
        </p:txBody>
      </p:sp>
      <p:pic>
        <p:nvPicPr>
          <p:cNvPr id="221" name="Google Shape;221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4638026">
            <a:off x="3325431" y="999794"/>
            <a:ext cx="1069408" cy="1069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6111850">
            <a:off x="6524780" y="1021397"/>
            <a:ext cx="1069408" cy="1069408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11"/>
          <p:cNvSpPr txBox="1"/>
          <p:nvPr/>
        </p:nvSpPr>
        <p:spPr>
          <a:xfrm>
            <a:off x="3321250" y="2582024"/>
            <a:ext cx="6215163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교전 시간 200초동안 상대에게 더 많은 대미지를 입히거나</a:t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상대를 격추 시키면 승리</a:t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24" name="Google Shape;224;p11"/>
          <p:cNvCxnSpPr/>
          <p:nvPr/>
        </p:nvCxnSpPr>
        <p:spPr>
          <a:xfrm>
            <a:off x="0" y="369332"/>
            <a:ext cx="6165130" cy="0"/>
          </a:xfrm>
          <a:prstGeom prst="straightConnector1">
            <a:avLst/>
          </a:prstGeom>
          <a:noFill/>
          <a:ln w="19050" cap="flat" cmpd="sng">
            <a:solidFill>
              <a:srgbClr val="5DFFA6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225" name="Google Shape;225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7660764">
            <a:off x="8677135" y="4054414"/>
            <a:ext cx="1069408" cy="1069408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11"/>
          <p:cNvSpPr/>
          <p:nvPr/>
        </p:nvSpPr>
        <p:spPr>
          <a:xfrm rot="986942">
            <a:off x="8838479" y="4237008"/>
            <a:ext cx="642220" cy="646377"/>
          </a:xfrm>
          <a:prstGeom prst="plus">
            <a:avLst>
              <a:gd name="adj" fmla="val 46374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7" name="Google Shape;227;p11"/>
          <p:cNvSpPr txBox="1"/>
          <p:nvPr/>
        </p:nvSpPr>
        <p:spPr>
          <a:xfrm>
            <a:off x="9213247" y="4050509"/>
            <a:ext cx="6463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ㅠㅠ</a:t>
            </a:r>
            <a:endParaRPr sz="1800">
              <a:solidFill>
                <a:srgbClr val="FF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2"/>
          <p:cNvSpPr txBox="1"/>
          <p:nvPr/>
        </p:nvSpPr>
        <p:spPr>
          <a:xfrm>
            <a:off x="2111436" y="3236577"/>
            <a:ext cx="4740400" cy="1200329"/>
          </a:xfrm>
          <a:prstGeom prst="rect">
            <a:avLst/>
          </a:prstGeom>
          <a:noFill/>
          <a:ln w="9525" cap="flat" cmpd="sng">
            <a:solidFill>
              <a:srgbClr val="5DFFA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dirty="0" err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Damage</a:t>
            </a:r>
            <a:r>
              <a:rPr lang="ko-KR" sz="12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 판단용 </a:t>
            </a:r>
            <a:r>
              <a:rPr lang="ko-KR" sz="1200" dirty="0" err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HitBox</a:t>
            </a:r>
            <a:r>
              <a:rPr lang="ko-KR" sz="12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1200" dirty="0" err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Cone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dirty="0" err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Damage</a:t>
            </a:r>
            <a:r>
              <a:rPr lang="ko-KR" sz="12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 판단 거리 : 500ft ~ 3000ft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LOS : 1(</a:t>
            </a:r>
            <a:r>
              <a:rPr lang="ko-KR" sz="1200" dirty="0" err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Degree</a:t>
            </a:r>
            <a:r>
              <a:rPr lang="ko-KR" sz="12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) 이하</a:t>
            </a:r>
            <a:endParaRPr sz="12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상대 비행기가 해당 범위안에 들어오면 </a:t>
            </a:r>
            <a:r>
              <a:rPr lang="ko-KR" sz="1200" u="sng" dirty="0">
                <a:solidFill>
                  <a:srgbClr val="5DFFA6"/>
                </a:solidFill>
                <a:latin typeface="Malgun Gothic"/>
                <a:ea typeface="Malgun Gothic"/>
                <a:cs typeface="Malgun Gothic"/>
                <a:sym typeface="Malgun Gothic"/>
              </a:rPr>
              <a:t>거리 비례 </a:t>
            </a:r>
            <a:r>
              <a:rPr lang="ko-KR" sz="1200" u="sng" dirty="0" err="1">
                <a:solidFill>
                  <a:srgbClr val="5DFFA6"/>
                </a:solidFill>
                <a:latin typeface="Malgun Gothic"/>
                <a:ea typeface="Malgun Gothic"/>
                <a:cs typeface="Malgun Gothic"/>
                <a:sym typeface="Malgun Gothic"/>
              </a:rPr>
              <a:t>Damage</a:t>
            </a:r>
            <a:r>
              <a:rPr lang="ko-KR" sz="12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를</a:t>
            </a:r>
            <a:r>
              <a:rPr lang="ko-KR" sz="12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입음</a:t>
            </a:r>
            <a:endParaRPr sz="12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234" name="Google Shape;234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16304" y="4890081"/>
            <a:ext cx="3241581" cy="1414348"/>
          </a:xfrm>
          <a:prstGeom prst="rect">
            <a:avLst/>
          </a:prstGeom>
          <a:noFill/>
          <a:ln w="9525" cap="flat" cmpd="sng">
            <a:solidFill>
              <a:srgbClr val="5DFFA6"/>
            </a:solidFill>
            <a:prstDash val="solid"/>
            <a:round/>
            <a:headEnd type="none" w="sm" len="sm"/>
            <a:tailEnd type="none" w="sm" len="sm"/>
          </a:ln>
        </p:spPr>
      </p:pic>
      <p:cxnSp>
        <p:nvCxnSpPr>
          <p:cNvPr id="235" name="Google Shape;235;p12"/>
          <p:cNvCxnSpPr>
            <a:stCxn id="234" idx="1"/>
            <a:endCxn id="236" idx="4"/>
          </p:cNvCxnSpPr>
          <p:nvPr/>
        </p:nvCxnSpPr>
        <p:spPr>
          <a:xfrm rot="10800000">
            <a:off x="5571504" y="4358255"/>
            <a:ext cx="544800" cy="1239000"/>
          </a:xfrm>
          <a:prstGeom prst="bentConnector2">
            <a:avLst/>
          </a:prstGeom>
          <a:noFill/>
          <a:ln w="12700" cap="flat" cmpd="sng">
            <a:solidFill>
              <a:srgbClr val="5DFFA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37" name="Google Shape;237;p12"/>
          <p:cNvSpPr txBox="1"/>
          <p:nvPr/>
        </p:nvSpPr>
        <p:spPr>
          <a:xfrm>
            <a:off x="0" y="0"/>
            <a:ext cx="685183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대회 룰 : 교전 대미지 룰(AIP, AlphaDogFight)</a:t>
            </a:r>
            <a:endParaRPr sz="24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38" name="Google Shape;238;p12"/>
          <p:cNvCxnSpPr/>
          <p:nvPr/>
        </p:nvCxnSpPr>
        <p:spPr>
          <a:xfrm>
            <a:off x="-38902" y="418948"/>
            <a:ext cx="6781643" cy="0"/>
          </a:xfrm>
          <a:prstGeom prst="straightConnector1">
            <a:avLst/>
          </a:prstGeom>
          <a:noFill/>
          <a:ln w="19050" cap="flat" cmpd="sng">
            <a:solidFill>
              <a:srgbClr val="5DFFA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36" name="Google Shape;236;p12"/>
          <p:cNvSpPr/>
          <p:nvPr/>
        </p:nvSpPr>
        <p:spPr>
          <a:xfrm>
            <a:off x="5405288" y="4100407"/>
            <a:ext cx="332189" cy="257836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239" name="Google Shape;239;p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5400000">
            <a:off x="349983" y="1198622"/>
            <a:ext cx="1293984" cy="1293984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12"/>
          <p:cNvSpPr txBox="1"/>
          <p:nvPr/>
        </p:nvSpPr>
        <p:spPr>
          <a:xfrm>
            <a:off x="1662297" y="2372572"/>
            <a:ext cx="444063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rgbClr val="5DFFA6"/>
                </a:solidFill>
                <a:latin typeface="Malgun Gothic"/>
                <a:ea typeface="Malgun Gothic"/>
                <a:cs typeface="Malgun Gothic"/>
                <a:sym typeface="Malgun Gothic"/>
              </a:rPr>
              <a:t>적기의 중심을 나의 공격 범위 Cone안에 넣으면 대미지 발생</a:t>
            </a:r>
            <a:endParaRPr sz="1200">
              <a:solidFill>
                <a:srgbClr val="5DFFA6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rgbClr val="5DFFA6"/>
                </a:solidFill>
                <a:latin typeface="Malgun Gothic"/>
                <a:ea typeface="Malgun Gothic"/>
                <a:cs typeface="Malgun Gothic"/>
                <a:sym typeface="Malgun Gothic"/>
              </a:rPr>
              <a:t>거리에 비례하여 더 높은 데미지가 발생함</a:t>
            </a:r>
            <a:endParaRPr sz="1200">
              <a:solidFill>
                <a:srgbClr val="5DFFA6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41" name="Google Shape;241;p12"/>
          <p:cNvSpPr/>
          <p:nvPr/>
        </p:nvSpPr>
        <p:spPr>
          <a:xfrm rot="-5400000">
            <a:off x="4030672" y="-1027147"/>
            <a:ext cx="724475" cy="5745523"/>
          </a:xfrm>
          <a:prstGeom prst="triangle">
            <a:avLst>
              <a:gd name="adj" fmla="val 50000"/>
            </a:avLst>
          </a:prstGeom>
          <a:solidFill>
            <a:srgbClr val="C0E4F5"/>
          </a:solidFill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242" name="Google Shape;242;p1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6111850">
            <a:off x="6017605" y="1153818"/>
            <a:ext cx="1293984" cy="1293984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12"/>
          <p:cNvSpPr/>
          <p:nvPr/>
        </p:nvSpPr>
        <p:spPr>
          <a:xfrm rot="-5400000">
            <a:off x="2226611" y="1028716"/>
            <a:ext cx="220869" cy="1633794"/>
          </a:xfrm>
          <a:prstGeom prst="triangle">
            <a:avLst>
              <a:gd name="adj" fmla="val 50000"/>
            </a:avLst>
          </a:prstGeom>
          <a:solidFill>
            <a:srgbClr val="FFC5C5"/>
          </a:solidFill>
          <a:ln w="19050" cap="flat" cmpd="sng">
            <a:solidFill>
              <a:srgbClr val="0C0C0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244" name="Google Shape;244;p1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4019141">
            <a:off x="9400059" y="829893"/>
            <a:ext cx="1293984" cy="1293984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12"/>
          <p:cNvSpPr/>
          <p:nvPr/>
        </p:nvSpPr>
        <p:spPr>
          <a:xfrm>
            <a:off x="8747796" y="710699"/>
            <a:ext cx="1781907" cy="1781907"/>
          </a:xfrm>
          <a:prstGeom prst="ellipse">
            <a:avLst/>
          </a:prstGeom>
          <a:noFill/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46" name="Google Shape;246;p12"/>
          <p:cNvSpPr txBox="1"/>
          <p:nvPr/>
        </p:nvSpPr>
        <p:spPr>
          <a:xfrm>
            <a:off x="8438205" y="2651913"/>
            <a:ext cx="2403222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전투기 1인칭 시점에서 공격 범위 단면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3"/>
          <p:cNvSpPr txBox="1"/>
          <p:nvPr/>
        </p:nvSpPr>
        <p:spPr>
          <a:xfrm>
            <a:off x="0" y="0"/>
            <a:ext cx="4570482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개요 : 교전 대미지 룰(경진대회)</a:t>
            </a:r>
            <a:endParaRPr sz="24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53" name="Google Shape;253;p13"/>
          <p:cNvCxnSpPr/>
          <p:nvPr/>
        </p:nvCxnSpPr>
        <p:spPr>
          <a:xfrm>
            <a:off x="0" y="369332"/>
            <a:ext cx="6165130" cy="0"/>
          </a:xfrm>
          <a:prstGeom prst="straightConnector1">
            <a:avLst/>
          </a:prstGeom>
          <a:noFill/>
          <a:ln w="19050" cap="flat" cmpd="sng">
            <a:solidFill>
              <a:srgbClr val="5DFFA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54" name="Google Shape;254;p13"/>
          <p:cNvSpPr txBox="1"/>
          <p:nvPr/>
        </p:nvSpPr>
        <p:spPr>
          <a:xfrm>
            <a:off x="369470" y="4064371"/>
            <a:ext cx="6962162" cy="2492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 dirty="0">
                <a:solidFill>
                  <a:srgbClr val="5DFFA6"/>
                </a:solidFill>
                <a:latin typeface="Malgun Gothic"/>
                <a:ea typeface="Malgun Gothic"/>
                <a:cs typeface="Malgun Gothic"/>
                <a:sym typeface="Malgun Gothic"/>
              </a:rPr>
              <a:t>교전 경과 시간에 따라 공격 성공 판정 방식이 추가</a:t>
            </a:r>
            <a:endParaRPr sz="1600" dirty="0">
              <a:solidFill>
                <a:srgbClr val="5DFFA6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rgbClr val="5DFFA6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dirty="0">
                <a:solidFill>
                  <a:srgbClr val="00B0F0"/>
                </a:solidFill>
                <a:latin typeface="Malgun Gothic"/>
                <a:ea typeface="Malgun Gothic"/>
                <a:cs typeface="Malgun Gothic"/>
                <a:sym typeface="Malgun Gothic"/>
              </a:rPr>
              <a:t>-</a:t>
            </a:r>
            <a:r>
              <a:rPr lang="ko-KR" sz="1400" dirty="0" err="1">
                <a:solidFill>
                  <a:srgbClr val="00B0F0"/>
                </a:solidFill>
                <a:latin typeface="Malgun Gothic"/>
                <a:ea typeface="Malgun Gothic"/>
                <a:cs typeface="Malgun Gothic"/>
                <a:sym typeface="Malgun Gothic"/>
              </a:rPr>
              <a:t>phase</a:t>
            </a:r>
            <a:r>
              <a:rPr lang="ko-KR" sz="1400" dirty="0">
                <a:solidFill>
                  <a:srgbClr val="00B0F0"/>
                </a:solidFill>
                <a:latin typeface="Malgun Gothic"/>
                <a:ea typeface="Malgun Gothic"/>
                <a:cs typeface="Malgun Gothic"/>
                <a:sym typeface="Malgun Gothic"/>
              </a:rPr>
              <a:t> 1 : LOS &lt; 1°, 500ft &lt; </a:t>
            </a:r>
            <a:r>
              <a:rPr lang="ko-KR" sz="1400" dirty="0" err="1">
                <a:solidFill>
                  <a:srgbClr val="00B0F0"/>
                </a:solidFill>
                <a:latin typeface="Malgun Gothic"/>
                <a:ea typeface="Malgun Gothic"/>
                <a:cs typeface="Malgun Gothic"/>
                <a:sym typeface="Malgun Gothic"/>
              </a:rPr>
              <a:t>Distance</a:t>
            </a:r>
            <a:r>
              <a:rPr lang="ko-KR" sz="1400" dirty="0">
                <a:solidFill>
                  <a:srgbClr val="00B0F0"/>
                </a:solidFill>
                <a:latin typeface="Malgun Gothic"/>
                <a:ea typeface="Malgun Gothic"/>
                <a:cs typeface="Malgun Gothic"/>
                <a:sym typeface="Malgun Gothic"/>
              </a:rPr>
              <a:t> &lt; 3000ft, </a:t>
            </a:r>
            <a:r>
              <a:rPr lang="ko-KR" sz="1400" dirty="0" err="1">
                <a:solidFill>
                  <a:srgbClr val="00B0F0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대미지</a:t>
            </a:r>
            <a:r>
              <a:rPr lang="ko-KR" sz="1400" dirty="0">
                <a:solidFill>
                  <a:srgbClr val="00B0F0"/>
                </a:solidFill>
                <a:latin typeface="Malgun Gothic"/>
                <a:ea typeface="Malgun Gothic"/>
                <a:cs typeface="Malgun Gothic"/>
                <a:sym typeface="Malgun Gothic"/>
              </a:rPr>
              <a:t> 계수 1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rgbClr val="5DFFA6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dirty="0">
                <a:solidFill>
                  <a:srgbClr val="D810E2"/>
                </a:solidFill>
                <a:latin typeface="Malgun Gothic"/>
                <a:ea typeface="Malgun Gothic"/>
                <a:cs typeface="Malgun Gothic"/>
                <a:sym typeface="Malgun Gothic"/>
              </a:rPr>
              <a:t>-</a:t>
            </a:r>
            <a:r>
              <a:rPr lang="ko-KR" sz="1400" dirty="0" err="1">
                <a:solidFill>
                  <a:srgbClr val="D810E2"/>
                </a:solidFill>
                <a:latin typeface="Malgun Gothic"/>
                <a:ea typeface="Malgun Gothic"/>
                <a:cs typeface="Malgun Gothic"/>
                <a:sym typeface="Malgun Gothic"/>
              </a:rPr>
              <a:t>phase</a:t>
            </a:r>
            <a:r>
              <a:rPr lang="ko-KR" sz="1400" dirty="0">
                <a:solidFill>
                  <a:srgbClr val="D810E2"/>
                </a:solidFill>
                <a:latin typeface="Malgun Gothic"/>
                <a:ea typeface="Malgun Gothic"/>
                <a:cs typeface="Malgun Gothic"/>
                <a:sym typeface="Malgun Gothic"/>
              </a:rPr>
              <a:t> 2 : LOS &lt; 2°, 500ft &lt; </a:t>
            </a:r>
            <a:r>
              <a:rPr lang="ko-KR" sz="1400" dirty="0" err="1">
                <a:solidFill>
                  <a:srgbClr val="D810E2"/>
                </a:solidFill>
                <a:latin typeface="Malgun Gothic"/>
                <a:ea typeface="Malgun Gothic"/>
                <a:cs typeface="Malgun Gothic"/>
                <a:sym typeface="Malgun Gothic"/>
              </a:rPr>
              <a:t>Distance</a:t>
            </a:r>
            <a:r>
              <a:rPr lang="ko-KR" sz="1400" dirty="0">
                <a:solidFill>
                  <a:srgbClr val="D810E2"/>
                </a:solidFill>
                <a:latin typeface="Malgun Gothic"/>
                <a:ea typeface="Malgun Gothic"/>
                <a:cs typeface="Malgun Gothic"/>
                <a:sym typeface="Malgun Gothic"/>
              </a:rPr>
              <a:t> &lt; 3500ft, </a:t>
            </a:r>
            <a:r>
              <a:rPr lang="ko-KR" sz="1400" dirty="0" err="1">
                <a:solidFill>
                  <a:srgbClr val="D810E2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대미지</a:t>
            </a:r>
            <a:r>
              <a:rPr lang="ko-KR" sz="1400" dirty="0">
                <a:solidFill>
                  <a:srgbClr val="D810E2"/>
                </a:solidFill>
                <a:latin typeface="Malgun Gothic"/>
                <a:ea typeface="Malgun Gothic"/>
                <a:cs typeface="Malgun Gothic"/>
                <a:sym typeface="Malgun Gothic"/>
              </a:rPr>
              <a:t> 계수 0.3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rgbClr val="5DFFA6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dirty="0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-</a:t>
            </a:r>
            <a:r>
              <a:rPr lang="ko-KR" sz="1400" dirty="0" err="1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phase</a:t>
            </a:r>
            <a:r>
              <a:rPr lang="ko-KR" sz="1400" dirty="0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3 : LOS &lt; 3°, 500ft &lt; </a:t>
            </a:r>
            <a:r>
              <a:rPr lang="ko-KR" sz="1400" dirty="0" err="1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Distance</a:t>
            </a:r>
            <a:r>
              <a:rPr lang="ko-KR" sz="1400" dirty="0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&lt; 4000ft, </a:t>
            </a:r>
            <a:r>
              <a:rPr lang="ko-KR" sz="1400" dirty="0" err="1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대미지</a:t>
            </a:r>
            <a:r>
              <a:rPr lang="ko-KR" sz="1400" dirty="0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계수 0.1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rgbClr val="5DFFA6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dirty="0">
                <a:solidFill>
                  <a:srgbClr val="5DFFA6"/>
                </a:solidFill>
                <a:latin typeface="Malgun Gothic"/>
                <a:ea typeface="Malgun Gothic"/>
                <a:cs typeface="Malgun Gothic"/>
                <a:sym typeface="Malgun Gothic"/>
              </a:rPr>
              <a:t>하위 </a:t>
            </a:r>
            <a:r>
              <a:rPr lang="ko-KR" sz="1400" dirty="0" err="1">
                <a:solidFill>
                  <a:srgbClr val="5DFFA6"/>
                </a:solidFill>
                <a:latin typeface="Malgun Gothic"/>
                <a:ea typeface="Malgun Gothic"/>
                <a:cs typeface="Malgun Gothic"/>
                <a:sym typeface="Malgun Gothic"/>
              </a:rPr>
              <a:t>Phase에</a:t>
            </a:r>
            <a:r>
              <a:rPr lang="ko-KR" sz="1400" dirty="0">
                <a:solidFill>
                  <a:srgbClr val="5DFFA6"/>
                </a:solidFill>
                <a:latin typeface="Malgun Gothic"/>
                <a:ea typeface="Malgun Gothic"/>
                <a:cs typeface="Malgun Gothic"/>
                <a:sym typeface="Malgun Gothic"/>
              </a:rPr>
              <a:t> 적이 위치하는 경우 하위 </a:t>
            </a:r>
            <a:r>
              <a:rPr lang="ko-KR" sz="1400" dirty="0" err="1">
                <a:solidFill>
                  <a:srgbClr val="5DFFA6"/>
                </a:solidFill>
                <a:latin typeface="Malgun Gothic"/>
                <a:ea typeface="Malgun Gothic"/>
                <a:cs typeface="Malgun Gothic"/>
                <a:sym typeface="Malgun Gothic"/>
              </a:rPr>
              <a:t>phase의</a:t>
            </a:r>
            <a:r>
              <a:rPr lang="ko-KR" sz="1400" dirty="0">
                <a:solidFill>
                  <a:srgbClr val="5DFFA6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1400" dirty="0" err="1">
                <a:solidFill>
                  <a:srgbClr val="5DFFA6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대미지</a:t>
            </a:r>
            <a:r>
              <a:rPr lang="ko-KR" sz="1400" dirty="0">
                <a:solidFill>
                  <a:srgbClr val="5DFFA6"/>
                </a:solidFill>
                <a:latin typeface="Malgun Gothic"/>
                <a:ea typeface="Malgun Gothic"/>
                <a:cs typeface="Malgun Gothic"/>
                <a:sym typeface="Malgun Gothic"/>
              </a:rPr>
              <a:t> 적용</a:t>
            </a:r>
            <a:endParaRPr sz="1400" dirty="0">
              <a:solidFill>
                <a:srgbClr val="5DFFA6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rgbClr val="5DFFA6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dirty="0" err="1">
                <a:solidFill>
                  <a:srgbClr val="5DFFA6"/>
                </a:solidFill>
                <a:latin typeface="Malgun Gothic"/>
                <a:ea typeface="Malgun Gothic"/>
                <a:cs typeface="Malgun Gothic"/>
                <a:sym typeface="Malgun Gothic"/>
              </a:rPr>
              <a:t>Ex</a:t>
            </a:r>
            <a:r>
              <a:rPr lang="ko-KR" sz="1400" dirty="0">
                <a:solidFill>
                  <a:srgbClr val="5DFFA6"/>
                </a:solidFill>
                <a:latin typeface="Malgun Gothic"/>
                <a:ea typeface="Malgun Gothic"/>
                <a:cs typeface="Malgun Gothic"/>
                <a:sym typeface="Malgun Gothic"/>
              </a:rPr>
              <a:t>) </a:t>
            </a:r>
            <a:r>
              <a:rPr lang="ko-KR" sz="1400" dirty="0" err="1">
                <a:solidFill>
                  <a:srgbClr val="5DFFA6"/>
                </a:solidFill>
                <a:latin typeface="Malgun Gothic"/>
                <a:ea typeface="Malgun Gothic"/>
                <a:cs typeface="Malgun Gothic"/>
                <a:sym typeface="Malgun Gothic"/>
              </a:rPr>
              <a:t>Phase</a:t>
            </a:r>
            <a:r>
              <a:rPr lang="ko-KR" sz="1400" dirty="0">
                <a:solidFill>
                  <a:srgbClr val="5DFFA6"/>
                </a:solidFill>
                <a:latin typeface="Malgun Gothic"/>
                <a:ea typeface="Malgun Gothic"/>
                <a:cs typeface="Malgun Gothic"/>
                <a:sym typeface="Malgun Gothic"/>
              </a:rPr>
              <a:t> 3 상황에서 적기가 </a:t>
            </a:r>
            <a:r>
              <a:rPr lang="ko-KR" sz="1400" dirty="0" err="1">
                <a:solidFill>
                  <a:srgbClr val="5DFFA6"/>
                </a:solidFill>
                <a:latin typeface="Malgun Gothic"/>
                <a:ea typeface="Malgun Gothic"/>
                <a:cs typeface="Malgun Gothic"/>
                <a:sym typeface="Malgun Gothic"/>
              </a:rPr>
              <a:t>Phase</a:t>
            </a:r>
            <a:r>
              <a:rPr lang="ko-KR" sz="1400" dirty="0">
                <a:solidFill>
                  <a:srgbClr val="5DFFA6"/>
                </a:solidFill>
                <a:latin typeface="Malgun Gothic"/>
                <a:ea typeface="Malgun Gothic"/>
                <a:cs typeface="Malgun Gothic"/>
                <a:sym typeface="Malgun Gothic"/>
              </a:rPr>
              <a:t> 1의 범위 안에 있는 경우 </a:t>
            </a:r>
            <a:r>
              <a:rPr lang="ko-KR" sz="1400" dirty="0" err="1">
                <a:solidFill>
                  <a:srgbClr val="5DFFA6"/>
                </a:solidFill>
                <a:latin typeface="Malgun Gothic"/>
                <a:ea typeface="Malgun Gothic"/>
                <a:cs typeface="Malgun Gothic"/>
                <a:sym typeface="Malgun Gothic"/>
              </a:rPr>
              <a:t>Phase</a:t>
            </a:r>
            <a:r>
              <a:rPr lang="ko-KR" sz="1400" dirty="0">
                <a:solidFill>
                  <a:srgbClr val="5DFFA6"/>
                </a:solidFill>
                <a:latin typeface="Malgun Gothic"/>
                <a:ea typeface="Malgun Gothic"/>
                <a:cs typeface="Malgun Gothic"/>
                <a:sym typeface="Malgun Gothic"/>
              </a:rPr>
              <a:t> 1의 </a:t>
            </a:r>
            <a:r>
              <a:rPr lang="ko-KR" sz="1400" dirty="0" err="1">
                <a:solidFill>
                  <a:srgbClr val="5DFFA6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대미지</a:t>
            </a:r>
            <a:r>
              <a:rPr lang="ko-KR" sz="1400" dirty="0">
                <a:solidFill>
                  <a:srgbClr val="5DFFA6"/>
                </a:solidFill>
                <a:latin typeface="Malgun Gothic"/>
                <a:ea typeface="Malgun Gothic"/>
                <a:cs typeface="Malgun Gothic"/>
                <a:sym typeface="Malgun Gothic"/>
              </a:rPr>
              <a:t> 적용</a:t>
            </a:r>
            <a:endParaRPr sz="1400" dirty="0">
              <a:solidFill>
                <a:srgbClr val="5DFFA6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55" name="Google Shape;255;p13"/>
          <p:cNvSpPr/>
          <p:nvPr/>
        </p:nvSpPr>
        <p:spPr>
          <a:xfrm rot="-5400000">
            <a:off x="3389654" y="-1876014"/>
            <a:ext cx="4430821" cy="8482169"/>
          </a:xfrm>
          <a:prstGeom prst="triangle">
            <a:avLst>
              <a:gd name="adj" fmla="val 50000"/>
            </a:avLst>
          </a:prstGeom>
          <a:solidFill>
            <a:srgbClr val="FFA3A3"/>
          </a:solidFill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1 : 2.72 : 5.34</a:t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56" name="Google Shape;256;p13"/>
          <p:cNvSpPr/>
          <p:nvPr/>
        </p:nvSpPr>
        <p:spPr>
          <a:xfrm rot="-5400000">
            <a:off x="3580960" y="-885414"/>
            <a:ext cx="2067011" cy="6500972"/>
          </a:xfrm>
          <a:prstGeom prst="triangle">
            <a:avLst>
              <a:gd name="adj" fmla="val 50000"/>
            </a:avLst>
          </a:prstGeom>
          <a:solidFill>
            <a:srgbClr val="F2CDED"/>
          </a:solidFill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57" name="Google Shape;257;p13"/>
          <p:cNvSpPr/>
          <p:nvPr/>
        </p:nvSpPr>
        <p:spPr>
          <a:xfrm rot="-5400000">
            <a:off x="3375929" y="10879"/>
            <a:ext cx="724475" cy="4748366"/>
          </a:xfrm>
          <a:prstGeom prst="triangle">
            <a:avLst>
              <a:gd name="adj" fmla="val 50000"/>
            </a:avLst>
          </a:prstGeom>
          <a:solidFill>
            <a:srgbClr val="C0E4F5"/>
          </a:solidFill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58" name="Google Shape;258;p13"/>
          <p:cNvCxnSpPr>
            <a:stCxn id="257" idx="0"/>
            <a:endCxn id="255" idx="3"/>
          </p:cNvCxnSpPr>
          <p:nvPr/>
        </p:nvCxnSpPr>
        <p:spPr>
          <a:xfrm rot="10800000" flipH="1">
            <a:off x="1363984" y="2364962"/>
            <a:ext cx="8482200" cy="2010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59" name="Google Shape;259;p13"/>
          <p:cNvSpPr txBox="1"/>
          <p:nvPr/>
        </p:nvSpPr>
        <p:spPr>
          <a:xfrm>
            <a:off x="4812091" y="2096272"/>
            <a:ext cx="131138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rgbClr val="0070C0"/>
                </a:solidFill>
                <a:latin typeface="Malgun Gothic"/>
                <a:ea typeface="Malgun Gothic"/>
                <a:cs typeface="Malgun Gothic"/>
                <a:sym typeface="Malgun Gothic"/>
              </a:rPr>
              <a:t>Los &lt; 1°</a:t>
            </a:r>
            <a:r>
              <a:rPr lang="ko-KR" sz="1200">
                <a:solidFill>
                  <a:srgbClr val="1F5C99"/>
                </a:solidFill>
                <a:latin typeface="Malgun Gothic"/>
                <a:ea typeface="Malgun Gothic"/>
                <a:cs typeface="Malgun Gothic"/>
                <a:sym typeface="Malgun Gothic"/>
              </a:rPr>
              <a:t>, 3000ft</a:t>
            </a:r>
            <a:endParaRPr sz="1200">
              <a:solidFill>
                <a:srgbClr val="1F5C99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0" name="Google Shape;260;p13"/>
          <p:cNvSpPr txBox="1"/>
          <p:nvPr/>
        </p:nvSpPr>
        <p:spPr>
          <a:xfrm>
            <a:off x="6474873" y="2046066"/>
            <a:ext cx="131138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rgbClr val="7030A0"/>
                </a:solidFill>
                <a:latin typeface="Malgun Gothic"/>
                <a:ea typeface="Malgun Gothic"/>
                <a:cs typeface="Malgun Gothic"/>
                <a:sym typeface="Malgun Gothic"/>
              </a:rPr>
              <a:t>Los &lt; 2°, 3500ft</a:t>
            </a:r>
            <a:endParaRPr sz="1200">
              <a:solidFill>
                <a:srgbClr val="7030A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1" name="Google Shape;261;p13"/>
          <p:cNvSpPr txBox="1"/>
          <p:nvPr/>
        </p:nvSpPr>
        <p:spPr>
          <a:xfrm>
            <a:off x="8400041" y="2036630"/>
            <a:ext cx="135729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Los &lt; 3°, 4000ft</a:t>
            </a:r>
            <a:endParaRPr sz="1200">
              <a:solidFill>
                <a:srgbClr val="C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2" name="Google Shape;262;p13"/>
          <p:cNvSpPr txBox="1"/>
          <p:nvPr/>
        </p:nvSpPr>
        <p:spPr>
          <a:xfrm>
            <a:off x="4799863" y="2365072"/>
            <a:ext cx="1338828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rgbClr val="1F5C99"/>
                </a:solidFill>
                <a:latin typeface="Malgun Gothic"/>
                <a:ea typeface="Malgun Gothic"/>
                <a:cs typeface="Malgun Gothic"/>
                <a:sym typeface="Malgun Gothic"/>
              </a:rPr>
              <a:t>Phase 1(0~100s)</a:t>
            </a:r>
            <a:endParaRPr sz="1200">
              <a:solidFill>
                <a:srgbClr val="1F5C99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3" name="Google Shape;263;p13"/>
          <p:cNvSpPr txBox="1"/>
          <p:nvPr/>
        </p:nvSpPr>
        <p:spPr>
          <a:xfrm>
            <a:off x="6451584" y="2316968"/>
            <a:ext cx="150874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rgbClr val="7030A0"/>
                </a:solidFill>
                <a:latin typeface="Malgun Gothic"/>
                <a:ea typeface="Malgun Gothic"/>
                <a:cs typeface="Malgun Gothic"/>
                <a:sym typeface="Malgun Gothic"/>
              </a:rPr>
              <a:t>Phase 2(100~150s)</a:t>
            </a:r>
            <a:endParaRPr sz="1200">
              <a:solidFill>
                <a:srgbClr val="7030A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4" name="Google Shape;264;p13"/>
          <p:cNvSpPr txBox="1"/>
          <p:nvPr/>
        </p:nvSpPr>
        <p:spPr>
          <a:xfrm>
            <a:off x="8376750" y="2361733"/>
            <a:ext cx="150874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Phase 3(150~200s)</a:t>
            </a:r>
            <a:endParaRPr sz="1200">
              <a:solidFill>
                <a:srgbClr val="C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5" name="Google Shape;265;p13"/>
          <p:cNvSpPr txBox="1"/>
          <p:nvPr/>
        </p:nvSpPr>
        <p:spPr>
          <a:xfrm>
            <a:off x="9237803" y="6062010"/>
            <a:ext cx="2847517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>
                <a:solidFill>
                  <a:srgbClr val="5DFFA6"/>
                </a:solidFill>
                <a:latin typeface="Malgun Gothic"/>
                <a:ea typeface="Malgun Gothic"/>
                <a:cs typeface="Malgun Gothic"/>
                <a:sym typeface="Malgun Gothic"/>
              </a:rPr>
              <a:t>Damge Con 부피</a:t>
            </a:r>
            <a:r>
              <a:rPr lang="ko-KR" sz="1800">
                <a:solidFill>
                  <a:srgbClr val="00B0F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endParaRPr sz="1800">
              <a:solidFill>
                <a:srgbClr val="00B0F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rgbClr val="00B0F0"/>
                </a:solidFill>
                <a:latin typeface="Malgun Gothic"/>
                <a:ea typeface="Malgun Gothic"/>
                <a:cs typeface="Malgun Gothic"/>
                <a:sym typeface="Malgun Gothic"/>
              </a:rPr>
              <a:t>	</a:t>
            </a:r>
            <a:r>
              <a:rPr lang="ko-KR" sz="1800" b="1">
                <a:solidFill>
                  <a:srgbClr val="00B0F0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r>
              <a:rPr lang="ko-KR" sz="1800" b="1">
                <a:solidFill>
                  <a:srgbClr val="5DFFA6"/>
                </a:solidFill>
                <a:latin typeface="Malgun Gothic"/>
                <a:ea typeface="Malgun Gothic"/>
                <a:cs typeface="Malgun Gothic"/>
                <a:sym typeface="Malgun Gothic"/>
              </a:rPr>
              <a:t> : </a:t>
            </a:r>
            <a:r>
              <a:rPr lang="ko-KR" sz="1800" b="1">
                <a:solidFill>
                  <a:srgbClr val="D810E2"/>
                </a:solidFill>
                <a:latin typeface="Malgun Gothic"/>
                <a:ea typeface="Malgun Gothic"/>
                <a:cs typeface="Malgun Gothic"/>
                <a:sym typeface="Malgun Gothic"/>
              </a:rPr>
              <a:t>6.36</a:t>
            </a:r>
            <a:r>
              <a:rPr lang="ko-KR" sz="1800" b="1">
                <a:solidFill>
                  <a:srgbClr val="5DFFA6"/>
                </a:solidFill>
                <a:latin typeface="Malgun Gothic"/>
                <a:ea typeface="Malgun Gothic"/>
                <a:cs typeface="Malgun Gothic"/>
                <a:sym typeface="Malgun Gothic"/>
              </a:rPr>
              <a:t> : </a:t>
            </a:r>
            <a:r>
              <a:rPr lang="ko-KR" sz="1800" b="1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21.37</a:t>
            </a:r>
            <a:endParaRPr sz="1800" b="1">
              <a:solidFill>
                <a:srgbClr val="C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5"/>
          <p:cNvSpPr/>
          <p:nvPr/>
        </p:nvSpPr>
        <p:spPr>
          <a:xfrm>
            <a:off x="1058943" y="1718005"/>
            <a:ext cx="9723141" cy="873822"/>
          </a:xfrm>
          <a:prstGeom prst="rect">
            <a:avLst/>
          </a:prstGeom>
          <a:solidFill>
            <a:srgbClr val="262626"/>
          </a:solidFill>
          <a:ln w="19050" cap="flat" cmpd="sng">
            <a:solidFill>
              <a:srgbClr val="5DFF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0" name="Google Shape;300;p15"/>
          <p:cNvSpPr txBox="1"/>
          <p:nvPr/>
        </p:nvSpPr>
        <p:spPr>
          <a:xfrm>
            <a:off x="0" y="0"/>
            <a:ext cx="426270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개요 : 교전 시나리오 룰(예선)</a:t>
            </a:r>
            <a:endParaRPr sz="24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301" name="Google Shape;301;p15"/>
          <p:cNvCxnSpPr>
            <a:stCxn id="302" idx="3"/>
            <a:endCxn id="303" idx="3"/>
          </p:cNvCxnSpPr>
          <p:nvPr/>
        </p:nvCxnSpPr>
        <p:spPr>
          <a:xfrm>
            <a:off x="3485609" y="2100017"/>
            <a:ext cx="1443900" cy="0"/>
          </a:xfrm>
          <a:prstGeom prst="straightConnector1">
            <a:avLst/>
          </a:prstGeom>
          <a:noFill/>
          <a:ln w="19050" cap="flat" cmpd="sng">
            <a:solidFill>
              <a:srgbClr val="00B050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304" name="Google Shape;304;p15"/>
          <p:cNvSpPr txBox="1"/>
          <p:nvPr/>
        </p:nvSpPr>
        <p:spPr>
          <a:xfrm>
            <a:off x="3802293" y="1914615"/>
            <a:ext cx="827471" cy="200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700">
                <a:solidFill>
                  <a:srgbClr val="5DFFA6"/>
                </a:solidFill>
                <a:latin typeface="Malgun Gothic"/>
                <a:ea typeface="Malgun Gothic"/>
                <a:cs typeface="Malgun Gothic"/>
                <a:sym typeface="Malgun Gothic"/>
              </a:rPr>
              <a:t>2000ft ~ 3000ft</a:t>
            </a:r>
            <a:endParaRPr sz="700">
              <a:solidFill>
                <a:srgbClr val="5DFFA6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302" name="Google Shape;302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55189" y="1734807"/>
            <a:ext cx="730420" cy="7304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10800000">
            <a:off x="4929626" y="1734807"/>
            <a:ext cx="730420" cy="730420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15"/>
          <p:cNvSpPr txBox="1"/>
          <p:nvPr/>
        </p:nvSpPr>
        <p:spPr>
          <a:xfrm>
            <a:off x="1230643" y="1962629"/>
            <a:ext cx="107029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1 Round</a:t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6" name="Google Shape;306;p15"/>
          <p:cNvSpPr txBox="1"/>
          <p:nvPr/>
        </p:nvSpPr>
        <p:spPr>
          <a:xfrm>
            <a:off x="6500449" y="1991356"/>
            <a:ext cx="309091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AlphaDogFight 의 교전 방식을 채용</a:t>
            </a:r>
            <a:endParaRPr/>
          </a:p>
        </p:txBody>
      </p:sp>
      <p:cxnSp>
        <p:nvCxnSpPr>
          <p:cNvPr id="307" name="Google Shape;307;p15"/>
          <p:cNvCxnSpPr/>
          <p:nvPr/>
        </p:nvCxnSpPr>
        <p:spPr>
          <a:xfrm>
            <a:off x="0" y="369332"/>
            <a:ext cx="6165130" cy="0"/>
          </a:xfrm>
          <a:prstGeom prst="straightConnector1">
            <a:avLst/>
          </a:prstGeom>
          <a:noFill/>
          <a:ln w="19050" cap="flat" cmpd="sng">
            <a:solidFill>
              <a:srgbClr val="5DFFA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08" name="Google Shape;308;p15"/>
          <p:cNvSpPr txBox="1"/>
          <p:nvPr/>
        </p:nvSpPr>
        <p:spPr>
          <a:xfrm>
            <a:off x="1058943" y="3190875"/>
            <a:ext cx="7314823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단판으로 진행되며 정확한 수치(시작거리, 고도, 속력 등)는 차후 공개</a:t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#컷오프가 적용되는 경우 컷오프에서도 동일한 룰 적용</a:t>
            </a:r>
            <a:endParaRPr/>
          </a:p>
        </p:txBody>
      </p:sp>
      <p:sp>
        <p:nvSpPr>
          <p:cNvPr id="309" name="Google Shape;309;p15"/>
          <p:cNvSpPr txBox="1"/>
          <p:nvPr/>
        </p:nvSpPr>
        <p:spPr>
          <a:xfrm>
            <a:off x="693920" y="5196579"/>
            <a:ext cx="10942419" cy="1169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컷오프 방법 : 예상보다 너무 많은 참여팀이 지원하여 현재 방법에 대한 논의중</a:t>
            </a:r>
            <a:endParaRPr sz="14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	제 1안 ) 경진대회 운영팀에서 만든 적당한 성능의 모델을 이기는 팀만 예선 진출</a:t>
            </a:r>
            <a:endParaRPr sz="14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	제 2안 ) 경진대회 운영팀에서 만든 적당한 성능의 모델을 각 참여팀에게 전달하고 예선 참여 여부를 각 팀에서 스스로 결정</a:t>
            </a:r>
            <a:endParaRPr sz="14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6"/>
          <p:cNvSpPr/>
          <p:nvPr/>
        </p:nvSpPr>
        <p:spPr>
          <a:xfrm>
            <a:off x="1070576" y="3433897"/>
            <a:ext cx="9723141" cy="873822"/>
          </a:xfrm>
          <a:prstGeom prst="rect">
            <a:avLst/>
          </a:prstGeom>
          <a:solidFill>
            <a:srgbClr val="262626"/>
          </a:solidFill>
          <a:ln w="1905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16" name="Google Shape;316;p16"/>
          <p:cNvSpPr/>
          <p:nvPr/>
        </p:nvSpPr>
        <p:spPr>
          <a:xfrm>
            <a:off x="1058943" y="1718005"/>
            <a:ext cx="9723141" cy="873822"/>
          </a:xfrm>
          <a:prstGeom prst="rect">
            <a:avLst/>
          </a:prstGeom>
          <a:solidFill>
            <a:srgbClr val="262626"/>
          </a:solidFill>
          <a:ln w="19050" cap="flat" cmpd="sng">
            <a:solidFill>
              <a:srgbClr val="5DFF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17" name="Google Shape;317;p16"/>
          <p:cNvSpPr txBox="1"/>
          <p:nvPr/>
        </p:nvSpPr>
        <p:spPr>
          <a:xfrm>
            <a:off x="0" y="0"/>
            <a:ext cx="426270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개요 : 교전 시나리오 룰(본선)</a:t>
            </a:r>
            <a:endParaRPr sz="24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318" name="Google Shape;318;p16"/>
          <p:cNvCxnSpPr>
            <a:stCxn id="319" idx="3"/>
            <a:endCxn id="320" idx="3"/>
          </p:cNvCxnSpPr>
          <p:nvPr/>
        </p:nvCxnSpPr>
        <p:spPr>
          <a:xfrm>
            <a:off x="3485609" y="2100017"/>
            <a:ext cx="1443900" cy="0"/>
          </a:xfrm>
          <a:prstGeom prst="straightConnector1">
            <a:avLst/>
          </a:prstGeom>
          <a:noFill/>
          <a:ln w="19050" cap="flat" cmpd="sng">
            <a:solidFill>
              <a:srgbClr val="00B050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321" name="Google Shape;321;p16"/>
          <p:cNvSpPr txBox="1"/>
          <p:nvPr/>
        </p:nvSpPr>
        <p:spPr>
          <a:xfrm>
            <a:off x="3802293" y="1914615"/>
            <a:ext cx="827471" cy="200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700">
                <a:solidFill>
                  <a:srgbClr val="5DFFA6"/>
                </a:solidFill>
                <a:latin typeface="Malgun Gothic"/>
                <a:ea typeface="Malgun Gothic"/>
                <a:cs typeface="Malgun Gothic"/>
                <a:sym typeface="Malgun Gothic"/>
              </a:rPr>
              <a:t>2000ft ~ 3000ft</a:t>
            </a:r>
            <a:endParaRPr sz="700">
              <a:solidFill>
                <a:srgbClr val="5DFFA6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319" name="Google Shape;319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55189" y="1734807"/>
            <a:ext cx="730420" cy="7304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10800000">
            <a:off x="4929626" y="1734807"/>
            <a:ext cx="730420" cy="730420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16"/>
          <p:cNvSpPr txBox="1"/>
          <p:nvPr/>
        </p:nvSpPr>
        <p:spPr>
          <a:xfrm>
            <a:off x="1230643" y="1962629"/>
            <a:ext cx="135883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1~3 Round</a:t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323" name="Google Shape;323;p16"/>
          <p:cNvCxnSpPr>
            <a:stCxn id="324" idx="0"/>
            <a:endCxn id="325" idx="0"/>
          </p:cNvCxnSpPr>
          <p:nvPr/>
        </p:nvCxnSpPr>
        <p:spPr>
          <a:xfrm rot="10800000" flipH="1">
            <a:off x="3231571" y="3894119"/>
            <a:ext cx="2903700" cy="3300"/>
          </a:xfrm>
          <a:prstGeom prst="straightConnector1">
            <a:avLst/>
          </a:prstGeom>
          <a:noFill/>
          <a:ln w="19050" cap="flat" cmpd="sng">
            <a:solidFill>
              <a:srgbClr val="00B050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326" name="Google Shape;326;p16"/>
          <p:cNvSpPr txBox="1"/>
          <p:nvPr/>
        </p:nvSpPr>
        <p:spPr>
          <a:xfrm>
            <a:off x="4437183" y="3703450"/>
            <a:ext cx="704039" cy="200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700">
                <a:solidFill>
                  <a:srgbClr val="5DFFA6"/>
                </a:solidFill>
                <a:latin typeface="Malgun Gothic"/>
                <a:ea typeface="Malgun Gothic"/>
                <a:cs typeface="Malgun Gothic"/>
                <a:sym typeface="Malgun Gothic"/>
              </a:rPr>
              <a:t>10000ft 이상</a:t>
            </a:r>
            <a:endParaRPr/>
          </a:p>
        </p:txBody>
      </p:sp>
      <p:pic>
        <p:nvPicPr>
          <p:cNvPr id="324" name="Google Shape;324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2501151" y="3532209"/>
            <a:ext cx="730420" cy="7304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5400000">
            <a:off x="6135239" y="3528858"/>
            <a:ext cx="730420" cy="730420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16"/>
          <p:cNvSpPr txBox="1"/>
          <p:nvPr/>
        </p:nvSpPr>
        <p:spPr>
          <a:xfrm>
            <a:off x="1225816" y="3682810"/>
            <a:ext cx="123219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4 Round+</a:t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28" name="Google Shape;328;p16"/>
          <p:cNvSpPr txBox="1"/>
          <p:nvPr/>
        </p:nvSpPr>
        <p:spPr>
          <a:xfrm>
            <a:off x="6500449" y="1991356"/>
            <a:ext cx="431239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1,2,3 라운드는 AlphaDogFight 의 교전 방식을 채용</a:t>
            </a:r>
            <a:endParaRPr/>
          </a:p>
        </p:txBody>
      </p:sp>
      <p:sp>
        <p:nvSpPr>
          <p:cNvPr id="329" name="Google Shape;329;p16"/>
          <p:cNvSpPr txBox="1"/>
          <p:nvPr/>
        </p:nvSpPr>
        <p:spPr>
          <a:xfrm>
            <a:off x="7160866" y="3632457"/>
            <a:ext cx="3469219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3라운드 이내에 승부가 갈리지 않은 경우</a:t>
            </a:r>
            <a:endParaRPr sz="14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서로 마주본 상태에서 정면 교전 수행</a:t>
            </a:r>
            <a:endParaRPr/>
          </a:p>
        </p:txBody>
      </p:sp>
      <p:cxnSp>
        <p:nvCxnSpPr>
          <p:cNvPr id="330" name="Google Shape;330;p16"/>
          <p:cNvCxnSpPr/>
          <p:nvPr/>
        </p:nvCxnSpPr>
        <p:spPr>
          <a:xfrm>
            <a:off x="0" y="369332"/>
            <a:ext cx="6165130" cy="0"/>
          </a:xfrm>
          <a:prstGeom prst="straightConnector1">
            <a:avLst/>
          </a:prstGeom>
          <a:noFill/>
          <a:ln w="19050" cap="flat" cmpd="sng">
            <a:solidFill>
              <a:srgbClr val="5DFFA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31" name="Google Shape;331;p16"/>
          <p:cNvSpPr txBox="1"/>
          <p:nvPr/>
        </p:nvSpPr>
        <p:spPr>
          <a:xfrm>
            <a:off x="1066638" y="1360355"/>
            <a:ext cx="66236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rgbClr val="5DFFA6"/>
                </a:solidFill>
                <a:latin typeface="Malgun Gothic"/>
                <a:ea typeface="Malgun Gothic"/>
                <a:cs typeface="Malgun Gothic"/>
                <a:sym typeface="Malgun Gothic"/>
              </a:rPr>
              <a:t>Base</a:t>
            </a:r>
            <a:endParaRPr sz="1800">
              <a:solidFill>
                <a:srgbClr val="5DFFA6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32" name="Google Shape;332;p16"/>
          <p:cNvSpPr txBox="1"/>
          <p:nvPr/>
        </p:nvSpPr>
        <p:spPr>
          <a:xfrm>
            <a:off x="1058943" y="3040669"/>
            <a:ext cx="813556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3라운드 까지 동률 또는 승부가 안났다면 운명을 건 마지막 한타 싸움 진행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7"/>
          <p:cNvSpPr txBox="1"/>
          <p:nvPr/>
        </p:nvSpPr>
        <p:spPr>
          <a:xfrm>
            <a:off x="2114545" y="1913096"/>
            <a:ext cx="4125268" cy="1569660"/>
          </a:xfrm>
          <a:prstGeom prst="rect">
            <a:avLst/>
          </a:prstGeom>
          <a:solidFill>
            <a:srgbClr val="DA5808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예선</a:t>
            </a:r>
            <a:endParaRPr sz="12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	-스위스 리그 형태로 진행</a:t>
            </a:r>
            <a:endParaRPr sz="12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	-단판 경기</a:t>
            </a:r>
            <a:endParaRPr sz="12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	-최소 3회 이상의 교전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	-8개의 상위팀 + 4팀의 와일드카드팀 선발</a:t>
            </a:r>
            <a:endParaRPr sz="12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39" name="Google Shape;339;p17"/>
          <p:cNvSpPr txBox="1"/>
          <p:nvPr/>
        </p:nvSpPr>
        <p:spPr>
          <a:xfrm>
            <a:off x="8771574" y="5174498"/>
            <a:ext cx="3057247" cy="1200329"/>
          </a:xfrm>
          <a:prstGeom prst="rect">
            <a:avLst/>
          </a:prstGeom>
          <a:solidFill>
            <a:srgbClr val="0070C0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본선</a:t>
            </a:r>
            <a:endParaRPr sz="12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	-8강으로 진행되는 토너먼트</a:t>
            </a:r>
            <a:endParaRPr sz="12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	-5판 3선승제</a:t>
            </a:r>
            <a:endParaRPr sz="12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	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40" name="Google Shape;340;p17"/>
          <p:cNvSpPr txBox="1"/>
          <p:nvPr/>
        </p:nvSpPr>
        <p:spPr>
          <a:xfrm>
            <a:off x="79656" y="548014"/>
            <a:ext cx="2801154" cy="1200329"/>
          </a:xfrm>
          <a:prstGeom prst="rect">
            <a:avLst/>
          </a:prstGeom>
          <a:solidFill>
            <a:srgbClr val="00B050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컷 오프 진행</a:t>
            </a:r>
            <a:endParaRPr sz="12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대회 운영위원회가 지정한 기체를 대상으로 승리한 팀만 예선으로 진출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	</a:t>
            </a:r>
            <a:endParaRPr/>
          </a:p>
        </p:txBody>
      </p:sp>
      <p:sp>
        <p:nvSpPr>
          <p:cNvPr id="341" name="Google Shape;341;p17"/>
          <p:cNvSpPr txBox="1"/>
          <p:nvPr/>
        </p:nvSpPr>
        <p:spPr>
          <a:xfrm>
            <a:off x="1480233" y="3730314"/>
            <a:ext cx="3657601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#와일드 카드 팀은 출신 학교가 겹치지 않는 팀만을 대상으로 하고 대학당 최대 1팀만 가능</a:t>
            </a:r>
            <a:endParaRPr/>
          </a:p>
        </p:txBody>
      </p:sp>
      <p:sp>
        <p:nvSpPr>
          <p:cNvPr id="342" name="Google Shape;342;p17"/>
          <p:cNvSpPr txBox="1"/>
          <p:nvPr/>
        </p:nvSpPr>
        <p:spPr>
          <a:xfrm>
            <a:off x="5650671" y="3647509"/>
            <a:ext cx="3330274" cy="1200329"/>
          </a:xfrm>
          <a:prstGeom prst="rect">
            <a:avLst/>
          </a:prstGeom>
          <a:solidFill>
            <a:srgbClr val="0070C0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본선 조별 라운드</a:t>
            </a:r>
            <a:endParaRPr sz="12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	-3 : 3 : 3 : 3 으로 나눠진 리그</a:t>
            </a:r>
            <a:endParaRPr sz="12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	-3판 2선승제, 풀리그 진행</a:t>
            </a:r>
            <a:endParaRPr sz="12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	-조별 상위 2팀 본선 진출</a:t>
            </a:r>
            <a:endParaRPr sz="12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	</a:t>
            </a:r>
            <a:endParaRPr/>
          </a:p>
        </p:txBody>
      </p:sp>
      <p:sp>
        <p:nvSpPr>
          <p:cNvPr id="343" name="Google Shape;343;p17"/>
          <p:cNvSpPr/>
          <p:nvPr/>
        </p:nvSpPr>
        <p:spPr>
          <a:xfrm rot="5400000">
            <a:off x="2955594" y="1153050"/>
            <a:ext cx="706876" cy="697133"/>
          </a:xfrm>
          <a:prstGeom prst="bentArrow">
            <a:avLst>
              <a:gd name="adj1" fmla="val 25000"/>
              <a:gd name="adj2" fmla="val 25000"/>
              <a:gd name="adj3" fmla="val 25000"/>
              <a:gd name="adj4" fmla="val 43750"/>
            </a:avLst>
          </a:prstGeom>
          <a:noFill/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44" name="Google Shape;344;p17"/>
          <p:cNvSpPr/>
          <p:nvPr/>
        </p:nvSpPr>
        <p:spPr>
          <a:xfrm rot="5400000">
            <a:off x="6321277" y="2861925"/>
            <a:ext cx="706876" cy="697133"/>
          </a:xfrm>
          <a:prstGeom prst="bentArrow">
            <a:avLst>
              <a:gd name="adj1" fmla="val 25000"/>
              <a:gd name="adj2" fmla="val 25000"/>
              <a:gd name="adj3" fmla="val 25000"/>
              <a:gd name="adj4" fmla="val 43750"/>
            </a:avLst>
          </a:prstGeom>
          <a:noFill/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45" name="Google Shape;345;p17"/>
          <p:cNvSpPr/>
          <p:nvPr/>
        </p:nvSpPr>
        <p:spPr>
          <a:xfrm rot="5400000">
            <a:off x="9062330" y="4394214"/>
            <a:ext cx="706876" cy="697133"/>
          </a:xfrm>
          <a:prstGeom prst="bentArrow">
            <a:avLst>
              <a:gd name="adj1" fmla="val 25000"/>
              <a:gd name="adj2" fmla="val 25000"/>
              <a:gd name="adj3" fmla="val 25000"/>
              <a:gd name="adj4" fmla="val 43750"/>
            </a:avLst>
          </a:prstGeom>
          <a:noFill/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346" name="Google Shape;346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39" y="0"/>
            <a:ext cx="12185522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17"/>
          <p:cNvSpPr/>
          <p:nvPr/>
        </p:nvSpPr>
        <p:spPr>
          <a:xfrm>
            <a:off x="79656" y="135228"/>
            <a:ext cx="5677200" cy="110528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48" name="Google Shape;348;p17"/>
          <p:cNvSpPr txBox="1"/>
          <p:nvPr/>
        </p:nvSpPr>
        <p:spPr>
          <a:xfrm>
            <a:off x="0" y="0"/>
            <a:ext cx="242566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개요 : 대회 일정</a:t>
            </a:r>
            <a:endParaRPr/>
          </a:p>
        </p:txBody>
      </p:sp>
      <p:cxnSp>
        <p:nvCxnSpPr>
          <p:cNvPr id="349" name="Google Shape;349;p17"/>
          <p:cNvCxnSpPr/>
          <p:nvPr/>
        </p:nvCxnSpPr>
        <p:spPr>
          <a:xfrm>
            <a:off x="0" y="369332"/>
            <a:ext cx="6165130" cy="0"/>
          </a:xfrm>
          <a:prstGeom prst="straightConnector1">
            <a:avLst/>
          </a:prstGeom>
          <a:noFill/>
          <a:ln w="19050" cap="flat" cmpd="sng">
            <a:solidFill>
              <a:srgbClr val="5DFFA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50" name="Google Shape;350;p17"/>
          <p:cNvSpPr txBox="1"/>
          <p:nvPr/>
        </p:nvSpPr>
        <p:spPr>
          <a:xfrm>
            <a:off x="79656" y="6540308"/>
            <a:ext cx="4269117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대회 규칙 및 일정은 대회 사정에 의해 변경 될 수 있습니다</a:t>
            </a:r>
            <a:endParaRPr/>
          </a:p>
        </p:txBody>
      </p:sp>
      <p:cxnSp>
        <p:nvCxnSpPr>
          <p:cNvPr id="351" name="Google Shape;351;p17"/>
          <p:cNvCxnSpPr/>
          <p:nvPr/>
        </p:nvCxnSpPr>
        <p:spPr>
          <a:xfrm>
            <a:off x="408878" y="4847838"/>
            <a:ext cx="2551587" cy="0"/>
          </a:xfrm>
          <a:prstGeom prst="straightConnector1">
            <a:avLst/>
          </a:prstGeom>
          <a:noFill/>
          <a:ln w="19050" cap="flat" cmpd="sng">
            <a:solidFill>
              <a:srgbClr val="00B05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52" name="Google Shape;352;p17"/>
          <p:cNvSpPr txBox="1"/>
          <p:nvPr/>
        </p:nvSpPr>
        <p:spPr>
          <a:xfrm>
            <a:off x="546378" y="4976632"/>
            <a:ext cx="227658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rgbClr val="5DFFA6"/>
                </a:solidFill>
                <a:latin typeface="Malgun Gothic"/>
                <a:ea typeface="Malgun Gothic"/>
                <a:cs typeface="Malgun Gothic"/>
                <a:sym typeface="Malgun Gothic"/>
              </a:rPr>
              <a:t>참여팀 자체 컷 오프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18"/>
          <p:cNvSpPr txBox="1"/>
          <p:nvPr/>
        </p:nvSpPr>
        <p:spPr>
          <a:xfrm>
            <a:off x="0" y="0"/>
            <a:ext cx="387477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대회 환경 소개 : 개발 환경</a:t>
            </a:r>
            <a:endParaRPr/>
          </a:p>
        </p:txBody>
      </p:sp>
      <p:sp>
        <p:nvSpPr>
          <p:cNvPr id="358" name="Google Shape;358;p18"/>
          <p:cNvSpPr/>
          <p:nvPr/>
        </p:nvSpPr>
        <p:spPr>
          <a:xfrm>
            <a:off x="471336" y="2894028"/>
            <a:ext cx="1960775" cy="735291"/>
          </a:xfrm>
          <a:prstGeom prst="rect">
            <a:avLst/>
          </a:prstGeom>
          <a:solidFill>
            <a:srgbClr val="00B0F0"/>
          </a:solidFill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학습환경</a:t>
            </a:r>
            <a:endParaRPr/>
          </a:p>
        </p:txBody>
      </p:sp>
      <p:sp>
        <p:nvSpPr>
          <p:cNvPr id="359" name="Google Shape;359;p18"/>
          <p:cNvSpPr/>
          <p:nvPr/>
        </p:nvSpPr>
        <p:spPr>
          <a:xfrm>
            <a:off x="471336" y="937298"/>
            <a:ext cx="1960775" cy="735291"/>
          </a:xfrm>
          <a:prstGeom prst="rect">
            <a:avLst/>
          </a:prstGeom>
          <a:solidFill>
            <a:srgbClr val="7030A0"/>
          </a:solidFill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Behavior Tree</a:t>
            </a:r>
            <a:b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개발환경</a:t>
            </a:r>
            <a:endParaRPr/>
          </a:p>
        </p:txBody>
      </p:sp>
      <p:sp>
        <p:nvSpPr>
          <p:cNvPr id="360" name="Google Shape;360;p18"/>
          <p:cNvSpPr/>
          <p:nvPr/>
        </p:nvSpPr>
        <p:spPr>
          <a:xfrm>
            <a:off x="471336" y="5500541"/>
            <a:ext cx="1960775" cy="735291"/>
          </a:xfrm>
          <a:prstGeom prst="rect">
            <a:avLst/>
          </a:prstGeom>
          <a:solidFill>
            <a:srgbClr val="43D658"/>
          </a:solidFill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교전 뷰어</a:t>
            </a:r>
            <a:endParaRPr/>
          </a:p>
        </p:txBody>
      </p:sp>
      <p:sp>
        <p:nvSpPr>
          <p:cNvPr id="361" name="Google Shape;361;p18"/>
          <p:cNvSpPr txBox="1"/>
          <p:nvPr/>
        </p:nvSpPr>
        <p:spPr>
          <a:xfrm>
            <a:off x="2668760" y="939182"/>
            <a:ext cx="8937383" cy="1815882"/>
          </a:xfrm>
          <a:prstGeom prst="rect">
            <a:avLst/>
          </a:prstGeom>
          <a:solidFill>
            <a:srgbClr val="DAB2F8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역할</a:t>
            </a:r>
            <a:endParaRPr sz="1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	-Behavior Tree(BT) 를 통한 지식/규칙 기반 AI를 개발하는 환경</a:t>
            </a:r>
            <a:endParaRPr sz="1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결과물</a:t>
            </a:r>
            <a:endParaRPr sz="1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	-DLL, XML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개발언어 및 라이브러리</a:t>
            </a:r>
            <a:endParaRPr sz="1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	-C++, CPP Behavior Tree(https://www.behaviortree.dev)</a:t>
            </a:r>
            <a:endParaRPr/>
          </a:p>
        </p:txBody>
      </p:sp>
      <p:sp>
        <p:nvSpPr>
          <p:cNvPr id="362" name="Google Shape;362;p18"/>
          <p:cNvSpPr txBox="1"/>
          <p:nvPr/>
        </p:nvSpPr>
        <p:spPr>
          <a:xfrm>
            <a:off x="2653052" y="2894028"/>
            <a:ext cx="8953092" cy="2031325"/>
          </a:xfrm>
          <a:prstGeom prst="rect">
            <a:avLst/>
          </a:prstGeom>
          <a:solidFill>
            <a:srgbClr val="93DCF8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역할</a:t>
            </a:r>
            <a:endParaRPr sz="1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	-강화학습기반 AI 학습 환경</a:t>
            </a:r>
            <a:endParaRPr sz="1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	-AI 교전 테스트 환경</a:t>
            </a:r>
            <a:endParaRPr sz="1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결과물</a:t>
            </a:r>
            <a:endParaRPr sz="1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	-학습 CheckPoint</a:t>
            </a:r>
            <a:endParaRPr sz="1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개발언어 및 라이브러리</a:t>
            </a:r>
            <a:endParaRPr sz="1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	-Python</a:t>
            </a:r>
            <a:endParaRPr/>
          </a:p>
        </p:txBody>
      </p:sp>
      <p:sp>
        <p:nvSpPr>
          <p:cNvPr id="363" name="Google Shape;363;p18"/>
          <p:cNvSpPr txBox="1"/>
          <p:nvPr/>
        </p:nvSpPr>
        <p:spPr>
          <a:xfrm>
            <a:off x="2653052" y="5500541"/>
            <a:ext cx="8953091" cy="523220"/>
          </a:xfrm>
          <a:prstGeom prst="rect">
            <a:avLst/>
          </a:prstGeom>
          <a:solidFill>
            <a:srgbClr val="B1F098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역할</a:t>
            </a:r>
            <a:endParaRPr sz="1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	-학습환경에서 AI 교전 테스트를 가시화를 해주는 툴</a:t>
            </a:r>
            <a:endParaRPr sz="1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364" name="Google Shape;364;p18"/>
          <p:cNvCxnSpPr/>
          <p:nvPr/>
        </p:nvCxnSpPr>
        <p:spPr>
          <a:xfrm>
            <a:off x="0" y="369332"/>
            <a:ext cx="6165130" cy="0"/>
          </a:xfrm>
          <a:prstGeom prst="straightConnector1">
            <a:avLst/>
          </a:prstGeom>
          <a:noFill/>
          <a:ln w="19050" cap="flat" cmpd="sng">
            <a:solidFill>
              <a:srgbClr val="5DFFA6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19"/>
          <p:cNvSpPr txBox="1"/>
          <p:nvPr/>
        </p:nvSpPr>
        <p:spPr>
          <a:xfrm>
            <a:off x="0" y="0"/>
            <a:ext cx="459933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대회 환경 소개 : 대회 경기 환경</a:t>
            </a:r>
            <a:endParaRPr/>
          </a:p>
        </p:txBody>
      </p:sp>
      <p:sp>
        <p:nvSpPr>
          <p:cNvPr id="370" name="Google Shape;370;p19"/>
          <p:cNvSpPr/>
          <p:nvPr/>
        </p:nvSpPr>
        <p:spPr>
          <a:xfrm>
            <a:off x="471338" y="1366638"/>
            <a:ext cx="1960775" cy="735291"/>
          </a:xfrm>
          <a:prstGeom prst="rect">
            <a:avLst/>
          </a:prstGeom>
          <a:solidFill>
            <a:srgbClr val="7030A0"/>
          </a:solidFill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교전 서버</a:t>
            </a:r>
            <a:endParaRPr/>
          </a:p>
        </p:txBody>
      </p:sp>
      <p:sp>
        <p:nvSpPr>
          <p:cNvPr id="371" name="Google Shape;371;p19"/>
          <p:cNvSpPr txBox="1"/>
          <p:nvPr/>
        </p:nvSpPr>
        <p:spPr>
          <a:xfrm>
            <a:off x="2653053" y="1366638"/>
            <a:ext cx="9067609" cy="1477328"/>
          </a:xfrm>
          <a:prstGeom prst="rect">
            <a:avLst/>
          </a:prstGeom>
          <a:solidFill>
            <a:srgbClr val="B8B4FE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역할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	-대회용 시뮬레이터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	-팀원, 팀간의 온라인 교전용 시뮬레이터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	-전투기의 물리 연산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	-공격 대미지 연산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72" name="Google Shape;372;p19"/>
          <p:cNvSpPr/>
          <p:nvPr/>
        </p:nvSpPr>
        <p:spPr>
          <a:xfrm>
            <a:off x="471338" y="4020781"/>
            <a:ext cx="1960775" cy="735291"/>
          </a:xfrm>
          <a:prstGeom prst="rect">
            <a:avLst/>
          </a:prstGeom>
          <a:solidFill>
            <a:srgbClr val="4892DC"/>
          </a:solidFill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교전 서버 접속기</a:t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73" name="Google Shape;373;p19"/>
          <p:cNvSpPr txBox="1"/>
          <p:nvPr/>
        </p:nvSpPr>
        <p:spPr>
          <a:xfrm>
            <a:off x="2653052" y="4014035"/>
            <a:ext cx="9067609" cy="923330"/>
          </a:xfrm>
          <a:prstGeom prst="rect">
            <a:avLst/>
          </a:prstGeom>
          <a:solidFill>
            <a:srgbClr val="C7EDFC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역할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	-참여 팀이 개발한 AI 모델을 탑재하여 교전 서버에 접속하는 역할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	-교전 서버에서 동작하는 전투기 물리 모델을 원격 조종하는 역할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374" name="Google Shape;374;p19"/>
          <p:cNvCxnSpPr/>
          <p:nvPr/>
        </p:nvCxnSpPr>
        <p:spPr>
          <a:xfrm>
            <a:off x="0" y="369332"/>
            <a:ext cx="6165130" cy="0"/>
          </a:xfrm>
          <a:prstGeom prst="straightConnector1">
            <a:avLst/>
          </a:prstGeom>
          <a:noFill/>
          <a:ln w="19050" cap="flat" cmpd="sng">
            <a:solidFill>
              <a:srgbClr val="5DFFA6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20"/>
          <p:cNvSpPr txBox="1"/>
          <p:nvPr/>
        </p:nvSpPr>
        <p:spPr>
          <a:xfrm>
            <a:off x="0" y="0"/>
            <a:ext cx="459933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대회 환경 소개 : 개발 환경 개요</a:t>
            </a:r>
            <a:endParaRPr/>
          </a:p>
        </p:txBody>
      </p:sp>
      <p:cxnSp>
        <p:nvCxnSpPr>
          <p:cNvPr id="380" name="Google Shape;380;p20"/>
          <p:cNvCxnSpPr/>
          <p:nvPr/>
        </p:nvCxnSpPr>
        <p:spPr>
          <a:xfrm>
            <a:off x="0" y="369332"/>
            <a:ext cx="6165130" cy="0"/>
          </a:xfrm>
          <a:prstGeom prst="straightConnector1">
            <a:avLst/>
          </a:prstGeom>
          <a:noFill/>
          <a:ln w="19050" cap="flat" cmpd="sng">
            <a:solidFill>
              <a:srgbClr val="5DFFA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81" name="Google Shape;381;p20"/>
          <p:cNvSpPr/>
          <p:nvPr/>
        </p:nvSpPr>
        <p:spPr>
          <a:xfrm>
            <a:off x="9450409" y="2227608"/>
            <a:ext cx="883638" cy="2527559"/>
          </a:xfrm>
          <a:prstGeom prst="rect">
            <a:avLst/>
          </a:prstGeom>
          <a:solidFill>
            <a:srgbClr val="82CAEB"/>
          </a:solidFill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5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교전서버</a:t>
            </a:r>
            <a:endParaRPr sz="105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5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클라이언트</a:t>
            </a:r>
            <a:endParaRPr sz="105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82" name="Google Shape;382;p20"/>
          <p:cNvSpPr/>
          <p:nvPr/>
        </p:nvSpPr>
        <p:spPr>
          <a:xfrm>
            <a:off x="11102368" y="2227608"/>
            <a:ext cx="883638" cy="2527559"/>
          </a:xfrm>
          <a:prstGeom prst="rect">
            <a:avLst/>
          </a:prstGeom>
          <a:solidFill>
            <a:srgbClr val="7030A0"/>
          </a:solidFill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5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교전서버</a:t>
            </a:r>
            <a:endParaRPr sz="105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383" name="Google Shape;383;p20"/>
          <p:cNvCxnSpPr>
            <a:stCxn id="381" idx="3"/>
            <a:endCxn id="382" idx="1"/>
          </p:cNvCxnSpPr>
          <p:nvPr/>
        </p:nvCxnSpPr>
        <p:spPr>
          <a:xfrm>
            <a:off x="10334047" y="3491388"/>
            <a:ext cx="768300" cy="0"/>
          </a:xfrm>
          <a:prstGeom prst="straightConnector1">
            <a:avLst/>
          </a:prstGeom>
          <a:noFill/>
          <a:ln w="19050" cap="flat" cmpd="sng">
            <a:solidFill>
              <a:srgbClr val="5DFFA6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384" name="Google Shape;384;p20"/>
          <p:cNvSpPr/>
          <p:nvPr/>
        </p:nvSpPr>
        <p:spPr>
          <a:xfrm>
            <a:off x="1299977" y="3844884"/>
            <a:ext cx="1620475" cy="607678"/>
          </a:xfrm>
          <a:prstGeom prst="rect">
            <a:avLst/>
          </a:prstGeom>
          <a:solidFill>
            <a:srgbClr val="00B0F0"/>
          </a:solidFill>
          <a:ln w="19050" cap="flat" cmpd="sng">
            <a:solidFill>
              <a:srgbClr val="5DFF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학습환경</a:t>
            </a:r>
            <a:endParaRPr/>
          </a:p>
        </p:txBody>
      </p:sp>
      <p:sp>
        <p:nvSpPr>
          <p:cNvPr id="385" name="Google Shape;385;p20"/>
          <p:cNvSpPr/>
          <p:nvPr/>
        </p:nvSpPr>
        <p:spPr>
          <a:xfrm>
            <a:off x="1299978" y="947444"/>
            <a:ext cx="1620475" cy="607678"/>
          </a:xfrm>
          <a:prstGeom prst="rect">
            <a:avLst/>
          </a:prstGeom>
          <a:solidFill>
            <a:srgbClr val="FFFF00"/>
          </a:solidFill>
          <a:ln w="19050" cap="flat" cmpd="sng">
            <a:solidFill>
              <a:srgbClr val="5DFF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Behavior Tree</a:t>
            </a:r>
            <a:br>
              <a:rPr lang="ko-KR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-KR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개발환경</a:t>
            </a:r>
            <a:endParaRPr/>
          </a:p>
        </p:txBody>
      </p:sp>
      <p:sp>
        <p:nvSpPr>
          <p:cNvPr id="386" name="Google Shape;386;p20"/>
          <p:cNvSpPr/>
          <p:nvPr/>
        </p:nvSpPr>
        <p:spPr>
          <a:xfrm>
            <a:off x="5916301" y="3844884"/>
            <a:ext cx="1620475" cy="607678"/>
          </a:xfrm>
          <a:prstGeom prst="rect">
            <a:avLst/>
          </a:prstGeom>
          <a:solidFill>
            <a:srgbClr val="43D658"/>
          </a:solidFill>
          <a:ln w="19050" cap="flat" cmpd="sng">
            <a:solidFill>
              <a:srgbClr val="5DFF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교전 로그</a:t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뷰어</a:t>
            </a:r>
            <a:endParaRPr/>
          </a:p>
        </p:txBody>
      </p:sp>
      <p:cxnSp>
        <p:nvCxnSpPr>
          <p:cNvPr id="387" name="Google Shape;387;p20"/>
          <p:cNvCxnSpPr>
            <a:stCxn id="385" idx="2"/>
            <a:endCxn id="384" idx="0"/>
          </p:cNvCxnSpPr>
          <p:nvPr/>
        </p:nvCxnSpPr>
        <p:spPr>
          <a:xfrm>
            <a:off x="2110216" y="1555122"/>
            <a:ext cx="0" cy="228990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388" name="Google Shape;388;p20"/>
          <p:cNvSpPr txBox="1"/>
          <p:nvPr/>
        </p:nvSpPr>
        <p:spPr>
          <a:xfrm>
            <a:off x="2360185" y="2255726"/>
            <a:ext cx="2427268" cy="715581"/>
          </a:xfrm>
          <a:prstGeom prst="rect">
            <a:avLst/>
          </a:prstGeom>
          <a:solidFill>
            <a:srgbClr val="FCFEB8"/>
          </a:solidFill>
          <a:ln w="28575" cap="flat" cmpd="sng">
            <a:solidFill>
              <a:srgbClr val="FF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5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Behavior Tree AI 모델</a:t>
            </a:r>
            <a:endParaRPr sz="105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5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DLL &amp; XML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5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i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강화 학습 방법에 따라 필요 없을 수도 있음</a:t>
            </a:r>
            <a:endParaRPr sz="900" i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389" name="Google Shape;389;p20"/>
          <p:cNvCxnSpPr>
            <a:stCxn id="384" idx="1"/>
            <a:endCxn id="384" idx="2"/>
          </p:cNvCxnSpPr>
          <p:nvPr/>
        </p:nvCxnSpPr>
        <p:spPr>
          <a:xfrm>
            <a:off x="1299977" y="4148723"/>
            <a:ext cx="810300" cy="303900"/>
          </a:xfrm>
          <a:prstGeom prst="curvedConnector4">
            <a:avLst>
              <a:gd name="adj1" fmla="val -90121"/>
              <a:gd name="adj2" fmla="val 371615"/>
            </a:avLst>
          </a:prstGeom>
          <a:noFill/>
          <a:ln w="28575" cap="flat" cmpd="sng">
            <a:solidFill>
              <a:srgbClr val="00B0F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390" name="Google Shape;390;p20"/>
          <p:cNvSpPr txBox="1"/>
          <p:nvPr/>
        </p:nvSpPr>
        <p:spPr>
          <a:xfrm>
            <a:off x="644187" y="5356915"/>
            <a:ext cx="1311578" cy="430887"/>
          </a:xfrm>
          <a:prstGeom prst="rect">
            <a:avLst/>
          </a:prstGeom>
          <a:solidFill>
            <a:srgbClr val="C7EDFC"/>
          </a:solidFill>
          <a:ln w="28575" cap="flat" cmpd="sng">
            <a:solidFill>
              <a:srgbClr val="00B0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5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강화 학습 AI 모델</a:t>
            </a:r>
            <a:endParaRPr sz="105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5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CheckPoint</a:t>
            </a:r>
            <a:endParaRPr sz="105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391" name="Google Shape;391;p20"/>
          <p:cNvCxnSpPr>
            <a:stCxn id="384" idx="3"/>
            <a:endCxn id="386" idx="1"/>
          </p:cNvCxnSpPr>
          <p:nvPr/>
        </p:nvCxnSpPr>
        <p:spPr>
          <a:xfrm>
            <a:off x="2920452" y="4148723"/>
            <a:ext cx="2995800" cy="0"/>
          </a:xfrm>
          <a:prstGeom prst="straightConnector1">
            <a:avLst/>
          </a:prstGeom>
          <a:noFill/>
          <a:ln w="28575" cap="flat" cmpd="sng">
            <a:solidFill>
              <a:srgbClr val="43D658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392" name="Google Shape;392;p20"/>
          <p:cNvSpPr txBox="1"/>
          <p:nvPr/>
        </p:nvSpPr>
        <p:spPr>
          <a:xfrm>
            <a:off x="3386700" y="4280951"/>
            <a:ext cx="2117887" cy="253916"/>
          </a:xfrm>
          <a:prstGeom prst="rect">
            <a:avLst/>
          </a:prstGeom>
          <a:solidFill>
            <a:srgbClr val="D8F2CF"/>
          </a:solidFill>
          <a:ln w="28575" cap="flat" cmpd="sng">
            <a:solidFill>
              <a:srgbClr val="43D65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5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AI 전투기들의 교전 상황 가시화</a:t>
            </a:r>
            <a:endParaRPr/>
          </a:p>
        </p:txBody>
      </p:sp>
      <p:sp>
        <p:nvSpPr>
          <p:cNvPr id="393" name="Google Shape;393;p20"/>
          <p:cNvSpPr txBox="1"/>
          <p:nvPr/>
        </p:nvSpPr>
        <p:spPr>
          <a:xfrm>
            <a:off x="992959" y="4688446"/>
            <a:ext cx="534158" cy="305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학습</a:t>
            </a:r>
            <a:endParaRPr/>
          </a:p>
        </p:txBody>
      </p:sp>
      <p:sp>
        <p:nvSpPr>
          <p:cNvPr id="394" name="Google Shape;394;p20"/>
          <p:cNvSpPr txBox="1"/>
          <p:nvPr/>
        </p:nvSpPr>
        <p:spPr>
          <a:xfrm>
            <a:off x="3833855" y="3777375"/>
            <a:ext cx="1174035" cy="305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교전 테스트</a:t>
            </a:r>
            <a:endParaRPr/>
          </a:p>
        </p:txBody>
      </p:sp>
      <p:sp>
        <p:nvSpPr>
          <p:cNvPr id="395" name="Google Shape;395;p20"/>
          <p:cNvSpPr txBox="1"/>
          <p:nvPr/>
        </p:nvSpPr>
        <p:spPr>
          <a:xfrm>
            <a:off x="2953024" y="1015723"/>
            <a:ext cx="4583752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-지식/규칙 기반 모델, BehaviorTree기반의 모델 사용하여 개발</a:t>
            </a:r>
            <a:endParaRPr sz="12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-지식/규칙 기반 모델을 통해 </a:t>
            </a:r>
            <a:r>
              <a:rPr lang="ko-KR" sz="1200" b="1">
                <a:solidFill>
                  <a:srgbClr val="00B0F0"/>
                </a:solidFill>
                <a:latin typeface="Malgun Gothic"/>
                <a:ea typeface="Malgun Gothic"/>
                <a:cs typeface="Malgun Gothic"/>
                <a:sym typeface="Malgun Gothic"/>
              </a:rPr>
              <a:t>강화 학습 학습 상대</a:t>
            </a:r>
            <a:r>
              <a:rPr lang="ko-KR"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로 활용 가능</a:t>
            </a:r>
            <a:endParaRPr/>
          </a:p>
        </p:txBody>
      </p:sp>
      <p:sp>
        <p:nvSpPr>
          <p:cNvPr id="396" name="Google Shape;396;p20"/>
          <p:cNvSpPr txBox="1"/>
          <p:nvPr/>
        </p:nvSpPr>
        <p:spPr>
          <a:xfrm>
            <a:off x="718076" y="5787802"/>
            <a:ext cx="1974038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-강화학습을 통해 AI 생성</a:t>
            </a:r>
            <a:endParaRPr/>
          </a:p>
        </p:txBody>
      </p:sp>
      <p:sp>
        <p:nvSpPr>
          <p:cNvPr id="397" name="Google Shape;397;p20"/>
          <p:cNvSpPr txBox="1"/>
          <p:nvPr/>
        </p:nvSpPr>
        <p:spPr>
          <a:xfrm>
            <a:off x="3155381" y="4815282"/>
            <a:ext cx="486742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-교전 테스트를 통해 현재 개발/학습 중인 AI 모델의 성능 테스트</a:t>
            </a:r>
            <a:endParaRPr/>
          </a:p>
        </p:txBody>
      </p:sp>
      <p:sp>
        <p:nvSpPr>
          <p:cNvPr id="398" name="Google Shape;398;p20"/>
          <p:cNvSpPr/>
          <p:nvPr/>
        </p:nvSpPr>
        <p:spPr>
          <a:xfrm>
            <a:off x="107950" y="738665"/>
            <a:ext cx="7852864" cy="5505447"/>
          </a:xfrm>
          <a:prstGeom prst="rect">
            <a:avLst/>
          </a:prstGeom>
          <a:noFill/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399" name="Google Shape;399;p20"/>
          <p:cNvCxnSpPr>
            <a:stCxn id="398" idx="3"/>
            <a:endCxn id="381" idx="1"/>
          </p:cNvCxnSpPr>
          <p:nvPr/>
        </p:nvCxnSpPr>
        <p:spPr>
          <a:xfrm>
            <a:off x="7960814" y="3491389"/>
            <a:ext cx="14895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400" name="Google Shape;400;p20"/>
          <p:cNvSpPr txBox="1"/>
          <p:nvPr/>
        </p:nvSpPr>
        <p:spPr>
          <a:xfrm>
            <a:off x="7960814" y="3545643"/>
            <a:ext cx="1396536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5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개발된 최종 AI 모델</a:t>
            </a:r>
            <a:endParaRPr/>
          </a:p>
        </p:txBody>
      </p:sp>
      <p:sp>
        <p:nvSpPr>
          <p:cNvPr id="401" name="Google Shape;401;p20"/>
          <p:cNvSpPr txBox="1"/>
          <p:nvPr/>
        </p:nvSpPr>
        <p:spPr>
          <a:xfrm>
            <a:off x="3631780" y="6427612"/>
            <a:ext cx="6189515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웬만하면 지식/규칙 AI모델과 강화학습 AI 모델을 2트랙으로 동시 개발하는 것을 추천 드립니다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21"/>
          <p:cNvSpPr txBox="1"/>
          <p:nvPr/>
        </p:nvSpPr>
        <p:spPr>
          <a:xfrm>
            <a:off x="0" y="0"/>
            <a:ext cx="459933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대회 환경 소개 : 대회 경기 환경</a:t>
            </a:r>
            <a:endParaRPr/>
          </a:p>
        </p:txBody>
      </p:sp>
      <p:sp>
        <p:nvSpPr>
          <p:cNvPr id="407" name="Google Shape;407;p21"/>
          <p:cNvSpPr/>
          <p:nvPr/>
        </p:nvSpPr>
        <p:spPr>
          <a:xfrm>
            <a:off x="3784297" y="834854"/>
            <a:ext cx="4623406" cy="2538422"/>
          </a:xfrm>
          <a:prstGeom prst="rect">
            <a:avLst/>
          </a:prstGeom>
          <a:noFill/>
          <a:ln w="19050" cap="flat" cmpd="sng">
            <a:solidFill>
              <a:srgbClr val="7030A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교전 서버</a:t>
            </a:r>
            <a:endParaRPr/>
          </a:p>
        </p:txBody>
      </p:sp>
      <p:sp>
        <p:nvSpPr>
          <p:cNvPr id="408" name="Google Shape;408;p21"/>
          <p:cNvSpPr/>
          <p:nvPr/>
        </p:nvSpPr>
        <p:spPr>
          <a:xfrm>
            <a:off x="1551650" y="4853693"/>
            <a:ext cx="2156853" cy="1603667"/>
          </a:xfrm>
          <a:prstGeom prst="rect">
            <a:avLst/>
          </a:prstGeom>
          <a:noFill/>
          <a:ln w="19050" cap="flat" cmpd="sng">
            <a:solidFill>
              <a:srgbClr val="00B0F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교전 서버 접속기</a:t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09" name="Google Shape;409;p21"/>
          <p:cNvSpPr/>
          <p:nvPr/>
        </p:nvSpPr>
        <p:spPr>
          <a:xfrm>
            <a:off x="8200695" y="4853693"/>
            <a:ext cx="2156853" cy="1603667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교전 서버 접속기</a:t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410" name="Google Shape;410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4376372" y="2060288"/>
            <a:ext cx="1176349" cy="1176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411" name="Google Shape;411;p2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5400000">
            <a:off x="6639282" y="2060288"/>
            <a:ext cx="1176349" cy="117634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12" name="Google Shape;412;p21"/>
          <p:cNvCxnSpPr>
            <a:stCxn id="407" idx="2"/>
            <a:endCxn id="408" idx="3"/>
          </p:cNvCxnSpPr>
          <p:nvPr/>
        </p:nvCxnSpPr>
        <p:spPr>
          <a:xfrm rot="5400000">
            <a:off x="3761100" y="3320776"/>
            <a:ext cx="2282400" cy="2387400"/>
          </a:xfrm>
          <a:prstGeom prst="bentConnector2">
            <a:avLst/>
          </a:prstGeom>
          <a:noFill/>
          <a:ln w="38100" cap="flat" cmpd="sng">
            <a:solidFill>
              <a:srgbClr val="7030A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413" name="Google Shape;413;p21"/>
          <p:cNvCxnSpPr>
            <a:stCxn id="407" idx="2"/>
            <a:endCxn id="409" idx="1"/>
          </p:cNvCxnSpPr>
          <p:nvPr/>
        </p:nvCxnSpPr>
        <p:spPr>
          <a:xfrm rot="-5400000" flipH="1">
            <a:off x="6007200" y="3462076"/>
            <a:ext cx="2282400" cy="2104800"/>
          </a:xfrm>
          <a:prstGeom prst="bentConnector2">
            <a:avLst/>
          </a:prstGeom>
          <a:noFill/>
          <a:ln w="38100" cap="flat" cmpd="sng">
            <a:solidFill>
              <a:srgbClr val="7030A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414" name="Google Shape;414;p21"/>
          <p:cNvSpPr txBox="1"/>
          <p:nvPr/>
        </p:nvSpPr>
        <p:spPr>
          <a:xfrm>
            <a:off x="4671571" y="5674143"/>
            <a:ext cx="284885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rgbClr val="7030A0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전투기들의 위치, 자세, 속도 정보</a:t>
            </a:r>
            <a:endParaRPr/>
          </a:p>
        </p:txBody>
      </p:sp>
      <p:cxnSp>
        <p:nvCxnSpPr>
          <p:cNvPr id="415" name="Google Shape;415;p21"/>
          <p:cNvCxnSpPr>
            <a:stCxn id="408" idx="0"/>
            <a:endCxn id="410" idx="2"/>
          </p:cNvCxnSpPr>
          <p:nvPr/>
        </p:nvCxnSpPr>
        <p:spPr>
          <a:xfrm rot="-5400000">
            <a:off x="2400577" y="2877893"/>
            <a:ext cx="2205300" cy="1746300"/>
          </a:xfrm>
          <a:prstGeom prst="bentConnector2">
            <a:avLst/>
          </a:prstGeom>
          <a:noFill/>
          <a:ln w="28575" cap="flat" cmpd="sng">
            <a:solidFill>
              <a:srgbClr val="00B0F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416" name="Google Shape;416;p21"/>
          <p:cNvCxnSpPr>
            <a:stCxn id="409" idx="0"/>
            <a:endCxn id="411" idx="2"/>
          </p:cNvCxnSpPr>
          <p:nvPr/>
        </p:nvCxnSpPr>
        <p:spPr>
          <a:xfrm rot="5400000" flipH="1">
            <a:off x="7444772" y="3019343"/>
            <a:ext cx="2205300" cy="1463400"/>
          </a:xfrm>
          <a:prstGeom prst="bentConnector2">
            <a:avLst/>
          </a:prstGeom>
          <a:noFill/>
          <a:ln w="28575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417" name="Google Shape;417;p21"/>
          <p:cNvSpPr txBox="1"/>
          <p:nvPr/>
        </p:nvSpPr>
        <p:spPr>
          <a:xfrm>
            <a:off x="1213520" y="2875002"/>
            <a:ext cx="1407758" cy="1107996"/>
          </a:xfrm>
          <a:prstGeom prst="rect">
            <a:avLst/>
          </a:prstGeom>
          <a:noFill/>
          <a:ln w="9525" cap="flat" cmpd="sng">
            <a:solidFill>
              <a:srgbClr val="00B0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rgbClr val="00B0F0"/>
                </a:solidFill>
                <a:latin typeface="Malgun Gothic"/>
                <a:ea typeface="Malgun Gothic"/>
                <a:cs typeface="Malgun Gothic"/>
                <a:sym typeface="Malgun Gothic"/>
              </a:rPr>
              <a:t>Plane1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00B0F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rgbClr val="00B0F0"/>
                </a:solidFill>
                <a:latin typeface="Malgun Gothic"/>
                <a:ea typeface="Malgun Gothic"/>
                <a:cs typeface="Malgun Gothic"/>
                <a:sym typeface="Malgun Gothic"/>
              </a:rPr>
              <a:t>Roll Command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rgbClr val="00B0F0"/>
                </a:solidFill>
                <a:latin typeface="Malgun Gothic"/>
                <a:ea typeface="Malgun Gothic"/>
                <a:cs typeface="Malgun Gothic"/>
                <a:sym typeface="Malgun Gothic"/>
              </a:rPr>
              <a:t>Pitch Command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rgbClr val="00B0F0"/>
                </a:solidFill>
                <a:latin typeface="Malgun Gothic"/>
                <a:ea typeface="Malgun Gothic"/>
                <a:cs typeface="Malgun Gothic"/>
                <a:sym typeface="Malgun Gothic"/>
              </a:rPr>
              <a:t>Yaw Command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rgbClr val="00B0F0"/>
                </a:solidFill>
                <a:latin typeface="Malgun Gothic"/>
                <a:ea typeface="Malgun Gothic"/>
                <a:cs typeface="Malgun Gothic"/>
                <a:sym typeface="Malgun Gothic"/>
              </a:rPr>
              <a:t>Throttle Command</a:t>
            </a:r>
            <a:endParaRPr sz="1100">
              <a:solidFill>
                <a:srgbClr val="00B0F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18" name="Google Shape;418;p21"/>
          <p:cNvSpPr txBox="1"/>
          <p:nvPr/>
        </p:nvSpPr>
        <p:spPr>
          <a:xfrm>
            <a:off x="9279121" y="2849687"/>
            <a:ext cx="1407758" cy="1107996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Plane2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FF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Roll Command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Pitch Command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Yaw Command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Throttle Command</a:t>
            </a:r>
            <a:endParaRPr sz="1100">
              <a:solidFill>
                <a:srgbClr val="FF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19" name="Google Shape;419;p21"/>
          <p:cNvSpPr/>
          <p:nvPr/>
        </p:nvSpPr>
        <p:spPr>
          <a:xfrm>
            <a:off x="1603810" y="5567140"/>
            <a:ext cx="2034936" cy="805380"/>
          </a:xfrm>
          <a:prstGeom prst="ellipse">
            <a:avLst/>
          </a:prstGeom>
          <a:solidFill>
            <a:srgbClr val="00B0F0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Team A</a:t>
            </a:r>
            <a:b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AI Model</a:t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20" name="Google Shape;420;p21"/>
          <p:cNvSpPr/>
          <p:nvPr/>
        </p:nvSpPr>
        <p:spPr>
          <a:xfrm>
            <a:off x="8322612" y="5567140"/>
            <a:ext cx="2034936" cy="805380"/>
          </a:xfrm>
          <a:prstGeom prst="ellipse">
            <a:avLst/>
          </a:prstGeom>
          <a:solidFill>
            <a:srgbClr val="FF0000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Team B</a:t>
            </a:r>
            <a:b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AI Model</a:t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21" name="Google Shape;421;p21"/>
          <p:cNvSpPr txBox="1"/>
          <p:nvPr/>
        </p:nvSpPr>
        <p:spPr>
          <a:xfrm>
            <a:off x="6123824" y="4206623"/>
            <a:ext cx="284052" cy="307777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sz="1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22" name="Google Shape;422;p21"/>
          <p:cNvSpPr txBox="1"/>
          <p:nvPr/>
        </p:nvSpPr>
        <p:spPr>
          <a:xfrm>
            <a:off x="2664828" y="2275274"/>
            <a:ext cx="284052" cy="307777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sz="1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23" name="Google Shape;423;p21"/>
          <p:cNvSpPr txBox="1"/>
          <p:nvPr/>
        </p:nvSpPr>
        <p:spPr>
          <a:xfrm>
            <a:off x="9005740" y="2287409"/>
            <a:ext cx="284052" cy="307777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sz="1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24" name="Google Shape;424;p21"/>
          <p:cNvSpPr txBox="1"/>
          <p:nvPr/>
        </p:nvSpPr>
        <p:spPr>
          <a:xfrm>
            <a:off x="6056952" y="2104065"/>
            <a:ext cx="284052" cy="307777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sz="1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25" name="Google Shape;425;p21"/>
          <p:cNvSpPr txBox="1"/>
          <p:nvPr/>
        </p:nvSpPr>
        <p:spPr>
          <a:xfrm>
            <a:off x="4483419" y="1011685"/>
            <a:ext cx="3363421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시뮬레이션 서버</a:t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물리 연산 및 대미지 연산 처리</a:t>
            </a:r>
            <a:endParaRPr/>
          </a:p>
        </p:txBody>
      </p:sp>
      <p:cxnSp>
        <p:nvCxnSpPr>
          <p:cNvPr id="426" name="Google Shape;426;p21"/>
          <p:cNvCxnSpPr/>
          <p:nvPr/>
        </p:nvCxnSpPr>
        <p:spPr>
          <a:xfrm>
            <a:off x="0" y="369332"/>
            <a:ext cx="6165130" cy="0"/>
          </a:xfrm>
          <a:prstGeom prst="straightConnector1">
            <a:avLst/>
          </a:prstGeom>
          <a:noFill/>
          <a:ln w="19050" cap="flat" cmpd="sng">
            <a:solidFill>
              <a:srgbClr val="5DFFA6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427" name="Google Shape;427;p2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009" y="6531"/>
            <a:ext cx="12185522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8" name="Google Shape;428;p21"/>
          <p:cNvSpPr txBox="1"/>
          <p:nvPr/>
        </p:nvSpPr>
        <p:spPr>
          <a:xfrm>
            <a:off x="7361247" y="3158913"/>
            <a:ext cx="854721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교전 서버</a:t>
            </a:r>
            <a:endParaRPr sz="12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29" name="Google Shape;429;p21"/>
          <p:cNvSpPr txBox="1"/>
          <p:nvPr/>
        </p:nvSpPr>
        <p:spPr>
          <a:xfrm>
            <a:off x="5343657" y="5730728"/>
            <a:ext cx="2042547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>
                <a:solidFill>
                  <a:srgbClr val="9346EB"/>
                </a:solidFill>
                <a:latin typeface="Malgun Gothic"/>
                <a:ea typeface="Malgun Gothic"/>
                <a:cs typeface="Malgun Gothic"/>
                <a:sym typeface="Malgun Gothic"/>
              </a:rPr>
              <a:t>CMD 요청 메세지</a:t>
            </a:r>
            <a:endParaRPr sz="1200" b="1">
              <a:solidFill>
                <a:srgbClr val="9346EB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>
                <a:solidFill>
                  <a:srgbClr val="9346EB"/>
                </a:solidFill>
                <a:latin typeface="Malgun Gothic"/>
                <a:ea typeface="Malgun Gothic"/>
                <a:cs typeface="Malgun Gothic"/>
                <a:sym typeface="Malgun Gothic"/>
              </a:rPr>
              <a:t>0.01666초마다(60hz) 요청</a:t>
            </a:r>
            <a:endParaRPr/>
          </a:p>
        </p:txBody>
      </p:sp>
      <p:sp>
        <p:nvSpPr>
          <p:cNvPr id="430" name="Google Shape;430;p21"/>
          <p:cNvSpPr txBox="1"/>
          <p:nvPr/>
        </p:nvSpPr>
        <p:spPr>
          <a:xfrm>
            <a:off x="9512885" y="1608572"/>
            <a:ext cx="1787669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CMD 요청에 대한 응답</a:t>
            </a:r>
            <a:endParaRPr/>
          </a:p>
        </p:txBody>
      </p:sp>
      <p:sp>
        <p:nvSpPr>
          <p:cNvPr id="431" name="Google Shape;431;p21"/>
          <p:cNvSpPr txBox="1"/>
          <p:nvPr/>
        </p:nvSpPr>
        <p:spPr>
          <a:xfrm>
            <a:off x="1004819" y="1658016"/>
            <a:ext cx="1787669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>
                <a:solidFill>
                  <a:srgbClr val="00B0F0"/>
                </a:solidFill>
                <a:latin typeface="Malgun Gothic"/>
                <a:ea typeface="Malgun Gothic"/>
                <a:cs typeface="Malgun Gothic"/>
                <a:sym typeface="Malgun Gothic"/>
              </a:rPr>
              <a:t>CMD 요청에 대한 응답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22"/>
          <p:cNvSpPr txBox="1"/>
          <p:nvPr/>
        </p:nvSpPr>
        <p:spPr>
          <a:xfrm>
            <a:off x="0" y="0"/>
            <a:ext cx="459933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대회 환경 소개 : 대회 경기 환경</a:t>
            </a:r>
            <a:endParaRPr/>
          </a:p>
        </p:txBody>
      </p:sp>
      <p:sp>
        <p:nvSpPr>
          <p:cNvPr id="437" name="Google Shape;437;p22"/>
          <p:cNvSpPr/>
          <p:nvPr/>
        </p:nvSpPr>
        <p:spPr>
          <a:xfrm>
            <a:off x="225942" y="1325724"/>
            <a:ext cx="3942540" cy="3510858"/>
          </a:xfrm>
          <a:prstGeom prst="rect">
            <a:avLst/>
          </a:prstGeom>
          <a:noFill/>
          <a:ln w="19050" cap="flat" cmpd="sng">
            <a:solidFill>
              <a:srgbClr val="7030A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교전 서버</a:t>
            </a:r>
            <a:endParaRPr/>
          </a:p>
        </p:txBody>
      </p:sp>
      <p:sp>
        <p:nvSpPr>
          <p:cNvPr id="438" name="Google Shape;438;p22"/>
          <p:cNvSpPr/>
          <p:nvPr/>
        </p:nvSpPr>
        <p:spPr>
          <a:xfrm>
            <a:off x="8433217" y="1402670"/>
            <a:ext cx="3425703" cy="3356966"/>
          </a:xfrm>
          <a:prstGeom prst="rect">
            <a:avLst/>
          </a:prstGeom>
          <a:noFill/>
          <a:ln w="19050" cap="flat" cmpd="sng">
            <a:solidFill>
              <a:srgbClr val="00B0F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교전 서버 접속기</a:t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439" name="Google Shape;439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2574983" y="3253956"/>
            <a:ext cx="1176349" cy="117634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40" name="Google Shape;440;p22"/>
          <p:cNvCxnSpPr>
            <a:stCxn id="437" idx="3"/>
          </p:cNvCxnSpPr>
          <p:nvPr/>
        </p:nvCxnSpPr>
        <p:spPr>
          <a:xfrm rot="10800000" flipH="1">
            <a:off x="4168482" y="2806953"/>
            <a:ext cx="4723200" cy="274200"/>
          </a:xfrm>
          <a:prstGeom prst="bentConnector3">
            <a:avLst>
              <a:gd name="adj1" fmla="val 50001"/>
            </a:avLst>
          </a:prstGeom>
          <a:noFill/>
          <a:ln w="38100" cap="flat" cmpd="sng">
            <a:solidFill>
              <a:srgbClr val="7030A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441" name="Google Shape;441;p22"/>
          <p:cNvSpPr txBox="1"/>
          <p:nvPr/>
        </p:nvSpPr>
        <p:spPr>
          <a:xfrm>
            <a:off x="4222396" y="2117211"/>
            <a:ext cx="4156907" cy="577081"/>
          </a:xfrm>
          <a:prstGeom prst="rect">
            <a:avLst/>
          </a:prstGeom>
          <a:noFill/>
          <a:ln w="9525" cap="flat" cmpd="sng">
            <a:solidFill>
              <a:srgbClr val="7030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50">
                <a:solidFill>
                  <a:srgbClr val="FCE3FD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전투기들의 위치, 자세, 속도 정보</a:t>
            </a:r>
            <a:endParaRPr sz="1050">
              <a:solidFill>
                <a:srgbClr val="FCE3FD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50">
                <a:solidFill>
                  <a:srgbClr val="FCE3FD"/>
                </a:solidFill>
                <a:latin typeface="Malgun Gothic"/>
                <a:ea typeface="Malgun Gothic"/>
                <a:cs typeface="Malgun Gothic"/>
                <a:sym typeface="Malgun Gothic"/>
              </a:rPr>
              <a:t>Plane1 : Location(X,Y,Z), Rotation(Roll, Pitch, Yaw), Velocity(u,v,w)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50">
                <a:solidFill>
                  <a:srgbClr val="FCE3FD"/>
                </a:solidFill>
                <a:latin typeface="Malgun Gothic"/>
                <a:ea typeface="Malgun Gothic"/>
                <a:cs typeface="Malgun Gothic"/>
                <a:sym typeface="Malgun Gothic"/>
              </a:rPr>
              <a:t>Plane2 : Location(X,Y,Z), Rotation(Roll, Pitch, Yaw), Velocity(u,v,w)</a:t>
            </a:r>
            <a:endParaRPr sz="1050">
              <a:solidFill>
                <a:srgbClr val="FCE3FD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442" name="Google Shape;442;p22"/>
          <p:cNvCxnSpPr>
            <a:endCxn id="439" idx="2"/>
          </p:cNvCxnSpPr>
          <p:nvPr/>
        </p:nvCxnSpPr>
        <p:spPr>
          <a:xfrm flipH="1">
            <a:off x="3751332" y="3567931"/>
            <a:ext cx="5140500" cy="274200"/>
          </a:xfrm>
          <a:prstGeom prst="bentConnector3">
            <a:avLst>
              <a:gd name="adj1" fmla="val 50001"/>
            </a:avLst>
          </a:prstGeom>
          <a:noFill/>
          <a:ln w="28575" cap="flat" cmpd="sng">
            <a:solidFill>
              <a:srgbClr val="00B0F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443" name="Google Shape;443;p22"/>
          <p:cNvSpPr txBox="1"/>
          <p:nvPr/>
        </p:nvSpPr>
        <p:spPr>
          <a:xfrm>
            <a:off x="5634280" y="3853410"/>
            <a:ext cx="1407758" cy="1107996"/>
          </a:xfrm>
          <a:prstGeom prst="rect">
            <a:avLst/>
          </a:prstGeom>
          <a:noFill/>
          <a:ln w="9525" cap="flat" cmpd="sng">
            <a:solidFill>
              <a:srgbClr val="00B0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rgbClr val="00B0F0"/>
                </a:solidFill>
                <a:latin typeface="Malgun Gothic"/>
                <a:ea typeface="Malgun Gothic"/>
                <a:cs typeface="Malgun Gothic"/>
                <a:sym typeface="Malgun Gothic"/>
              </a:rPr>
              <a:t>CMD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00B0F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rgbClr val="00B0F0"/>
                </a:solidFill>
                <a:latin typeface="Malgun Gothic"/>
                <a:ea typeface="Malgun Gothic"/>
                <a:cs typeface="Malgun Gothic"/>
                <a:sym typeface="Malgun Gothic"/>
              </a:rPr>
              <a:t>Roll Command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rgbClr val="00B0F0"/>
                </a:solidFill>
                <a:latin typeface="Malgun Gothic"/>
                <a:ea typeface="Malgun Gothic"/>
                <a:cs typeface="Malgun Gothic"/>
                <a:sym typeface="Malgun Gothic"/>
              </a:rPr>
              <a:t>Pitch Command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rgbClr val="00B0F0"/>
                </a:solidFill>
                <a:latin typeface="Malgun Gothic"/>
                <a:ea typeface="Malgun Gothic"/>
                <a:cs typeface="Malgun Gothic"/>
                <a:sym typeface="Malgun Gothic"/>
              </a:rPr>
              <a:t>Yaw Command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rgbClr val="00B0F0"/>
                </a:solidFill>
                <a:latin typeface="Malgun Gothic"/>
                <a:ea typeface="Malgun Gothic"/>
                <a:cs typeface="Malgun Gothic"/>
                <a:sym typeface="Malgun Gothic"/>
              </a:rPr>
              <a:t>Throttle Command</a:t>
            </a:r>
            <a:endParaRPr sz="1100">
              <a:solidFill>
                <a:srgbClr val="00B0F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44" name="Google Shape;444;p22"/>
          <p:cNvSpPr/>
          <p:nvPr/>
        </p:nvSpPr>
        <p:spPr>
          <a:xfrm>
            <a:off x="8891757" y="2171413"/>
            <a:ext cx="2508622" cy="1973689"/>
          </a:xfrm>
          <a:prstGeom prst="rect">
            <a:avLst/>
          </a:prstGeom>
          <a:solidFill>
            <a:schemeClr val="dk1"/>
          </a:solidFill>
          <a:ln w="19050" cap="flat" cmpd="sng">
            <a:solidFill>
              <a:srgbClr val="5DFF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여러분이 만들</a:t>
            </a:r>
            <a:br>
              <a:rPr lang="ko-KR" sz="18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-KR" sz="18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AI 모델</a:t>
            </a:r>
            <a:endParaRPr sz="18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45" name="Google Shape;445;p22"/>
          <p:cNvSpPr txBox="1"/>
          <p:nvPr/>
        </p:nvSpPr>
        <p:spPr>
          <a:xfrm>
            <a:off x="1525577" y="4222742"/>
            <a:ext cx="221086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F16 동역학(JSBSIM)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446" name="Google Shape;446;p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6387700">
            <a:off x="954919" y="1719930"/>
            <a:ext cx="1176349" cy="1176349"/>
          </a:xfrm>
          <a:prstGeom prst="rect">
            <a:avLst/>
          </a:prstGeom>
          <a:noFill/>
          <a:ln>
            <a:noFill/>
          </a:ln>
        </p:spPr>
      </p:pic>
      <p:sp>
        <p:nvSpPr>
          <p:cNvPr id="447" name="Google Shape;447;p22"/>
          <p:cNvSpPr txBox="1"/>
          <p:nvPr/>
        </p:nvSpPr>
        <p:spPr>
          <a:xfrm>
            <a:off x="3082565" y="5027463"/>
            <a:ext cx="7023076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-교전 서버 접속기는 교전 서버로 부터 전투기들의 정보를 수신</a:t>
            </a:r>
            <a:endParaRPr sz="14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-참여팀은 수신한 정보를 개발한 AI에게 전달하여 교전 서버에게 CMD 메시지를 송신</a:t>
            </a:r>
            <a:endParaRPr sz="14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-교전 서버는 수신한 CMD 값을 전투기 동역학 모델에 전달하여 1frame 연산</a:t>
            </a:r>
            <a:endParaRPr sz="14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448" name="Google Shape;448;p22"/>
          <p:cNvCxnSpPr/>
          <p:nvPr/>
        </p:nvCxnSpPr>
        <p:spPr>
          <a:xfrm>
            <a:off x="0" y="369332"/>
            <a:ext cx="6165130" cy="0"/>
          </a:xfrm>
          <a:prstGeom prst="straightConnector1">
            <a:avLst/>
          </a:prstGeom>
          <a:noFill/>
          <a:ln w="19050" cap="flat" cmpd="sng">
            <a:solidFill>
              <a:srgbClr val="5DFFA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49" name="Google Shape;449;p22"/>
          <p:cNvSpPr txBox="1"/>
          <p:nvPr/>
        </p:nvSpPr>
        <p:spPr>
          <a:xfrm>
            <a:off x="5962048" y="3209047"/>
            <a:ext cx="93326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60hz 로 통신</a:t>
            </a:r>
            <a:endParaRPr/>
          </a:p>
        </p:txBody>
      </p:sp>
      <p:sp>
        <p:nvSpPr>
          <p:cNvPr id="450" name="Google Shape;450;p22"/>
          <p:cNvSpPr txBox="1"/>
          <p:nvPr/>
        </p:nvSpPr>
        <p:spPr>
          <a:xfrm>
            <a:off x="225942" y="5965448"/>
            <a:ext cx="9735357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기본적으로 교전 서버 접속기는 제공.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i="1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개발하는 팀의 AI에 맞게 참여 팀이 접속기를 직접 개발/변형하여 사용하는 것도 네트워크 프로토콜만 유지한다면 허용</a:t>
            </a:r>
            <a:endParaRPr sz="1400" i="1">
              <a:solidFill>
                <a:srgbClr val="FF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i="1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하지만 대회 당일 2번 이상 네트워크 불안정을 보이거나 네트워크 연결이 불가능한 경우 탈락 처리</a:t>
            </a:r>
            <a:endParaRPr sz="1400" i="1">
              <a:solidFill>
                <a:srgbClr val="FF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23"/>
          <p:cNvSpPr txBox="1"/>
          <p:nvPr/>
        </p:nvSpPr>
        <p:spPr>
          <a:xfrm>
            <a:off x="6038850" y="3575050"/>
            <a:ext cx="6038850" cy="2954655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특강 1일차</a:t>
            </a: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: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>
                <a:solidFill>
                  <a:srgbClr val="0070C0"/>
                </a:solidFill>
                <a:latin typeface="Malgun Gothic"/>
                <a:ea typeface="Malgun Gothic"/>
                <a:cs typeface="Malgun Gothic"/>
                <a:sym typeface="Malgun Gothic"/>
              </a:rPr>
              <a:t>	#Orientation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>
                <a:solidFill>
                  <a:srgbClr val="0070C0"/>
                </a:solidFill>
                <a:latin typeface="Malgun Gothic"/>
                <a:ea typeface="Malgun Gothic"/>
                <a:cs typeface="Malgun Gothic"/>
                <a:sym typeface="Malgun Gothic"/>
              </a:rPr>
              <a:t>		- 대회 소개</a:t>
            </a:r>
            <a:endParaRPr sz="1800" b="1">
              <a:solidFill>
                <a:srgbClr val="0070C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>
                <a:solidFill>
                  <a:srgbClr val="0070C0"/>
                </a:solidFill>
                <a:latin typeface="Malgun Gothic"/>
                <a:ea typeface="Malgun Gothic"/>
                <a:cs typeface="Malgun Gothic"/>
                <a:sym typeface="Malgun Gothic"/>
              </a:rPr>
              <a:t>		- 교전 룰 소개</a:t>
            </a:r>
            <a:endParaRPr sz="1800" b="1">
              <a:solidFill>
                <a:srgbClr val="0070C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>
                <a:solidFill>
                  <a:srgbClr val="0070C0"/>
                </a:solidFill>
                <a:latin typeface="Malgun Gothic"/>
                <a:ea typeface="Malgun Gothic"/>
                <a:cs typeface="Malgun Gothic"/>
                <a:sym typeface="Malgun Gothic"/>
              </a:rPr>
              <a:t>		- 개발 환경 &amp; 대회 경기 환경 소개</a:t>
            </a:r>
            <a:endParaRPr sz="1800" b="1">
              <a:solidFill>
                <a:srgbClr val="0070C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	</a:t>
            </a: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#전투기 AI에 대하여</a:t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	#Behavior Tree 기반 AI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	#실습</a:t>
            </a:r>
            <a:endParaRPr/>
          </a:p>
        </p:txBody>
      </p:sp>
      <p:pic>
        <p:nvPicPr>
          <p:cNvPr id="456" name="Google Shape;456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39" y="0"/>
            <a:ext cx="12185522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57" name="Google Shape;457;p23"/>
          <p:cNvCxnSpPr/>
          <p:nvPr/>
        </p:nvCxnSpPr>
        <p:spPr>
          <a:xfrm>
            <a:off x="3987800" y="4210050"/>
            <a:ext cx="7296150" cy="0"/>
          </a:xfrm>
          <a:prstGeom prst="straightConnector1">
            <a:avLst/>
          </a:prstGeom>
          <a:noFill/>
          <a:ln w="19050" cap="flat" cmpd="sng">
            <a:solidFill>
              <a:srgbClr val="5DFFA6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24"/>
          <p:cNvSpPr txBox="1"/>
          <p:nvPr/>
        </p:nvSpPr>
        <p:spPr>
          <a:xfrm>
            <a:off x="0" y="0"/>
            <a:ext cx="2864887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인간의 전투기 조종</a:t>
            </a:r>
            <a:endParaRPr sz="24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463" name="Google Shape;463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26769" y="4920800"/>
            <a:ext cx="3355284" cy="1937200"/>
          </a:xfrm>
          <a:prstGeom prst="rect">
            <a:avLst/>
          </a:prstGeom>
          <a:noFill/>
          <a:ln w="9525" cap="flat" cmpd="sng">
            <a:solidFill>
              <a:srgbClr val="5DFFA6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464" name="Google Shape;464;p24"/>
          <p:cNvSpPr/>
          <p:nvPr/>
        </p:nvSpPr>
        <p:spPr>
          <a:xfrm>
            <a:off x="746096" y="4621259"/>
            <a:ext cx="3182755" cy="1058236"/>
          </a:xfrm>
          <a:prstGeom prst="rect">
            <a:avLst/>
          </a:prstGeom>
          <a:solidFill>
            <a:srgbClr val="FFC5C5"/>
          </a:solidFill>
          <a:ln w="19050" cap="flat" cmpd="sng">
            <a:solidFill>
              <a:srgbClr val="5DFF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전투기 동체 특성</a:t>
            </a:r>
            <a:endParaRPr/>
          </a:p>
        </p:txBody>
      </p:sp>
      <p:cxnSp>
        <p:nvCxnSpPr>
          <p:cNvPr id="465" name="Google Shape;465;p24"/>
          <p:cNvCxnSpPr>
            <a:stCxn id="466" idx="2"/>
          </p:cNvCxnSpPr>
          <p:nvPr/>
        </p:nvCxnSpPr>
        <p:spPr>
          <a:xfrm>
            <a:off x="948698" y="3377407"/>
            <a:ext cx="201900" cy="1223100"/>
          </a:xfrm>
          <a:prstGeom prst="straightConnector1">
            <a:avLst/>
          </a:prstGeom>
          <a:noFill/>
          <a:ln w="38100" cap="flat" cmpd="sng">
            <a:solidFill>
              <a:srgbClr val="9FE6FF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466" name="Google Shape;466;p24"/>
          <p:cNvSpPr txBox="1"/>
          <p:nvPr/>
        </p:nvSpPr>
        <p:spPr>
          <a:xfrm>
            <a:off x="177589" y="3008075"/>
            <a:ext cx="154221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Stick(</a:t>
            </a:r>
            <a:r>
              <a:rPr lang="ko-KR" sz="1400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Roll,Pitch</a:t>
            </a:r>
            <a:r>
              <a:rPr lang="ko-KR" sz="1800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)</a:t>
            </a:r>
            <a:endParaRPr sz="1800">
              <a:solidFill>
                <a:srgbClr val="FF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467" name="Google Shape;467;p24"/>
          <p:cNvCxnSpPr>
            <a:stCxn id="468" idx="2"/>
            <a:endCxn id="464" idx="0"/>
          </p:cNvCxnSpPr>
          <p:nvPr/>
        </p:nvCxnSpPr>
        <p:spPr>
          <a:xfrm>
            <a:off x="2337473" y="3398220"/>
            <a:ext cx="0" cy="1223100"/>
          </a:xfrm>
          <a:prstGeom prst="straightConnector1">
            <a:avLst/>
          </a:prstGeom>
          <a:noFill/>
          <a:ln w="38100" cap="flat" cmpd="sng">
            <a:solidFill>
              <a:srgbClr val="9FE6FF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468" name="Google Shape;468;p24"/>
          <p:cNvSpPr txBox="1"/>
          <p:nvPr/>
        </p:nvSpPr>
        <p:spPr>
          <a:xfrm>
            <a:off x="1642218" y="3028888"/>
            <a:ext cx="139050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rgbClr val="FFC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Rudder(</a:t>
            </a:r>
            <a:r>
              <a:rPr lang="ko-KR" sz="1400">
                <a:solidFill>
                  <a:srgbClr val="FFC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Yaw</a:t>
            </a:r>
            <a:r>
              <a:rPr lang="ko-KR" sz="1800">
                <a:solidFill>
                  <a:srgbClr val="FFC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)</a:t>
            </a:r>
            <a:endParaRPr sz="1800">
              <a:solidFill>
                <a:srgbClr val="FFC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469" name="Google Shape;469;p24"/>
          <p:cNvCxnSpPr>
            <a:stCxn id="470" idx="2"/>
          </p:cNvCxnSpPr>
          <p:nvPr/>
        </p:nvCxnSpPr>
        <p:spPr>
          <a:xfrm flipH="1">
            <a:off x="3380366" y="3370562"/>
            <a:ext cx="410400" cy="1230000"/>
          </a:xfrm>
          <a:prstGeom prst="straightConnector1">
            <a:avLst/>
          </a:prstGeom>
          <a:noFill/>
          <a:ln w="38100" cap="flat" cmpd="sng">
            <a:solidFill>
              <a:srgbClr val="9FE6FF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470" name="Google Shape;470;p24"/>
          <p:cNvSpPr txBox="1"/>
          <p:nvPr/>
        </p:nvSpPr>
        <p:spPr>
          <a:xfrm>
            <a:off x="3292104" y="3001230"/>
            <a:ext cx="99732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rgbClr val="00B0F0"/>
                </a:solidFill>
                <a:latin typeface="Malgun Gothic"/>
                <a:ea typeface="Malgun Gothic"/>
                <a:cs typeface="Malgun Gothic"/>
                <a:sym typeface="Malgun Gothic"/>
              </a:rPr>
              <a:t>Throttle</a:t>
            </a:r>
            <a:endParaRPr sz="1800">
              <a:solidFill>
                <a:srgbClr val="00B0F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471" name="Google Shape;471;p24"/>
          <p:cNvCxnSpPr>
            <a:stCxn id="464" idx="2"/>
          </p:cNvCxnSpPr>
          <p:nvPr/>
        </p:nvCxnSpPr>
        <p:spPr>
          <a:xfrm>
            <a:off x="2337474" y="5679495"/>
            <a:ext cx="4200" cy="1073400"/>
          </a:xfrm>
          <a:prstGeom prst="straightConnector1">
            <a:avLst/>
          </a:prstGeom>
          <a:noFill/>
          <a:ln w="38100" cap="flat" cmpd="sng">
            <a:solidFill>
              <a:srgbClr val="9FE6FF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472" name="Google Shape;472;p24"/>
          <p:cNvSpPr txBox="1"/>
          <p:nvPr/>
        </p:nvSpPr>
        <p:spPr>
          <a:xfrm>
            <a:off x="729205" y="6196991"/>
            <a:ext cx="325602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위치, 자세, 속도, 가속도 ,등등</a:t>
            </a:r>
            <a:endParaRPr/>
          </a:p>
        </p:txBody>
      </p:sp>
      <p:sp>
        <p:nvSpPr>
          <p:cNvPr id="473" name="Google Shape;473;p24"/>
          <p:cNvSpPr/>
          <p:nvPr/>
        </p:nvSpPr>
        <p:spPr>
          <a:xfrm>
            <a:off x="709464" y="1394604"/>
            <a:ext cx="3256020" cy="536549"/>
          </a:xfrm>
          <a:prstGeom prst="rect">
            <a:avLst/>
          </a:prstGeom>
          <a:solidFill>
            <a:srgbClr val="9FE6FF"/>
          </a:solidFill>
          <a:ln w="19050" cap="flat" cmpd="sng">
            <a:solidFill>
              <a:srgbClr val="5DFF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인간 인지/판단 능력</a:t>
            </a:r>
            <a:endParaRPr/>
          </a:p>
        </p:txBody>
      </p:sp>
      <p:cxnSp>
        <p:nvCxnSpPr>
          <p:cNvPr id="474" name="Google Shape;474;p24"/>
          <p:cNvCxnSpPr>
            <a:stCxn id="475" idx="2"/>
            <a:endCxn id="473" idx="0"/>
          </p:cNvCxnSpPr>
          <p:nvPr/>
        </p:nvCxnSpPr>
        <p:spPr>
          <a:xfrm>
            <a:off x="2337474" y="927867"/>
            <a:ext cx="0" cy="466800"/>
          </a:xfrm>
          <a:prstGeom prst="straightConnector1">
            <a:avLst/>
          </a:prstGeom>
          <a:noFill/>
          <a:ln w="38100" cap="flat" cmpd="sng">
            <a:solidFill>
              <a:srgbClr val="9FE6FF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475" name="Google Shape;475;p24"/>
          <p:cNvSpPr txBox="1"/>
          <p:nvPr/>
        </p:nvSpPr>
        <p:spPr>
          <a:xfrm>
            <a:off x="1742599" y="558535"/>
            <a:ext cx="1189749" cy="369332"/>
          </a:xfrm>
          <a:prstGeom prst="rect">
            <a:avLst/>
          </a:prstGeom>
          <a:solidFill>
            <a:srgbClr val="DA5808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외부 자극</a:t>
            </a:r>
            <a:endParaRPr/>
          </a:p>
        </p:txBody>
      </p:sp>
      <p:sp>
        <p:nvSpPr>
          <p:cNvPr id="476" name="Google Shape;476;p24"/>
          <p:cNvSpPr/>
          <p:nvPr/>
        </p:nvSpPr>
        <p:spPr>
          <a:xfrm>
            <a:off x="177589" y="2763753"/>
            <a:ext cx="4319770" cy="702162"/>
          </a:xfrm>
          <a:prstGeom prst="rect">
            <a:avLst/>
          </a:prstGeom>
          <a:noFill/>
          <a:ln w="19050" cap="flat" cmpd="sng">
            <a:solidFill>
              <a:srgbClr val="5DFF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전투기 조종 하드웨어</a:t>
            </a:r>
            <a:endParaRPr/>
          </a:p>
        </p:txBody>
      </p:sp>
      <p:cxnSp>
        <p:nvCxnSpPr>
          <p:cNvPr id="477" name="Google Shape;477;p24"/>
          <p:cNvCxnSpPr>
            <a:stCxn id="473" idx="2"/>
            <a:endCxn id="476" idx="0"/>
          </p:cNvCxnSpPr>
          <p:nvPr/>
        </p:nvCxnSpPr>
        <p:spPr>
          <a:xfrm>
            <a:off x="2337474" y="1931153"/>
            <a:ext cx="0" cy="832500"/>
          </a:xfrm>
          <a:prstGeom prst="straightConnector1">
            <a:avLst/>
          </a:prstGeom>
          <a:noFill/>
          <a:ln w="38100" cap="flat" cmpd="sng">
            <a:solidFill>
              <a:srgbClr val="9FE6FF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478" name="Google Shape;478;p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305241" y="2639388"/>
            <a:ext cx="2376516" cy="1699228"/>
          </a:xfrm>
          <a:prstGeom prst="rect">
            <a:avLst/>
          </a:prstGeom>
          <a:noFill/>
          <a:ln w="9525" cap="flat" cmpd="sng">
            <a:solidFill>
              <a:srgbClr val="5DFFA6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479" name="Google Shape;479;p24"/>
          <p:cNvPicPr preferRelativeResize="0"/>
          <p:nvPr/>
        </p:nvPicPr>
        <p:blipFill rotWithShape="1">
          <a:blip r:embed="rId5">
            <a:alphaModFix/>
          </a:blip>
          <a:srcRect l="30709" t="5195" r="30591" b="16370"/>
          <a:stretch/>
        </p:blipFill>
        <p:spPr>
          <a:xfrm>
            <a:off x="6824261" y="1139739"/>
            <a:ext cx="1153675" cy="1315272"/>
          </a:xfrm>
          <a:prstGeom prst="rect">
            <a:avLst/>
          </a:prstGeom>
          <a:noFill/>
          <a:ln w="9525" cap="flat" cmpd="sng">
            <a:solidFill>
              <a:srgbClr val="5DFFA6"/>
            </a:solidFill>
            <a:prstDash val="solid"/>
            <a:round/>
            <a:headEnd type="none" w="sm" len="sm"/>
            <a:tailEnd type="none" w="sm" len="sm"/>
          </a:ln>
        </p:spPr>
      </p:pic>
      <p:cxnSp>
        <p:nvCxnSpPr>
          <p:cNvPr id="480" name="Google Shape;480;p24"/>
          <p:cNvCxnSpPr/>
          <p:nvPr/>
        </p:nvCxnSpPr>
        <p:spPr>
          <a:xfrm flipH="1">
            <a:off x="8014010" y="755104"/>
            <a:ext cx="696357" cy="357866"/>
          </a:xfrm>
          <a:prstGeom prst="straightConnector1">
            <a:avLst/>
          </a:prstGeom>
          <a:noFill/>
          <a:ln w="19050" cap="flat" cmpd="sng">
            <a:solidFill>
              <a:srgbClr val="5DFFA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481" name="Google Shape;481;p24"/>
          <p:cNvSpPr txBox="1"/>
          <p:nvPr/>
        </p:nvSpPr>
        <p:spPr>
          <a:xfrm>
            <a:off x="8710367" y="405105"/>
            <a:ext cx="1189749" cy="369332"/>
          </a:xfrm>
          <a:prstGeom prst="rect">
            <a:avLst/>
          </a:prstGeom>
          <a:solidFill>
            <a:srgbClr val="DA5808"/>
          </a:solidFill>
          <a:ln w="9525" cap="flat" cmpd="sng">
            <a:solidFill>
              <a:srgbClr val="5DFFA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외부 자극</a:t>
            </a:r>
            <a:endParaRPr/>
          </a:p>
        </p:txBody>
      </p:sp>
      <p:cxnSp>
        <p:nvCxnSpPr>
          <p:cNvPr id="482" name="Google Shape;482;p24"/>
          <p:cNvCxnSpPr/>
          <p:nvPr/>
        </p:nvCxnSpPr>
        <p:spPr>
          <a:xfrm>
            <a:off x="8093655" y="2515024"/>
            <a:ext cx="960131" cy="248729"/>
          </a:xfrm>
          <a:prstGeom prst="straightConnector1">
            <a:avLst/>
          </a:prstGeom>
          <a:noFill/>
          <a:ln w="19050" cap="flat" cmpd="sng">
            <a:solidFill>
              <a:srgbClr val="5DFFA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483" name="Google Shape;483;p24"/>
          <p:cNvSpPr txBox="1"/>
          <p:nvPr/>
        </p:nvSpPr>
        <p:spPr>
          <a:xfrm>
            <a:off x="4590517" y="1428043"/>
            <a:ext cx="646331" cy="369332"/>
          </a:xfrm>
          <a:prstGeom prst="rect">
            <a:avLst/>
          </a:prstGeom>
          <a:noFill/>
          <a:ln w="9525" cap="flat" cmpd="sng">
            <a:solidFill>
              <a:srgbClr val="5DFFA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판단</a:t>
            </a:r>
            <a:endParaRPr/>
          </a:p>
        </p:txBody>
      </p:sp>
      <p:cxnSp>
        <p:nvCxnSpPr>
          <p:cNvPr id="484" name="Google Shape;484;p24"/>
          <p:cNvCxnSpPr/>
          <p:nvPr/>
        </p:nvCxnSpPr>
        <p:spPr>
          <a:xfrm flipH="1">
            <a:off x="8710367" y="4165807"/>
            <a:ext cx="448501" cy="754993"/>
          </a:xfrm>
          <a:prstGeom prst="straightConnector1">
            <a:avLst/>
          </a:prstGeom>
          <a:noFill/>
          <a:ln w="19050" cap="flat" cmpd="sng">
            <a:solidFill>
              <a:srgbClr val="5DFFA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485" name="Google Shape;485;p24"/>
          <p:cNvSpPr txBox="1"/>
          <p:nvPr/>
        </p:nvSpPr>
        <p:spPr>
          <a:xfrm>
            <a:off x="4251807" y="4415780"/>
            <a:ext cx="1651414" cy="369332"/>
          </a:xfrm>
          <a:prstGeom prst="rect">
            <a:avLst/>
          </a:prstGeom>
          <a:noFill/>
          <a:ln w="9525" cap="flat" cmpd="sng">
            <a:solidFill>
              <a:srgbClr val="5DFFA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전투기의 기동</a:t>
            </a:r>
            <a:endParaRPr/>
          </a:p>
        </p:txBody>
      </p:sp>
      <p:cxnSp>
        <p:nvCxnSpPr>
          <p:cNvPr id="486" name="Google Shape;486;p24"/>
          <p:cNvCxnSpPr/>
          <p:nvPr/>
        </p:nvCxnSpPr>
        <p:spPr>
          <a:xfrm>
            <a:off x="0" y="369332"/>
            <a:ext cx="6165130" cy="0"/>
          </a:xfrm>
          <a:prstGeom prst="straightConnector1">
            <a:avLst/>
          </a:prstGeom>
          <a:noFill/>
          <a:ln w="19050" cap="flat" cmpd="sng">
            <a:solidFill>
              <a:srgbClr val="5DFFA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87" name="Google Shape;487;p24"/>
          <p:cNvSpPr txBox="1"/>
          <p:nvPr/>
        </p:nvSpPr>
        <p:spPr>
          <a:xfrm>
            <a:off x="5615794" y="2868596"/>
            <a:ext cx="800219" cy="461665"/>
          </a:xfrm>
          <a:prstGeom prst="rect">
            <a:avLst/>
          </a:prstGeom>
          <a:noFill/>
          <a:ln w="9525" cap="flat" cmpd="sng">
            <a:solidFill>
              <a:srgbClr val="00B05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조작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25"/>
          <p:cNvSpPr txBox="1"/>
          <p:nvPr/>
        </p:nvSpPr>
        <p:spPr>
          <a:xfrm>
            <a:off x="0" y="0"/>
            <a:ext cx="325922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AI 전투기 모델의 구조</a:t>
            </a:r>
            <a:endParaRPr sz="24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94" name="Google Shape;494;p25"/>
          <p:cNvSpPr/>
          <p:nvPr/>
        </p:nvSpPr>
        <p:spPr>
          <a:xfrm>
            <a:off x="2643577" y="1786086"/>
            <a:ext cx="1549117" cy="716186"/>
          </a:xfrm>
          <a:prstGeom prst="rect">
            <a:avLst/>
          </a:prstGeom>
          <a:solidFill>
            <a:srgbClr val="C370DA"/>
          </a:solidFill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AI</a:t>
            </a:r>
            <a:endParaRPr sz="24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95" name="Google Shape;495;p25"/>
          <p:cNvSpPr/>
          <p:nvPr/>
        </p:nvSpPr>
        <p:spPr>
          <a:xfrm>
            <a:off x="2643577" y="4811570"/>
            <a:ext cx="1549117" cy="590491"/>
          </a:xfrm>
          <a:prstGeom prst="rect">
            <a:avLst/>
          </a:prstGeom>
          <a:solidFill>
            <a:srgbClr val="FFC5C5"/>
          </a:solidFill>
          <a:ln w="19050" cap="flat" cmpd="sng">
            <a:solidFill>
              <a:srgbClr val="FFC5C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JSBSIM</a:t>
            </a:r>
            <a:endParaRPr sz="18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496" name="Google Shape;496;p25"/>
          <p:cNvCxnSpPr>
            <a:stCxn id="494" idx="2"/>
            <a:endCxn id="495" idx="0"/>
          </p:cNvCxnSpPr>
          <p:nvPr/>
        </p:nvCxnSpPr>
        <p:spPr>
          <a:xfrm>
            <a:off x="3418136" y="2502272"/>
            <a:ext cx="0" cy="2309400"/>
          </a:xfrm>
          <a:prstGeom prst="straightConnector1">
            <a:avLst/>
          </a:prstGeom>
          <a:noFill/>
          <a:ln w="19050" cap="flat" cmpd="sng">
            <a:solidFill>
              <a:srgbClr val="5DFFA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497" name="Google Shape;497;p25"/>
          <p:cNvCxnSpPr>
            <a:stCxn id="495" idx="2"/>
            <a:endCxn id="494" idx="1"/>
          </p:cNvCxnSpPr>
          <p:nvPr/>
        </p:nvCxnSpPr>
        <p:spPr>
          <a:xfrm rot="5400000" flipH="1">
            <a:off x="1401836" y="3385761"/>
            <a:ext cx="3258000" cy="774600"/>
          </a:xfrm>
          <a:prstGeom prst="bentConnector4">
            <a:avLst>
              <a:gd name="adj1" fmla="val -8657"/>
              <a:gd name="adj2" fmla="val 285531"/>
            </a:avLst>
          </a:prstGeom>
          <a:noFill/>
          <a:ln w="19050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498" name="Google Shape;498;p25"/>
          <p:cNvCxnSpPr>
            <a:endCxn id="494" idx="0"/>
          </p:cNvCxnSpPr>
          <p:nvPr/>
        </p:nvCxnSpPr>
        <p:spPr>
          <a:xfrm>
            <a:off x="3418136" y="840486"/>
            <a:ext cx="0" cy="945600"/>
          </a:xfrm>
          <a:prstGeom prst="straightConnector1">
            <a:avLst/>
          </a:prstGeom>
          <a:noFill/>
          <a:ln w="19050" cap="flat" cmpd="sng">
            <a:solidFill>
              <a:srgbClr val="9FE6FF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499" name="Google Shape;499;p25"/>
          <p:cNvSpPr txBox="1"/>
          <p:nvPr/>
        </p:nvSpPr>
        <p:spPr>
          <a:xfrm>
            <a:off x="1199157" y="3660180"/>
            <a:ext cx="1444417" cy="246221"/>
          </a:xfrm>
          <a:prstGeom prst="rect">
            <a:avLst/>
          </a:prstGeom>
          <a:solidFill>
            <a:srgbClr val="FF0000"/>
          </a:solidFill>
          <a:ln w="9525" cap="flat" cmpd="sng">
            <a:solidFill>
              <a:srgbClr val="FFC5C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내 위치, 자세, 속도</a:t>
            </a:r>
            <a:endParaRPr/>
          </a:p>
        </p:txBody>
      </p:sp>
      <p:sp>
        <p:nvSpPr>
          <p:cNvPr id="500" name="Google Shape;500;p25"/>
          <p:cNvSpPr txBox="1"/>
          <p:nvPr/>
        </p:nvSpPr>
        <p:spPr>
          <a:xfrm>
            <a:off x="3418135" y="1057786"/>
            <a:ext cx="2063385" cy="253916"/>
          </a:xfrm>
          <a:prstGeom prst="rect">
            <a:avLst/>
          </a:prstGeom>
          <a:solidFill>
            <a:srgbClr val="9FE6FF"/>
          </a:solidFill>
          <a:ln w="9525" cap="flat" cmpd="sng">
            <a:solidFill>
              <a:srgbClr val="9FE6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5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상대 비행기의 위치, 자세, 속도</a:t>
            </a:r>
            <a:endParaRPr/>
          </a:p>
        </p:txBody>
      </p:sp>
      <p:sp>
        <p:nvSpPr>
          <p:cNvPr id="501" name="Google Shape;501;p25"/>
          <p:cNvSpPr txBox="1"/>
          <p:nvPr/>
        </p:nvSpPr>
        <p:spPr>
          <a:xfrm>
            <a:off x="3418134" y="3220890"/>
            <a:ext cx="2233364" cy="400110"/>
          </a:xfrm>
          <a:prstGeom prst="rect">
            <a:avLst/>
          </a:prstGeom>
          <a:solidFill>
            <a:srgbClr val="5DFFA6"/>
          </a:solidFill>
          <a:ln w="9525" cap="flat" cmpd="sng">
            <a:solidFill>
              <a:srgbClr val="5DFFA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>
                <a:solidFill>
                  <a:srgbClr val="171717"/>
                </a:solidFill>
                <a:latin typeface="Malgun Gothic"/>
                <a:ea typeface="Malgun Gothic"/>
                <a:cs typeface="Malgun Gothic"/>
                <a:sym typeface="Malgun Gothic"/>
              </a:rPr>
              <a:t>조종값(CMD) :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>
                <a:solidFill>
                  <a:srgbClr val="171717"/>
                </a:solidFill>
                <a:latin typeface="Malgun Gothic"/>
                <a:ea typeface="Malgun Gothic"/>
                <a:cs typeface="Malgun Gothic"/>
                <a:sym typeface="Malgun Gothic"/>
              </a:rPr>
              <a:t>Roll, Pitch, Yaw, Throttle</a:t>
            </a:r>
            <a:endParaRPr sz="1000" b="1">
              <a:solidFill>
                <a:srgbClr val="171717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02" name="Google Shape;502;p25"/>
          <p:cNvSpPr txBox="1"/>
          <p:nvPr/>
        </p:nvSpPr>
        <p:spPr>
          <a:xfrm>
            <a:off x="2099933" y="5916230"/>
            <a:ext cx="171713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AI 전투기 모델</a:t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03" name="Google Shape;503;p25"/>
          <p:cNvSpPr txBox="1"/>
          <p:nvPr/>
        </p:nvSpPr>
        <p:spPr>
          <a:xfrm>
            <a:off x="6371543" y="1786086"/>
            <a:ext cx="5757319" cy="1492716"/>
          </a:xfrm>
          <a:prstGeom prst="rect">
            <a:avLst/>
          </a:prstGeom>
          <a:noFill/>
          <a:ln w="9525" cap="flat" cmpd="sng">
            <a:solidFill>
              <a:srgbClr val="C370D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AI : </a:t>
            </a:r>
            <a:r>
              <a:rPr lang="ko-KR"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자신의 정보와 상대의 정보를 입력하여 이기기 위한 최적의 조종값을 생성</a:t>
            </a:r>
            <a:endParaRPr sz="12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	</a:t>
            </a:r>
            <a:r>
              <a:rPr lang="ko-KR" sz="11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입력값</a:t>
            </a:r>
            <a:endParaRPr sz="11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		자신의 비행기 정보</a:t>
            </a:r>
            <a:endParaRPr sz="11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		상대 비행기의 정보</a:t>
            </a:r>
            <a:endParaRPr sz="11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	출력값</a:t>
            </a:r>
            <a:endParaRPr sz="11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		조종값(Roll, Pitch, Yaw, Throttle)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04" name="Google Shape;504;p25"/>
          <p:cNvSpPr txBox="1"/>
          <p:nvPr/>
        </p:nvSpPr>
        <p:spPr>
          <a:xfrm>
            <a:off x="6371544" y="4909542"/>
            <a:ext cx="5522187" cy="1492716"/>
          </a:xfrm>
          <a:prstGeom prst="rect">
            <a:avLst/>
          </a:prstGeom>
          <a:noFill/>
          <a:ln w="9525" cap="flat" cmpd="sng">
            <a:solidFill>
              <a:srgbClr val="FFC5C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동역학 모델 : </a:t>
            </a:r>
            <a:r>
              <a:rPr lang="ko-KR"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조종값을 입력받아 비행기의 비행 역학을 시뮬레이션</a:t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	</a:t>
            </a:r>
            <a:r>
              <a:rPr lang="ko-KR" sz="11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입력값</a:t>
            </a:r>
            <a:endParaRPr sz="11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		Roll, Pitch, Yaw 조종값</a:t>
            </a:r>
            <a:endParaRPr sz="11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		Throttle 조정값</a:t>
            </a:r>
            <a:endParaRPr sz="11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	출력값</a:t>
            </a:r>
            <a:endParaRPr sz="11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		위치, 자세, 속도 등의 전투기 시뮬레이션 정보</a:t>
            </a:r>
            <a:endParaRPr sz="11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				</a:t>
            </a:r>
            <a:endParaRPr/>
          </a:p>
        </p:txBody>
      </p:sp>
      <p:cxnSp>
        <p:nvCxnSpPr>
          <p:cNvPr id="505" name="Google Shape;505;p25"/>
          <p:cNvCxnSpPr/>
          <p:nvPr/>
        </p:nvCxnSpPr>
        <p:spPr>
          <a:xfrm>
            <a:off x="0" y="369332"/>
            <a:ext cx="6165130" cy="0"/>
          </a:xfrm>
          <a:prstGeom prst="straightConnector1">
            <a:avLst/>
          </a:prstGeom>
          <a:noFill/>
          <a:ln w="19050" cap="flat" cmpd="sng">
            <a:solidFill>
              <a:srgbClr val="5DFFA6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26"/>
          <p:cNvSpPr txBox="1"/>
          <p:nvPr/>
        </p:nvSpPr>
        <p:spPr>
          <a:xfrm>
            <a:off x="0" y="0"/>
            <a:ext cx="295144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AI 전투기 모델 종류</a:t>
            </a:r>
            <a:endParaRPr sz="24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11" name="Google Shape;511;p26"/>
          <p:cNvSpPr/>
          <p:nvPr/>
        </p:nvSpPr>
        <p:spPr>
          <a:xfrm>
            <a:off x="2643577" y="1786086"/>
            <a:ext cx="1549117" cy="716186"/>
          </a:xfrm>
          <a:prstGeom prst="rect">
            <a:avLst/>
          </a:prstGeom>
          <a:solidFill>
            <a:srgbClr val="C370DA"/>
          </a:solidFill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AI</a:t>
            </a:r>
            <a:endParaRPr sz="24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12" name="Google Shape;512;p26"/>
          <p:cNvSpPr/>
          <p:nvPr/>
        </p:nvSpPr>
        <p:spPr>
          <a:xfrm>
            <a:off x="594363" y="4427024"/>
            <a:ext cx="1587500" cy="667919"/>
          </a:xfrm>
          <a:prstGeom prst="rect">
            <a:avLst/>
          </a:prstGeom>
          <a:solidFill>
            <a:srgbClr val="78206E"/>
          </a:solidFill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Rule-based AI</a:t>
            </a:r>
            <a:endParaRPr sz="11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13" name="Google Shape;513;p26"/>
          <p:cNvSpPr/>
          <p:nvPr/>
        </p:nvSpPr>
        <p:spPr>
          <a:xfrm>
            <a:off x="3976089" y="4427024"/>
            <a:ext cx="1587500" cy="667919"/>
          </a:xfrm>
          <a:prstGeom prst="rect">
            <a:avLst/>
          </a:prstGeom>
          <a:solidFill>
            <a:srgbClr val="3F3F3F"/>
          </a:solidFill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Supervised Learning AI</a:t>
            </a:r>
            <a:endParaRPr sz="11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14" name="Google Shape;514;p26"/>
          <p:cNvSpPr/>
          <p:nvPr/>
        </p:nvSpPr>
        <p:spPr>
          <a:xfrm>
            <a:off x="7511330" y="3828955"/>
            <a:ext cx="1587500" cy="667919"/>
          </a:xfrm>
          <a:prstGeom prst="rect">
            <a:avLst/>
          </a:prstGeom>
          <a:solidFill>
            <a:srgbClr val="00B050"/>
          </a:solidFill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Reinforcement Learning AI</a:t>
            </a:r>
            <a:endParaRPr sz="11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15" name="Google Shape;515;p26"/>
          <p:cNvSpPr/>
          <p:nvPr/>
        </p:nvSpPr>
        <p:spPr>
          <a:xfrm>
            <a:off x="9098830" y="1981669"/>
            <a:ext cx="1587500" cy="667919"/>
          </a:xfrm>
          <a:prstGeom prst="rect">
            <a:avLst/>
          </a:prstGeom>
          <a:solidFill>
            <a:srgbClr val="002060"/>
          </a:solidFill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Advanced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(Hybrid)</a:t>
            </a:r>
            <a:endParaRPr sz="14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516" name="Google Shape;516;p26"/>
          <p:cNvCxnSpPr>
            <a:endCxn id="512" idx="0"/>
          </p:cNvCxnSpPr>
          <p:nvPr/>
        </p:nvCxnSpPr>
        <p:spPr>
          <a:xfrm flipH="1">
            <a:off x="1388113" y="2522624"/>
            <a:ext cx="1351800" cy="19044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17" name="Google Shape;517;p26"/>
          <p:cNvCxnSpPr>
            <a:stCxn id="511" idx="2"/>
            <a:endCxn id="513" idx="0"/>
          </p:cNvCxnSpPr>
          <p:nvPr/>
        </p:nvCxnSpPr>
        <p:spPr>
          <a:xfrm>
            <a:off x="3418136" y="2502272"/>
            <a:ext cx="1351800" cy="19248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18" name="Google Shape;518;p26"/>
          <p:cNvCxnSpPr>
            <a:endCxn id="514" idx="0"/>
          </p:cNvCxnSpPr>
          <p:nvPr/>
        </p:nvCxnSpPr>
        <p:spPr>
          <a:xfrm>
            <a:off x="4192680" y="2438155"/>
            <a:ext cx="4112400" cy="13908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19" name="Google Shape;519;p26"/>
          <p:cNvCxnSpPr>
            <a:stCxn id="511" idx="3"/>
            <a:endCxn id="515" idx="1"/>
          </p:cNvCxnSpPr>
          <p:nvPr/>
        </p:nvCxnSpPr>
        <p:spPr>
          <a:xfrm>
            <a:off x="4192694" y="2144179"/>
            <a:ext cx="4906200" cy="1713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20" name="Google Shape;520;p26"/>
          <p:cNvSpPr txBox="1"/>
          <p:nvPr/>
        </p:nvSpPr>
        <p:spPr>
          <a:xfrm>
            <a:off x="122117" y="5096961"/>
            <a:ext cx="3215945" cy="1446550"/>
          </a:xfrm>
          <a:prstGeom prst="rect">
            <a:avLst/>
          </a:prstGeom>
          <a:solidFill>
            <a:srgbClr val="FCE3F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장점 :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-성능적 저점이 높다(</a:t>
            </a:r>
            <a:r>
              <a:rPr lang="ko-KR" sz="1100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 대회 한정 기준</a:t>
            </a:r>
            <a:r>
              <a:rPr lang="ko-KR" sz="11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-비교적 빠르게 성능을 보임(</a:t>
            </a:r>
            <a:r>
              <a:rPr lang="ko-KR" sz="1100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 대회 한정 기준</a:t>
            </a:r>
            <a:r>
              <a:rPr lang="ko-KR" sz="11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-개발 난이도 쉬움(</a:t>
            </a:r>
            <a:r>
              <a:rPr lang="ko-KR" sz="1100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 대회 한정 기준</a:t>
            </a:r>
            <a:r>
              <a:rPr lang="ko-KR" sz="11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단점 :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-고점이 상대적으로 낮다</a:t>
            </a:r>
            <a:endParaRPr sz="11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-도메인지식(전투기 교전)에 대한 지식 필요</a:t>
            </a:r>
            <a:endParaRPr/>
          </a:p>
        </p:txBody>
      </p:sp>
      <p:sp>
        <p:nvSpPr>
          <p:cNvPr id="521" name="Google Shape;521;p26"/>
          <p:cNvSpPr txBox="1"/>
          <p:nvPr/>
        </p:nvSpPr>
        <p:spPr>
          <a:xfrm>
            <a:off x="3479800" y="5101293"/>
            <a:ext cx="3079689" cy="1446550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장점 :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-좋은 데이터를 통한 학습만 잘 시키면 </a:t>
            </a:r>
            <a:endParaRPr sz="11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어느정도 성능이 보장됨</a:t>
            </a:r>
            <a:endParaRPr sz="11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단점 :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-결국 원본의 카피 또는 하위호환 모델</a:t>
            </a:r>
            <a:endParaRPr sz="11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-학습의 정답 데이터가 될 데이터가 필요하다</a:t>
            </a:r>
            <a:endParaRPr sz="1100" b="1">
              <a:solidFill>
                <a:srgbClr val="FF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700" b="1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(P3D, DCS같은데서 로그를 가져와서 가공해서 사용 가능할지도?)</a:t>
            </a:r>
            <a:endParaRPr sz="1100" b="1">
              <a:solidFill>
                <a:srgbClr val="FF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22" name="Google Shape;522;p26"/>
          <p:cNvSpPr txBox="1"/>
          <p:nvPr/>
        </p:nvSpPr>
        <p:spPr>
          <a:xfrm>
            <a:off x="6817699" y="4498996"/>
            <a:ext cx="3074881" cy="1615827"/>
          </a:xfrm>
          <a:prstGeom prst="rect">
            <a:avLst/>
          </a:prstGeom>
          <a:solidFill>
            <a:srgbClr val="D8F2CF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장점 :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-</a:t>
            </a:r>
            <a:r>
              <a:rPr lang="ko-KR" sz="1100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고점이 높다</a:t>
            </a:r>
            <a:endParaRPr sz="1100">
              <a:solidFill>
                <a:srgbClr val="FF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-도메인 지식이 부족해도 가능(like Heron)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단점 :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-</a:t>
            </a:r>
            <a:r>
              <a:rPr lang="ko-KR" sz="1100" u="sng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학습 방법에 따라 이미 완성된 AI(Rule base)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u="sng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가 필요할 수도 있다(학습 스파링 상대)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-</a:t>
            </a:r>
            <a:r>
              <a:rPr lang="ko-KR" sz="11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시간이 </a:t>
            </a:r>
            <a:r>
              <a:rPr lang="ko-KR" sz="1100" b="1" u="sng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졸라 많이 </a:t>
            </a:r>
            <a:r>
              <a:rPr lang="ko-KR" sz="11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필요하다</a:t>
            </a:r>
            <a:endParaRPr sz="11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-성능 좋은 PC가 필요할 수 있다</a:t>
            </a:r>
            <a:endParaRPr sz="11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23" name="Google Shape;523;p26"/>
          <p:cNvSpPr txBox="1"/>
          <p:nvPr/>
        </p:nvSpPr>
        <p:spPr>
          <a:xfrm>
            <a:off x="9025195" y="2649588"/>
            <a:ext cx="1840568" cy="430887"/>
          </a:xfrm>
          <a:prstGeom prst="rect">
            <a:avLst/>
          </a:prstGeom>
          <a:solidFill>
            <a:srgbClr val="D9E5F8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여러 AI를 혼합하여 사용</a:t>
            </a:r>
            <a:endParaRPr sz="11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Ex) Rule &amp; Reinforcement</a:t>
            </a:r>
            <a:endParaRPr/>
          </a:p>
        </p:txBody>
      </p:sp>
      <p:cxnSp>
        <p:nvCxnSpPr>
          <p:cNvPr id="524" name="Google Shape;524;p26"/>
          <p:cNvCxnSpPr/>
          <p:nvPr/>
        </p:nvCxnSpPr>
        <p:spPr>
          <a:xfrm>
            <a:off x="0" y="369332"/>
            <a:ext cx="6165130" cy="0"/>
          </a:xfrm>
          <a:prstGeom prst="straightConnector1">
            <a:avLst/>
          </a:prstGeom>
          <a:noFill/>
          <a:ln w="19050" cap="flat" cmpd="sng">
            <a:solidFill>
              <a:srgbClr val="5DFFA6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525" name="Google Shape;525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03142" y="5342281"/>
            <a:ext cx="2142320" cy="1446550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526;p26"/>
          <p:cNvSpPr txBox="1"/>
          <p:nvPr/>
        </p:nvSpPr>
        <p:spPr>
          <a:xfrm>
            <a:off x="6481117" y="6437881"/>
            <a:ext cx="319991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계룡대 공군본부 건물에 있음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27"/>
          <p:cNvSpPr txBox="1"/>
          <p:nvPr/>
        </p:nvSpPr>
        <p:spPr>
          <a:xfrm>
            <a:off x="0" y="0"/>
            <a:ext cx="4705350" cy="449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algun Gothic"/>
              <a:buNone/>
            </a:pPr>
            <a:r>
              <a:rPr lang="ko-KR" sz="2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Rule Based 기반 모델</a:t>
            </a:r>
            <a:endParaRPr/>
          </a:p>
        </p:txBody>
      </p:sp>
      <p:grpSp>
        <p:nvGrpSpPr>
          <p:cNvPr id="532" name="Google Shape;532;p27"/>
          <p:cNvGrpSpPr/>
          <p:nvPr/>
        </p:nvGrpSpPr>
        <p:grpSpPr>
          <a:xfrm>
            <a:off x="130408" y="1142216"/>
            <a:ext cx="4346153" cy="4573486"/>
            <a:chOff x="513760" y="1125486"/>
            <a:chExt cx="3591862" cy="3779740"/>
          </a:xfrm>
        </p:grpSpPr>
        <p:sp>
          <p:nvSpPr>
            <p:cNvPr id="533" name="Google Shape;533;p27"/>
            <p:cNvSpPr/>
            <p:nvPr/>
          </p:nvSpPr>
          <p:spPr>
            <a:xfrm>
              <a:off x="2298325" y="1974186"/>
              <a:ext cx="1377778" cy="364580"/>
            </a:xfrm>
            <a:prstGeom prst="rect">
              <a:avLst/>
            </a:prstGeom>
            <a:solidFill>
              <a:srgbClr val="5DFFA6"/>
            </a:solidFill>
            <a:ln w="19050" cap="flat" cmpd="sng">
              <a:solidFill>
                <a:srgbClr val="0C0C0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2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Behavior Tree</a:t>
              </a:r>
              <a:endParaRPr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34" name="Google Shape;534;p27"/>
            <p:cNvSpPr/>
            <p:nvPr/>
          </p:nvSpPr>
          <p:spPr>
            <a:xfrm>
              <a:off x="2298323" y="3156922"/>
              <a:ext cx="1377778" cy="364580"/>
            </a:xfrm>
            <a:prstGeom prst="rect">
              <a:avLst/>
            </a:prstGeom>
            <a:solidFill>
              <a:srgbClr val="9FE6FF"/>
            </a:solidFill>
            <a:ln w="19050" cap="flat" cmpd="sng">
              <a:solidFill>
                <a:srgbClr val="08283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2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JSBSIM</a:t>
              </a:r>
              <a:br>
                <a:rPr lang="ko-KR" sz="12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lang="ko-KR" sz="12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Controller</a:t>
              </a:r>
              <a:endParaRPr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35" name="Google Shape;535;p27"/>
            <p:cNvSpPr/>
            <p:nvPr/>
          </p:nvSpPr>
          <p:spPr>
            <a:xfrm>
              <a:off x="2298325" y="4540646"/>
              <a:ext cx="1377778" cy="364580"/>
            </a:xfrm>
            <a:prstGeom prst="rect">
              <a:avLst/>
            </a:prstGeom>
            <a:solidFill>
              <a:srgbClr val="FFC5C5"/>
            </a:solidFill>
            <a:ln w="19050" cap="flat" cmpd="sng">
              <a:solidFill>
                <a:srgbClr val="0C0C0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2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JSBSIM</a:t>
              </a:r>
              <a:endParaRPr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cxnSp>
          <p:nvCxnSpPr>
            <p:cNvPr id="536" name="Google Shape;536;p27"/>
            <p:cNvCxnSpPr>
              <a:stCxn id="533" idx="2"/>
              <a:endCxn id="534" idx="0"/>
            </p:cNvCxnSpPr>
            <p:nvPr/>
          </p:nvCxnSpPr>
          <p:spPr>
            <a:xfrm>
              <a:off x="2987214" y="2338766"/>
              <a:ext cx="0" cy="818100"/>
            </a:xfrm>
            <a:prstGeom prst="straightConnector1">
              <a:avLst/>
            </a:prstGeom>
            <a:noFill/>
            <a:ln w="19050" cap="flat" cmpd="sng">
              <a:solidFill>
                <a:srgbClr val="5DFFA6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537" name="Google Shape;537;p27"/>
            <p:cNvCxnSpPr>
              <a:stCxn id="534" idx="2"/>
              <a:endCxn id="535" idx="0"/>
            </p:cNvCxnSpPr>
            <p:nvPr/>
          </p:nvCxnSpPr>
          <p:spPr>
            <a:xfrm>
              <a:off x="2987212" y="3521502"/>
              <a:ext cx="0" cy="1019100"/>
            </a:xfrm>
            <a:prstGeom prst="straightConnector1">
              <a:avLst/>
            </a:prstGeom>
            <a:noFill/>
            <a:ln w="19050" cap="flat" cmpd="sng">
              <a:solidFill>
                <a:srgbClr val="9FE6FF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538" name="Google Shape;538;p27"/>
            <p:cNvCxnSpPr>
              <a:stCxn id="535" idx="2"/>
              <a:endCxn id="533" idx="1"/>
            </p:cNvCxnSpPr>
            <p:nvPr/>
          </p:nvCxnSpPr>
          <p:spPr>
            <a:xfrm rot="5400000" flipH="1">
              <a:off x="1268514" y="3186526"/>
              <a:ext cx="2748600" cy="688800"/>
            </a:xfrm>
            <a:prstGeom prst="bentConnector4">
              <a:avLst>
                <a:gd name="adj1" fmla="val 19563"/>
                <a:gd name="adj2" fmla="val 212824"/>
              </a:avLst>
            </a:prstGeom>
            <a:noFill/>
            <a:ln w="19050" cap="flat" cmpd="sng">
              <a:solidFill>
                <a:srgbClr val="FFC5C5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539" name="Google Shape;539;p27"/>
            <p:cNvCxnSpPr>
              <a:endCxn id="533" idx="0"/>
            </p:cNvCxnSpPr>
            <p:nvPr/>
          </p:nvCxnSpPr>
          <p:spPr>
            <a:xfrm>
              <a:off x="2987214" y="1125486"/>
              <a:ext cx="0" cy="848700"/>
            </a:xfrm>
            <a:prstGeom prst="straightConnector1">
              <a:avLst/>
            </a:prstGeom>
            <a:noFill/>
            <a:ln w="19050" cap="flat" cmpd="sng">
              <a:solidFill>
                <a:srgbClr val="C370DA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540" name="Google Shape;540;p27"/>
            <p:cNvSpPr txBox="1"/>
            <p:nvPr/>
          </p:nvSpPr>
          <p:spPr>
            <a:xfrm>
              <a:off x="513760" y="3644572"/>
              <a:ext cx="836454" cy="184666"/>
            </a:xfrm>
            <a:prstGeom prst="rect">
              <a:avLst/>
            </a:prstGeom>
            <a:solidFill>
              <a:srgbClr val="FFC5C5"/>
            </a:solidFill>
            <a:ln w="9525" cap="flat" cmpd="sng">
              <a:solidFill>
                <a:srgbClr val="FFC5C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6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위치, 자세, 속도</a:t>
              </a:r>
              <a:endParaRPr/>
            </a:p>
          </p:txBody>
        </p:sp>
        <p:sp>
          <p:nvSpPr>
            <p:cNvPr id="541" name="Google Shape;541;p27"/>
            <p:cNvSpPr txBox="1"/>
            <p:nvPr/>
          </p:nvSpPr>
          <p:spPr>
            <a:xfrm>
              <a:off x="2298323" y="1280580"/>
              <a:ext cx="1428596" cy="200055"/>
            </a:xfrm>
            <a:prstGeom prst="rect">
              <a:avLst/>
            </a:prstGeom>
            <a:solidFill>
              <a:srgbClr val="C370DA"/>
            </a:solidFill>
            <a:ln w="9525" cap="flat" cmpd="sng">
              <a:solidFill>
                <a:srgbClr val="C370D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7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상대 비행기의 위치, 자세, 속도</a:t>
              </a:r>
              <a:endParaRPr/>
            </a:p>
          </p:txBody>
        </p:sp>
        <p:sp>
          <p:nvSpPr>
            <p:cNvPr id="542" name="Google Shape;542;p27"/>
            <p:cNvSpPr txBox="1"/>
            <p:nvPr/>
          </p:nvSpPr>
          <p:spPr>
            <a:xfrm>
              <a:off x="2038522" y="3916766"/>
              <a:ext cx="948690" cy="184666"/>
            </a:xfrm>
            <a:prstGeom prst="rect">
              <a:avLst/>
            </a:prstGeom>
            <a:solidFill>
              <a:srgbClr val="9FE6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6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Cmd : roll, pitch, yaw</a:t>
              </a:r>
              <a:endParaRPr sz="6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cxnSp>
          <p:nvCxnSpPr>
            <p:cNvPr id="543" name="Google Shape;543;p27"/>
            <p:cNvCxnSpPr>
              <a:stCxn id="533" idx="2"/>
              <a:endCxn id="535" idx="3"/>
            </p:cNvCxnSpPr>
            <p:nvPr/>
          </p:nvCxnSpPr>
          <p:spPr>
            <a:xfrm rot="-5400000" flipH="1">
              <a:off x="2139564" y="3186416"/>
              <a:ext cx="2384100" cy="688800"/>
            </a:xfrm>
            <a:prstGeom prst="bentConnector4">
              <a:avLst>
                <a:gd name="adj1" fmla="val -4399"/>
                <a:gd name="adj2" fmla="val 118885"/>
              </a:avLst>
            </a:prstGeom>
            <a:noFill/>
            <a:ln w="12700" cap="flat" cmpd="sng">
              <a:solidFill>
                <a:srgbClr val="5DFFA6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544" name="Google Shape;544;p27"/>
            <p:cNvSpPr txBox="1"/>
            <p:nvPr/>
          </p:nvSpPr>
          <p:spPr>
            <a:xfrm>
              <a:off x="1518717" y="2726675"/>
              <a:ext cx="1468495" cy="184652"/>
            </a:xfrm>
            <a:prstGeom prst="rect">
              <a:avLst/>
            </a:prstGeom>
            <a:solidFill>
              <a:srgbClr val="5DFFA6"/>
            </a:solidFill>
            <a:ln w="9525" cap="flat" cmpd="sng">
              <a:solidFill>
                <a:srgbClr val="5DFFA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6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VirtualPoint : Location, Target Speed</a:t>
              </a:r>
              <a:endParaRPr sz="6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45" name="Google Shape;545;p27"/>
            <p:cNvSpPr txBox="1"/>
            <p:nvPr/>
          </p:nvSpPr>
          <p:spPr>
            <a:xfrm>
              <a:off x="3449010" y="3651885"/>
              <a:ext cx="656612" cy="184666"/>
            </a:xfrm>
            <a:prstGeom prst="rect">
              <a:avLst/>
            </a:prstGeom>
            <a:solidFill>
              <a:srgbClr val="5DFFA6"/>
            </a:solidFill>
            <a:ln w="9525" cap="flat" cmpd="sng">
              <a:solidFill>
                <a:srgbClr val="5DFFA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6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Throttle Cmd</a:t>
              </a:r>
              <a:endParaRPr sz="6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546" name="Google Shape;546;p27"/>
          <p:cNvSpPr txBox="1"/>
          <p:nvPr/>
        </p:nvSpPr>
        <p:spPr>
          <a:xfrm>
            <a:off x="6059633" y="2278484"/>
            <a:ext cx="5137150" cy="938719"/>
          </a:xfrm>
          <a:prstGeom prst="rect">
            <a:avLst/>
          </a:prstGeom>
          <a:noFill/>
          <a:ln w="9525" cap="flat" cmpd="sng">
            <a:solidFill>
              <a:srgbClr val="00B05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Behavior Tree 기반 지식&amp;규칙 기반 AI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역할</a:t>
            </a:r>
            <a:endParaRPr sz="11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-현재의 상황에 가장 알맞은 목표점(VP : VirtualPoint)을 생성</a:t>
            </a:r>
            <a:endParaRPr sz="11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-현재 상황에 가장 알맞은 Throttle을 생성</a:t>
            </a:r>
            <a:endParaRPr/>
          </a:p>
        </p:txBody>
      </p:sp>
      <p:cxnSp>
        <p:nvCxnSpPr>
          <p:cNvPr id="547" name="Google Shape;547;p27"/>
          <p:cNvCxnSpPr>
            <a:stCxn id="533" idx="3"/>
            <a:endCxn id="546" idx="1"/>
          </p:cNvCxnSpPr>
          <p:nvPr/>
        </p:nvCxnSpPr>
        <p:spPr>
          <a:xfrm>
            <a:off x="3956843" y="2389714"/>
            <a:ext cx="2102700" cy="358200"/>
          </a:xfrm>
          <a:prstGeom prst="bentConnector3">
            <a:avLst>
              <a:gd name="adj1" fmla="val 50000"/>
            </a:avLst>
          </a:prstGeom>
          <a:noFill/>
          <a:ln w="12700" cap="flat" cmpd="sng">
            <a:solidFill>
              <a:srgbClr val="00B050"/>
            </a:solidFill>
            <a:prstDash val="lgDash"/>
            <a:miter lim="800000"/>
            <a:headEnd type="none" w="sm" len="sm"/>
            <a:tailEnd type="none" w="sm" len="sm"/>
          </a:ln>
        </p:spPr>
      </p:cxnSp>
      <p:sp>
        <p:nvSpPr>
          <p:cNvPr id="548" name="Google Shape;548;p27"/>
          <p:cNvSpPr txBox="1"/>
          <p:nvPr/>
        </p:nvSpPr>
        <p:spPr>
          <a:xfrm>
            <a:off x="6059633" y="3953495"/>
            <a:ext cx="5137150" cy="769441"/>
          </a:xfrm>
          <a:prstGeom prst="rect">
            <a:avLst/>
          </a:prstGeom>
          <a:noFill/>
          <a:ln w="9525" cap="flat" cmpd="sng">
            <a:solidFill>
              <a:srgbClr val="00B0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목표점을 바라 보도록 만드는 동역학 제어기 </a:t>
            </a:r>
            <a:r>
              <a:rPr lang="ko-KR" sz="1100" i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#가속도 유도 제어기 참고</a:t>
            </a:r>
            <a:endParaRPr sz="1100" i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역할</a:t>
            </a:r>
            <a:endParaRPr sz="11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-Behavior Tree를 통해 생성된 VP를 바라보도록 만드는 제어값을 생성</a:t>
            </a:r>
            <a:endParaRPr/>
          </a:p>
        </p:txBody>
      </p:sp>
      <p:cxnSp>
        <p:nvCxnSpPr>
          <p:cNvPr id="549" name="Google Shape;549;p27"/>
          <p:cNvCxnSpPr>
            <a:stCxn id="534" idx="3"/>
            <a:endCxn id="548" idx="1"/>
          </p:cNvCxnSpPr>
          <p:nvPr/>
        </p:nvCxnSpPr>
        <p:spPr>
          <a:xfrm>
            <a:off x="3956841" y="3820825"/>
            <a:ext cx="2102700" cy="517500"/>
          </a:xfrm>
          <a:prstGeom prst="bentConnector3">
            <a:avLst>
              <a:gd name="adj1" fmla="val 50000"/>
            </a:avLst>
          </a:prstGeom>
          <a:noFill/>
          <a:ln w="12700" cap="flat" cmpd="sng">
            <a:solidFill>
              <a:srgbClr val="00B0F0"/>
            </a:solidFill>
            <a:prstDash val="lgDash"/>
            <a:miter lim="800000"/>
            <a:headEnd type="none" w="sm" len="sm"/>
            <a:tailEnd type="none" w="sm" len="sm"/>
          </a:ln>
        </p:spPr>
      </p:cxnSp>
      <p:sp>
        <p:nvSpPr>
          <p:cNvPr id="550" name="Google Shape;550;p27"/>
          <p:cNvSpPr txBox="1"/>
          <p:nvPr/>
        </p:nvSpPr>
        <p:spPr>
          <a:xfrm>
            <a:off x="1448006" y="6194426"/>
            <a:ext cx="295144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Rule-Based AI 전투기 모델</a:t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551" name="Google Shape;551;p27"/>
          <p:cNvCxnSpPr/>
          <p:nvPr/>
        </p:nvCxnSpPr>
        <p:spPr>
          <a:xfrm>
            <a:off x="0" y="373189"/>
            <a:ext cx="4457700" cy="0"/>
          </a:xfrm>
          <a:prstGeom prst="straightConnector1">
            <a:avLst/>
          </a:prstGeom>
          <a:noFill/>
          <a:ln w="38100" cap="flat" cmpd="sng">
            <a:solidFill>
              <a:srgbClr val="9FE6FF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552" name="Google Shape;552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55295" y="444845"/>
            <a:ext cx="3442997" cy="1394902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27"/>
          <p:cNvSpPr txBox="1"/>
          <p:nvPr/>
        </p:nvSpPr>
        <p:spPr>
          <a:xfrm>
            <a:off x="6059633" y="4778268"/>
            <a:ext cx="5394425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50" b="1" i="1" u="sng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JSBSIM 동역학 제어기는 AIP에서 사용한 제어기의 성능 열화 버전을 기본 제공합니다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28"/>
          <p:cNvSpPr txBox="1"/>
          <p:nvPr/>
        </p:nvSpPr>
        <p:spPr>
          <a:xfrm>
            <a:off x="0" y="0"/>
            <a:ext cx="4705350" cy="449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algun Gothic"/>
              <a:buNone/>
            </a:pPr>
            <a:r>
              <a:rPr lang="ko-KR" sz="2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Rule Based 기반 모델</a:t>
            </a:r>
            <a:endParaRPr/>
          </a:p>
        </p:txBody>
      </p:sp>
      <p:cxnSp>
        <p:nvCxnSpPr>
          <p:cNvPr id="559" name="Google Shape;559;p28"/>
          <p:cNvCxnSpPr/>
          <p:nvPr/>
        </p:nvCxnSpPr>
        <p:spPr>
          <a:xfrm>
            <a:off x="0" y="373189"/>
            <a:ext cx="4457700" cy="0"/>
          </a:xfrm>
          <a:prstGeom prst="straightConnector1">
            <a:avLst/>
          </a:prstGeom>
          <a:noFill/>
          <a:ln w="38100" cap="flat" cmpd="sng">
            <a:solidFill>
              <a:srgbClr val="9FE6F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60" name="Google Shape;560;p28"/>
          <p:cNvSpPr txBox="1"/>
          <p:nvPr/>
        </p:nvSpPr>
        <p:spPr>
          <a:xfrm>
            <a:off x="1448006" y="6194426"/>
            <a:ext cx="295144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Rule-Based AI 전투기 모델</a:t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561" name="Google Shape;561;p28"/>
          <p:cNvGrpSpPr/>
          <p:nvPr/>
        </p:nvGrpSpPr>
        <p:grpSpPr>
          <a:xfrm>
            <a:off x="130408" y="1142216"/>
            <a:ext cx="4346153" cy="4573486"/>
            <a:chOff x="513760" y="1125486"/>
            <a:chExt cx="3591862" cy="3779740"/>
          </a:xfrm>
        </p:grpSpPr>
        <p:sp>
          <p:nvSpPr>
            <p:cNvPr id="562" name="Google Shape;562;p28"/>
            <p:cNvSpPr/>
            <p:nvPr/>
          </p:nvSpPr>
          <p:spPr>
            <a:xfrm>
              <a:off x="2298325" y="1974186"/>
              <a:ext cx="1377778" cy="364580"/>
            </a:xfrm>
            <a:prstGeom prst="rect">
              <a:avLst/>
            </a:prstGeom>
            <a:solidFill>
              <a:srgbClr val="5DFFA6"/>
            </a:solidFill>
            <a:ln w="19050" cap="flat" cmpd="sng">
              <a:solidFill>
                <a:srgbClr val="0C0C0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400" b="1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Behavior Tree</a:t>
              </a:r>
              <a:endParaRPr sz="14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63" name="Google Shape;563;p28"/>
            <p:cNvSpPr/>
            <p:nvPr/>
          </p:nvSpPr>
          <p:spPr>
            <a:xfrm>
              <a:off x="2298323" y="3156922"/>
              <a:ext cx="1377778" cy="364580"/>
            </a:xfrm>
            <a:prstGeom prst="rect">
              <a:avLst/>
            </a:prstGeom>
            <a:solidFill>
              <a:srgbClr val="9FE6FF"/>
            </a:solidFill>
            <a:ln w="19050" cap="flat" cmpd="sng">
              <a:solidFill>
                <a:srgbClr val="08283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400" b="1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JSBSIM</a:t>
              </a:r>
              <a:br>
                <a:rPr lang="ko-KR" sz="1400" b="1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lang="ko-KR" sz="1400" b="1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Controller</a:t>
              </a:r>
              <a:endParaRPr sz="14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64" name="Google Shape;564;p28"/>
            <p:cNvSpPr/>
            <p:nvPr/>
          </p:nvSpPr>
          <p:spPr>
            <a:xfrm>
              <a:off x="2298325" y="4540646"/>
              <a:ext cx="1377778" cy="364580"/>
            </a:xfrm>
            <a:prstGeom prst="rect">
              <a:avLst/>
            </a:prstGeom>
            <a:solidFill>
              <a:srgbClr val="FFC5C5"/>
            </a:solidFill>
            <a:ln w="19050" cap="flat" cmpd="sng">
              <a:solidFill>
                <a:srgbClr val="0C0C0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400" b="1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JSBSIM</a:t>
              </a:r>
              <a:endParaRPr sz="14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cxnSp>
          <p:nvCxnSpPr>
            <p:cNvPr id="565" name="Google Shape;565;p28"/>
            <p:cNvCxnSpPr>
              <a:stCxn id="562" idx="2"/>
              <a:endCxn id="563" idx="0"/>
            </p:cNvCxnSpPr>
            <p:nvPr/>
          </p:nvCxnSpPr>
          <p:spPr>
            <a:xfrm>
              <a:off x="2987214" y="2338766"/>
              <a:ext cx="0" cy="818100"/>
            </a:xfrm>
            <a:prstGeom prst="straightConnector1">
              <a:avLst/>
            </a:prstGeom>
            <a:noFill/>
            <a:ln w="19050" cap="flat" cmpd="sng">
              <a:solidFill>
                <a:srgbClr val="5DFFA6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566" name="Google Shape;566;p28"/>
            <p:cNvCxnSpPr>
              <a:stCxn id="563" idx="2"/>
              <a:endCxn id="564" idx="0"/>
            </p:cNvCxnSpPr>
            <p:nvPr/>
          </p:nvCxnSpPr>
          <p:spPr>
            <a:xfrm>
              <a:off x="2987212" y="3521502"/>
              <a:ext cx="0" cy="1019100"/>
            </a:xfrm>
            <a:prstGeom prst="straightConnector1">
              <a:avLst/>
            </a:prstGeom>
            <a:noFill/>
            <a:ln w="19050" cap="flat" cmpd="sng">
              <a:solidFill>
                <a:srgbClr val="9FE6FF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567" name="Google Shape;567;p28"/>
            <p:cNvCxnSpPr>
              <a:stCxn id="564" idx="2"/>
              <a:endCxn id="562" idx="1"/>
            </p:cNvCxnSpPr>
            <p:nvPr/>
          </p:nvCxnSpPr>
          <p:spPr>
            <a:xfrm rot="5400000" flipH="1">
              <a:off x="1268514" y="3186526"/>
              <a:ext cx="2748600" cy="688800"/>
            </a:xfrm>
            <a:prstGeom prst="bentConnector4">
              <a:avLst>
                <a:gd name="adj1" fmla="val 19563"/>
                <a:gd name="adj2" fmla="val 212824"/>
              </a:avLst>
            </a:prstGeom>
            <a:noFill/>
            <a:ln w="19050" cap="flat" cmpd="sng">
              <a:solidFill>
                <a:srgbClr val="FFC5C5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568" name="Google Shape;568;p28"/>
            <p:cNvCxnSpPr>
              <a:endCxn id="562" idx="0"/>
            </p:cNvCxnSpPr>
            <p:nvPr/>
          </p:nvCxnSpPr>
          <p:spPr>
            <a:xfrm>
              <a:off x="2987214" y="1125486"/>
              <a:ext cx="0" cy="848700"/>
            </a:xfrm>
            <a:prstGeom prst="straightConnector1">
              <a:avLst/>
            </a:prstGeom>
            <a:noFill/>
            <a:ln w="19050" cap="flat" cmpd="sng">
              <a:solidFill>
                <a:srgbClr val="C370DA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569" name="Google Shape;569;p28"/>
            <p:cNvSpPr txBox="1"/>
            <p:nvPr/>
          </p:nvSpPr>
          <p:spPr>
            <a:xfrm>
              <a:off x="513760" y="3644572"/>
              <a:ext cx="836454" cy="165335"/>
            </a:xfrm>
            <a:prstGeom prst="rect">
              <a:avLst/>
            </a:prstGeom>
            <a:solidFill>
              <a:srgbClr val="FFC5C5"/>
            </a:solidFill>
            <a:ln w="9525" cap="flat" cmpd="sng">
              <a:solidFill>
                <a:srgbClr val="FFC5C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700" b="1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위치, 자세, 속도</a:t>
              </a:r>
              <a:endParaRPr/>
            </a:p>
          </p:txBody>
        </p:sp>
        <p:sp>
          <p:nvSpPr>
            <p:cNvPr id="570" name="Google Shape;570;p28"/>
            <p:cNvSpPr txBox="1"/>
            <p:nvPr/>
          </p:nvSpPr>
          <p:spPr>
            <a:xfrm>
              <a:off x="2298323" y="1280580"/>
              <a:ext cx="1336984" cy="178053"/>
            </a:xfrm>
            <a:prstGeom prst="rect">
              <a:avLst/>
            </a:prstGeom>
            <a:solidFill>
              <a:srgbClr val="C370DA"/>
            </a:solidFill>
            <a:ln w="9525" cap="flat" cmpd="sng">
              <a:solidFill>
                <a:srgbClr val="C370D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800" b="1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상대 비행기의 위치, 자세, 속도</a:t>
              </a:r>
              <a:endParaRPr/>
            </a:p>
          </p:txBody>
        </p:sp>
        <p:sp>
          <p:nvSpPr>
            <p:cNvPr id="571" name="Google Shape;571;p28"/>
            <p:cNvSpPr txBox="1"/>
            <p:nvPr/>
          </p:nvSpPr>
          <p:spPr>
            <a:xfrm>
              <a:off x="2038522" y="3916766"/>
              <a:ext cx="948690" cy="165335"/>
            </a:xfrm>
            <a:prstGeom prst="rect">
              <a:avLst/>
            </a:prstGeom>
            <a:solidFill>
              <a:srgbClr val="9FE6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700" b="1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Cmd : roll, pitch, yaw</a:t>
              </a:r>
              <a:endParaRPr sz="7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cxnSp>
          <p:nvCxnSpPr>
            <p:cNvPr id="572" name="Google Shape;572;p28"/>
            <p:cNvCxnSpPr>
              <a:stCxn id="562" idx="2"/>
              <a:endCxn id="564" idx="3"/>
            </p:cNvCxnSpPr>
            <p:nvPr/>
          </p:nvCxnSpPr>
          <p:spPr>
            <a:xfrm rot="-5400000" flipH="1">
              <a:off x="2139564" y="3186416"/>
              <a:ext cx="2384100" cy="688800"/>
            </a:xfrm>
            <a:prstGeom prst="bentConnector4">
              <a:avLst>
                <a:gd name="adj1" fmla="val -4399"/>
                <a:gd name="adj2" fmla="val 118885"/>
              </a:avLst>
            </a:prstGeom>
            <a:noFill/>
            <a:ln w="12700" cap="flat" cmpd="sng">
              <a:solidFill>
                <a:srgbClr val="5DFFA6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573" name="Google Shape;573;p28"/>
            <p:cNvSpPr txBox="1"/>
            <p:nvPr/>
          </p:nvSpPr>
          <p:spPr>
            <a:xfrm>
              <a:off x="1518717" y="2726675"/>
              <a:ext cx="1468495" cy="165335"/>
            </a:xfrm>
            <a:prstGeom prst="rect">
              <a:avLst/>
            </a:prstGeom>
            <a:solidFill>
              <a:srgbClr val="5DFFA6"/>
            </a:solidFill>
            <a:ln w="9525" cap="flat" cmpd="sng">
              <a:solidFill>
                <a:srgbClr val="5DFFA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700" b="1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VirtualPoint : Location, Target Speed</a:t>
              </a:r>
              <a:endParaRPr sz="7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74" name="Google Shape;574;p28"/>
            <p:cNvSpPr txBox="1"/>
            <p:nvPr/>
          </p:nvSpPr>
          <p:spPr>
            <a:xfrm>
              <a:off x="3449010" y="3651885"/>
              <a:ext cx="656612" cy="165335"/>
            </a:xfrm>
            <a:prstGeom prst="rect">
              <a:avLst/>
            </a:prstGeom>
            <a:solidFill>
              <a:srgbClr val="5DFFA6"/>
            </a:solidFill>
            <a:ln w="9525" cap="flat" cmpd="sng">
              <a:solidFill>
                <a:srgbClr val="5DFFA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700" b="1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Throttle Cmd</a:t>
              </a:r>
              <a:endParaRPr sz="7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pic>
        <p:nvPicPr>
          <p:cNvPr id="575" name="Google Shape;575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64663" y="3468536"/>
            <a:ext cx="5950659" cy="3112965"/>
          </a:xfrm>
          <a:prstGeom prst="rect">
            <a:avLst/>
          </a:prstGeom>
          <a:noFill/>
          <a:ln w="9525" cap="flat" cmpd="sng">
            <a:solidFill>
              <a:srgbClr val="00B0F0"/>
            </a:solidFill>
            <a:prstDash val="solid"/>
            <a:round/>
            <a:headEnd type="none" w="sm" len="sm"/>
            <a:tailEnd type="none" w="sm" len="sm"/>
          </a:ln>
        </p:spPr>
      </p:pic>
      <p:grpSp>
        <p:nvGrpSpPr>
          <p:cNvPr id="576" name="Google Shape;576;p28"/>
          <p:cNvGrpSpPr/>
          <p:nvPr/>
        </p:nvGrpSpPr>
        <p:grpSpPr>
          <a:xfrm>
            <a:off x="5283695" y="698359"/>
            <a:ext cx="6472102" cy="2581351"/>
            <a:chOff x="5283695" y="698359"/>
            <a:chExt cx="6472102" cy="2581351"/>
          </a:xfrm>
        </p:grpSpPr>
        <p:pic>
          <p:nvPicPr>
            <p:cNvPr id="577" name="Google Shape;577;p28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283695" y="1824263"/>
              <a:ext cx="2520875" cy="145544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8" name="Google Shape;578;p28"/>
            <p:cNvSpPr/>
            <p:nvPr/>
          </p:nvSpPr>
          <p:spPr>
            <a:xfrm>
              <a:off x="10044245" y="698359"/>
              <a:ext cx="123564" cy="11233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cxnSp>
          <p:nvCxnSpPr>
            <p:cNvPr id="579" name="Google Shape;579;p28"/>
            <p:cNvCxnSpPr>
              <a:endCxn id="578" idx="3"/>
            </p:cNvCxnSpPr>
            <p:nvPr/>
          </p:nvCxnSpPr>
          <p:spPr>
            <a:xfrm rot="10800000" flipH="1">
              <a:off x="6479441" y="794240"/>
              <a:ext cx="3582900" cy="1713900"/>
            </a:xfrm>
            <a:prstGeom prst="straightConnector1">
              <a:avLst/>
            </a:prstGeom>
            <a:noFill/>
            <a:ln w="38100" cap="flat" cmpd="sng">
              <a:solidFill>
                <a:srgbClr val="7030A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580" name="Google Shape;580;p28"/>
            <p:cNvSpPr txBox="1"/>
            <p:nvPr/>
          </p:nvSpPr>
          <p:spPr>
            <a:xfrm>
              <a:off x="9881566" y="889925"/>
              <a:ext cx="1874231" cy="2616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100" b="1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목표점(VP : VirtualPoint) </a:t>
              </a:r>
              <a:endParaRPr sz="11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cxnSp>
          <p:nvCxnSpPr>
            <p:cNvPr id="581" name="Google Shape;581;p28"/>
            <p:cNvCxnSpPr/>
            <p:nvPr/>
          </p:nvCxnSpPr>
          <p:spPr>
            <a:xfrm rot="10800000" flipH="1">
              <a:off x="6479497" y="999934"/>
              <a:ext cx="2520876" cy="1508327"/>
            </a:xfrm>
            <a:prstGeom prst="straightConnector1">
              <a:avLst/>
            </a:prstGeom>
            <a:noFill/>
            <a:ln w="38100" cap="flat" cmpd="sng">
              <a:solidFill>
                <a:srgbClr val="FF000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582" name="Google Shape;582;p28"/>
            <p:cNvCxnSpPr>
              <a:endCxn id="578" idx="4"/>
            </p:cNvCxnSpPr>
            <p:nvPr/>
          </p:nvCxnSpPr>
          <p:spPr>
            <a:xfrm rot="10800000">
              <a:off x="10106027" y="810690"/>
              <a:ext cx="0" cy="1071900"/>
            </a:xfrm>
            <a:prstGeom prst="straightConnector1">
              <a:avLst/>
            </a:prstGeom>
            <a:noFill/>
            <a:ln w="9525" cap="flat" cmpd="sng">
              <a:solidFill>
                <a:srgbClr val="0070C0"/>
              </a:solidFill>
              <a:prstDash val="dashDot"/>
              <a:miter lim="800000"/>
              <a:headEnd type="none" w="sm" len="sm"/>
              <a:tailEnd type="none" w="sm" len="sm"/>
            </a:ln>
          </p:spPr>
        </p:cxnSp>
        <p:cxnSp>
          <p:nvCxnSpPr>
            <p:cNvPr id="583" name="Google Shape;583;p28"/>
            <p:cNvCxnSpPr/>
            <p:nvPr/>
          </p:nvCxnSpPr>
          <p:spPr>
            <a:xfrm rot="10800000" flipH="1">
              <a:off x="6509056" y="1828800"/>
              <a:ext cx="3596971" cy="679461"/>
            </a:xfrm>
            <a:prstGeom prst="straightConnector1">
              <a:avLst/>
            </a:prstGeom>
            <a:noFill/>
            <a:ln w="38100" cap="flat" cmpd="sng">
              <a:solidFill>
                <a:srgbClr val="FFC00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584" name="Google Shape;584;p28"/>
          <p:cNvSpPr/>
          <p:nvPr/>
        </p:nvSpPr>
        <p:spPr>
          <a:xfrm>
            <a:off x="5234335" y="584200"/>
            <a:ext cx="6524372" cy="2718884"/>
          </a:xfrm>
          <a:prstGeom prst="rect">
            <a:avLst/>
          </a:prstGeom>
          <a:noFill/>
          <a:ln w="19050" cap="flat" cmpd="sng">
            <a:solidFill>
              <a:srgbClr val="5DFF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585" name="Google Shape;585;p28"/>
          <p:cNvCxnSpPr>
            <a:endCxn id="584" idx="1"/>
          </p:cNvCxnSpPr>
          <p:nvPr/>
        </p:nvCxnSpPr>
        <p:spPr>
          <a:xfrm rot="10800000" flipH="1">
            <a:off x="3123235" y="1943642"/>
            <a:ext cx="2111100" cy="1236000"/>
          </a:xfrm>
          <a:prstGeom prst="bentConnector3">
            <a:avLst>
              <a:gd name="adj1" fmla="val 50000"/>
            </a:avLst>
          </a:prstGeom>
          <a:noFill/>
          <a:ln w="12700" cap="flat" cmpd="sng">
            <a:solidFill>
              <a:srgbClr val="00B050"/>
            </a:solidFill>
            <a:prstDash val="lgDash"/>
            <a:miter lim="800000"/>
            <a:headEnd type="none" w="sm" len="sm"/>
            <a:tailEnd type="none" w="sm" len="sm"/>
          </a:ln>
        </p:spPr>
      </p:cxnSp>
      <p:cxnSp>
        <p:nvCxnSpPr>
          <p:cNvPr id="586" name="Google Shape;586;p28"/>
          <p:cNvCxnSpPr>
            <a:endCxn id="575" idx="1"/>
          </p:cNvCxnSpPr>
          <p:nvPr/>
        </p:nvCxnSpPr>
        <p:spPr>
          <a:xfrm>
            <a:off x="3123263" y="4619719"/>
            <a:ext cx="2441400" cy="405300"/>
          </a:xfrm>
          <a:prstGeom prst="bentConnector3">
            <a:avLst>
              <a:gd name="adj1" fmla="val 50000"/>
            </a:avLst>
          </a:prstGeom>
          <a:noFill/>
          <a:ln w="12700" cap="flat" cmpd="sng">
            <a:solidFill>
              <a:srgbClr val="00B0F0"/>
            </a:solidFill>
            <a:prstDash val="lgDash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29"/>
          <p:cNvSpPr txBox="1"/>
          <p:nvPr/>
        </p:nvSpPr>
        <p:spPr>
          <a:xfrm>
            <a:off x="5133383" y="2479990"/>
            <a:ext cx="18288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92" name="Google Shape;592;p29"/>
          <p:cNvSpPr txBox="1"/>
          <p:nvPr/>
        </p:nvSpPr>
        <p:spPr>
          <a:xfrm>
            <a:off x="1517005" y="5722588"/>
            <a:ext cx="9296249" cy="646331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실제 AIP 프로젝트에서 사용한 제어기의 </a:t>
            </a:r>
            <a:r>
              <a:rPr lang="ko-KR" sz="1800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열화 버전.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성능의 고점을 보기 위해선 제어기의 수정 필요</a:t>
            </a:r>
            <a:endParaRPr sz="1800">
              <a:solidFill>
                <a:srgbClr val="FF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93" name="Google Shape;593;p29"/>
          <p:cNvSpPr/>
          <p:nvPr/>
        </p:nvSpPr>
        <p:spPr>
          <a:xfrm>
            <a:off x="4776106" y="1714356"/>
            <a:ext cx="1943100" cy="2963636"/>
          </a:xfrm>
          <a:prstGeom prst="rect">
            <a:avLst/>
          </a:prstGeom>
          <a:solidFill>
            <a:srgbClr val="93DCF8"/>
          </a:solidFill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제어기</a:t>
            </a:r>
            <a:b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JSBSIM Controller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94" name="Google Shape;594;p29"/>
          <p:cNvSpPr/>
          <p:nvPr/>
        </p:nvSpPr>
        <p:spPr>
          <a:xfrm>
            <a:off x="366161" y="1714356"/>
            <a:ext cx="1943100" cy="2963636"/>
          </a:xfrm>
          <a:prstGeom prst="rect">
            <a:avLst/>
          </a:prstGeom>
          <a:solidFill>
            <a:srgbClr val="5DFFA6"/>
          </a:solidFill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Behavior</a:t>
            </a:r>
            <a:b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Tree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595" name="Google Shape;595;p29"/>
          <p:cNvCxnSpPr>
            <a:stCxn id="594" idx="3"/>
            <a:endCxn id="593" idx="1"/>
          </p:cNvCxnSpPr>
          <p:nvPr/>
        </p:nvCxnSpPr>
        <p:spPr>
          <a:xfrm>
            <a:off x="2309261" y="3196174"/>
            <a:ext cx="2466900" cy="0"/>
          </a:xfrm>
          <a:prstGeom prst="straightConnector1">
            <a:avLst/>
          </a:prstGeom>
          <a:noFill/>
          <a:ln w="12700" cap="flat" cmpd="sng">
            <a:solidFill>
              <a:srgbClr val="5DFFA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596" name="Google Shape;596;p29"/>
          <p:cNvSpPr txBox="1"/>
          <p:nvPr/>
        </p:nvSpPr>
        <p:spPr>
          <a:xfrm>
            <a:off x="2493398" y="3292494"/>
            <a:ext cx="1643079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VP : 목적점</a:t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Vector(X, Y, Z)</a:t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597" name="Google Shape;597;p29"/>
          <p:cNvCxnSpPr>
            <a:stCxn id="593" idx="3"/>
            <a:endCxn id="598" idx="1"/>
          </p:cNvCxnSpPr>
          <p:nvPr/>
        </p:nvCxnSpPr>
        <p:spPr>
          <a:xfrm rot="10800000" flipH="1">
            <a:off x="6719206" y="3173974"/>
            <a:ext cx="3273900" cy="22200"/>
          </a:xfrm>
          <a:prstGeom prst="straightConnector1">
            <a:avLst/>
          </a:prstGeom>
          <a:noFill/>
          <a:ln w="12700" cap="flat" cmpd="sng">
            <a:solidFill>
              <a:srgbClr val="5DFFA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599" name="Google Shape;599;p29"/>
          <p:cNvSpPr txBox="1"/>
          <p:nvPr/>
        </p:nvSpPr>
        <p:spPr>
          <a:xfrm>
            <a:off x="6855075" y="3292494"/>
            <a:ext cx="265649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목적점을 바라보기 위한</a:t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제어값 Roll,  Pitch, Yaw</a:t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98" name="Google Shape;598;p29"/>
          <p:cNvSpPr/>
          <p:nvPr/>
        </p:nvSpPr>
        <p:spPr>
          <a:xfrm>
            <a:off x="9993086" y="1692255"/>
            <a:ext cx="1943100" cy="2963636"/>
          </a:xfrm>
          <a:prstGeom prst="rect">
            <a:avLst/>
          </a:prstGeom>
          <a:solidFill>
            <a:srgbClr val="FFA3A3"/>
          </a:solidFill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동역학</a:t>
            </a:r>
            <a:endParaRPr/>
          </a:p>
        </p:txBody>
      </p:sp>
      <p:cxnSp>
        <p:nvCxnSpPr>
          <p:cNvPr id="600" name="Google Shape;600;p29"/>
          <p:cNvCxnSpPr>
            <a:stCxn id="594" idx="2"/>
            <a:endCxn id="598" idx="2"/>
          </p:cNvCxnSpPr>
          <p:nvPr/>
        </p:nvCxnSpPr>
        <p:spPr>
          <a:xfrm rot="-5400000">
            <a:off x="6140111" y="-146608"/>
            <a:ext cx="22200" cy="9627000"/>
          </a:xfrm>
          <a:prstGeom prst="bentConnector3">
            <a:avLst>
              <a:gd name="adj1" fmla="val -1029729"/>
            </a:avLst>
          </a:prstGeom>
          <a:noFill/>
          <a:ln w="19050" cap="flat" cmpd="sng">
            <a:solidFill>
              <a:srgbClr val="5DFFA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601" name="Google Shape;601;p29"/>
          <p:cNvSpPr txBox="1"/>
          <p:nvPr/>
        </p:nvSpPr>
        <p:spPr>
          <a:xfrm>
            <a:off x="7383581" y="4578190"/>
            <a:ext cx="99732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Throttle</a:t>
            </a:r>
            <a:endParaRPr/>
          </a:p>
        </p:txBody>
      </p:sp>
      <p:pic>
        <p:nvPicPr>
          <p:cNvPr id="602" name="Google Shape;602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39" y="0"/>
            <a:ext cx="12185522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03" name="Google Shape;603;p29"/>
          <p:cNvSpPr txBox="1"/>
          <p:nvPr/>
        </p:nvSpPr>
        <p:spPr>
          <a:xfrm>
            <a:off x="0" y="0"/>
            <a:ext cx="12192000" cy="449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algun Gothic"/>
              <a:buNone/>
            </a:pPr>
            <a:r>
              <a:rPr lang="ko-KR" sz="2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제어기(JSBSIM Controller)의 역할</a:t>
            </a:r>
            <a:endParaRPr/>
          </a:p>
        </p:txBody>
      </p:sp>
      <p:cxnSp>
        <p:nvCxnSpPr>
          <p:cNvPr id="604" name="Google Shape;604;p29"/>
          <p:cNvCxnSpPr/>
          <p:nvPr/>
        </p:nvCxnSpPr>
        <p:spPr>
          <a:xfrm>
            <a:off x="0" y="369332"/>
            <a:ext cx="6165130" cy="0"/>
          </a:xfrm>
          <a:prstGeom prst="straightConnector1">
            <a:avLst/>
          </a:prstGeom>
          <a:noFill/>
          <a:ln w="19050" cap="flat" cmpd="sng">
            <a:solidFill>
              <a:srgbClr val="5DFFA6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30"/>
          <p:cNvSpPr txBox="1"/>
          <p:nvPr/>
        </p:nvSpPr>
        <p:spPr>
          <a:xfrm>
            <a:off x="0" y="0"/>
            <a:ext cx="3281668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학습 기반 모델의 구조</a:t>
            </a:r>
            <a:endParaRPr sz="24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11" name="Google Shape;611;p30"/>
          <p:cNvSpPr/>
          <p:nvPr/>
        </p:nvSpPr>
        <p:spPr>
          <a:xfrm>
            <a:off x="2643577" y="1786086"/>
            <a:ext cx="1549117" cy="716186"/>
          </a:xfrm>
          <a:prstGeom prst="rect">
            <a:avLst/>
          </a:prstGeom>
          <a:solidFill>
            <a:srgbClr val="C370DA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AI</a:t>
            </a:r>
            <a:endParaRPr sz="24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12" name="Google Shape;612;p30"/>
          <p:cNvSpPr/>
          <p:nvPr/>
        </p:nvSpPr>
        <p:spPr>
          <a:xfrm>
            <a:off x="2643577" y="4811570"/>
            <a:ext cx="1549117" cy="590491"/>
          </a:xfrm>
          <a:prstGeom prst="rect">
            <a:avLst/>
          </a:prstGeom>
          <a:solidFill>
            <a:srgbClr val="FFC5C5"/>
          </a:solidFill>
          <a:ln w="19050" cap="flat" cmpd="sng">
            <a:solidFill>
              <a:srgbClr val="FFC5C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JSBSIM</a:t>
            </a:r>
            <a:endParaRPr sz="18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613" name="Google Shape;613;p30"/>
          <p:cNvCxnSpPr>
            <a:stCxn id="611" idx="2"/>
            <a:endCxn id="612" idx="0"/>
          </p:cNvCxnSpPr>
          <p:nvPr/>
        </p:nvCxnSpPr>
        <p:spPr>
          <a:xfrm>
            <a:off x="3418136" y="2502272"/>
            <a:ext cx="0" cy="2309400"/>
          </a:xfrm>
          <a:prstGeom prst="straightConnector1">
            <a:avLst/>
          </a:prstGeom>
          <a:noFill/>
          <a:ln w="19050" cap="flat" cmpd="sng">
            <a:solidFill>
              <a:srgbClr val="5DFFA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614" name="Google Shape;614;p30"/>
          <p:cNvCxnSpPr>
            <a:stCxn id="612" idx="2"/>
            <a:endCxn id="611" idx="1"/>
          </p:cNvCxnSpPr>
          <p:nvPr/>
        </p:nvCxnSpPr>
        <p:spPr>
          <a:xfrm rot="5400000" flipH="1">
            <a:off x="1401836" y="3385761"/>
            <a:ext cx="3258000" cy="774600"/>
          </a:xfrm>
          <a:prstGeom prst="bentConnector4">
            <a:avLst>
              <a:gd name="adj1" fmla="val -8657"/>
              <a:gd name="adj2" fmla="val 285531"/>
            </a:avLst>
          </a:prstGeom>
          <a:noFill/>
          <a:ln w="19050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615" name="Google Shape;615;p30"/>
          <p:cNvCxnSpPr>
            <a:endCxn id="611" idx="0"/>
          </p:cNvCxnSpPr>
          <p:nvPr/>
        </p:nvCxnSpPr>
        <p:spPr>
          <a:xfrm>
            <a:off x="3418136" y="840486"/>
            <a:ext cx="0" cy="945600"/>
          </a:xfrm>
          <a:prstGeom prst="straightConnector1">
            <a:avLst/>
          </a:prstGeom>
          <a:noFill/>
          <a:ln w="19050" cap="flat" cmpd="sng">
            <a:solidFill>
              <a:srgbClr val="9FE6FF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616" name="Google Shape;616;p30"/>
          <p:cNvSpPr txBox="1"/>
          <p:nvPr/>
        </p:nvSpPr>
        <p:spPr>
          <a:xfrm>
            <a:off x="1199157" y="3660180"/>
            <a:ext cx="1444417" cy="246221"/>
          </a:xfrm>
          <a:prstGeom prst="rect">
            <a:avLst/>
          </a:prstGeom>
          <a:solidFill>
            <a:srgbClr val="FF0000"/>
          </a:solidFill>
          <a:ln w="9525" cap="flat" cmpd="sng">
            <a:solidFill>
              <a:srgbClr val="FFC5C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내 위치, 자세, 속도</a:t>
            </a:r>
            <a:endParaRPr/>
          </a:p>
        </p:txBody>
      </p:sp>
      <p:sp>
        <p:nvSpPr>
          <p:cNvPr id="617" name="Google Shape;617;p30"/>
          <p:cNvSpPr txBox="1"/>
          <p:nvPr/>
        </p:nvSpPr>
        <p:spPr>
          <a:xfrm>
            <a:off x="3418135" y="1057786"/>
            <a:ext cx="2063385" cy="253916"/>
          </a:xfrm>
          <a:prstGeom prst="rect">
            <a:avLst/>
          </a:prstGeom>
          <a:solidFill>
            <a:srgbClr val="9FE6FF"/>
          </a:solidFill>
          <a:ln w="9525" cap="flat" cmpd="sng">
            <a:solidFill>
              <a:srgbClr val="9FE6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5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상대 비행기의 위치, 자세, 속도</a:t>
            </a:r>
            <a:endParaRPr/>
          </a:p>
        </p:txBody>
      </p:sp>
      <p:sp>
        <p:nvSpPr>
          <p:cNvPr id="618" name="Google Shape;618;p30"/>
          <p:cNvSpPr txBox="1"/>
          <p:nvPr/>
        </p:nvSpPr>
        <p:spPr>
          <a:xfrm>
            <a:off x="3418134" y="3220890"/>
            <a:ext cx="2233364" cy="400110"/>
          </a:xfrm>
          <a:prstGeom prst="rect">
            <a:avLst/>
          </a:prstGeom>
          <a:solidFill>
            <a:srgbClr val="5DFFA6"/>
          </a:solidFill>
          <a:ln w="9525" cap="flat" cmpd="sng">
            <a:solidFill>
              <a:srgbClr val="5DFFA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>
                <a:solidFill>
                  <a:srgbClr val="171717"/>
                </a:solidFill>
                <a:latin typeface="Malgun Gothic"/>
                <a:ea typeface="Malgun Gothic"/>
                <a:cs typeface="Malgun Gothic"/>
                <a:sym typeface="Malgun Gothic"/>
              </a:rPr>
              <a:t>조종값(CMD) :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>
                <a:solidFill>
                  <a:srgbClr val="171717"/>
                </a:solidFill>
                <a:latin typeface="Malgun Gothic"/>
                <a:ea typeface="Malgun Gothic"/>
                <a:cs typeface="Malgun Gothic"/>
                <a:sym typeface="Malgun Gothic"/>
              </a:rPr>
              <a:t>Roll, Pitch, Yaw, Throttle</a:t>
            </a:r>
            <a:endParaRPr sz="1000" b="1">
              <a:solidFill>
                <a:srgbClr val="171717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19" name="Google Shape;619;p30"/>
          <p:cNvSpPr txBox="1"/>
          <p:nvPr/>
        </p:nvSpPr>
        <p:spPr>
          <a:xfrm>
            <a:off x="6371544" y="1786086"/>
            <a:ext cx="5345758" cy="1492716"/>
          </a:xfrm>
          <a:prstGeom prst="rect">
            <a:avLst/>
          </a:prstGeom>
          <a:noFill/>
          <a:ln w="9525" cap="flat" cmpd="sng">
            <a:solidFill>
              <a:srgbClr val="C370D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AI : </a:t>
            </a:r>
            <a:r>
              <a:rPr lang="ko-KR"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자신의 정보와 상대의 정보를 입력하여 조종 최적의 조종값을 생성</a:t>
            </a:r>
            <a:endParaRPr sz="12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	</a:t>
            </a:r>
            <a:r>
              <a:rPr lang="ko-KR" sz="11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입력값</a:t>
            </a:r>
            <a:endParaRPr sz="11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		자신의 비행기 정보</a:t>
            </a:r>
            <a:endParaRPr sz="11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		상대 비행기의 정보</a:t>
            </a:r>
            <a:endParaRPr sz="11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	출력값</a:t>
            </a:r>
            <a:endParaRPr sz="11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		조종값(Roll, Pitch, Yaw, Throttle)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20" name="Google Shape;620;p30"/>
          <p:cNvSpPr txBox="1"/>
          <p:nvPr/>
        </p:nvSpPr>
        <p:spPr>
          <a:xfrm>
            <a:off x="6371544" y="4909542"/>
            <a:ext cx="5124815" cy="1492716"/>
          </a:xfrm>
          <a:prstGeom prst="rect">
            <a:avLst/>
          </a:prstGeom>
          <a:noFill/>
          <a:ln w="9525" cap="flat" cmpd="sng">
            <a:solidFill>
              <a:srgbClr val="FFC5C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동역학 : </a:t>
            </a:r>
            <a:r>
              <a:rPr lang="ko-KR"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조종값을 입력받아 비행기의 비행 역학을 시뮬레이션</a:t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	</a:t>
            </a:r>
            <a:r>
              <a:rPr lang="ko-KR" sz="11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입력값</a:t>
            </a:r>
            <a:endParaRPr sz="11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		Roll, Pitch, Yaw 조종값</a:t>
            </a:r>
            <a:endParaRPr sz="11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		Throttle 조정값</a:t>
            </a:r>
            <a:endParaRPr sz="11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	출력값</a:t>
            </a:r>
            <a:endParaRPr sz="11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		위치, 자세, 속도 등의 전투기 시뮬레이션 정보</a:t>
            </a:r>
            <a:endParaRPr sz="11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				</a:t>
            </a:r>
            <a:endParaRPr/>
          </a:p>
        </p:txBody>
      </p:sp>
      <p:cxnSp>
        <p:nvCxnSpPr>
          <p:cNvPr id="621" name="Google Shape;621;p30"/>
          <p:cNvCxnSpPr/>
          <p:nvPr/>
        </p:nvCxnSpPr>
        <p:spPr>
          <a:xfrm>
            <a:off x="0" y="369332"/>
            <a:ext cx="6165130" cy="0"/>
          </a:xfrm>
          <a:prstGeom prst="straightConnector1">
            <a:avLst/>
          </a:prstGeom>
          <a:noFill/>
          <a:ln w="19050" cap="flat" cmpd="sng">
            <a:solidFill>
              <a:srgbClr val="5DFFA6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26" name="Google Shape;626;p31"/>
          <p:cNvCxnSpPr>
            <a:stCxn id="627" idx="2"/>
          </p:cNvCxnSpPr>
          <p:nvPr/>
        </p:nvCxnSpPr>
        <p:spPr>
          <a:xfrm>
            <a:off x="4407748" y="3160230"/>
            <a:ext cx="0" cy="1502100"/>
          </a:xfrm>
          <a:prstGeom prst="straightConnector1">
            <a:avLst/>
          </a:prstGeom>
          <a:noFill/>
          <a:ln w="19050" cap="flat" cmpd="sng">
            <a:solidFill>
              <a:srgbClr val="00B0F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628" name="Google Shape;628;p31"/>
          <p:cNvCxnSpPr/>
          <p:nvPr/>
        </p:nvCxnSpPr>
        <p:spPr>
          <a:xfrm>
            <a:off x="7454046" y="800100"/>
            <a:ext cx="23547" cy="4011850"/>
          </a:xfrm>
          <a:prstGeom prst="straightConnector1">
            <a:avLst/>
          </a:prstGeom>
          <a:noFill/>
          <a:ln w="19050" cap="flat" cmpd="sng">
            <a:solidFill>
              <a:srgbClr val="00B0F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629" name="Google Shape;629;p31"/>
          <p:cNvCxnSpPr/>
          <p:nvPr/>
        </p:nvCxnSpPr>
        <p:spPr>
          <a:xfrm>
            <a:off x="1263649" y="964525"/>
            <a:ext cx="0" cy="3797300"/>
          </a:xfrm>
          <a:prstGeom prst="straightConnector1">
            <a:avLst/>
          </a:prstGeom>
          <a:noFill/>
          <a:ln w="19050" cap="flat" cmpd="sng">
            <a:solidFill>
              <a:srgbClr val="00B0F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630" name="Google Shape;630;p31"/>
          <p:cNvSpPr txBox="1"/>
          <p:nvPr/>
        </p:nvSpPr>
        <p:spPr>
          <a:xfrm>
            <a:off x="0" y="0"/>
            <a:ext cx="4705350" cy="449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algun Gothic"/>
              <a:buNone/>
            </a:pPr>
            <a:r>
              <a:rPr lang="ko-KR" sz="2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Advanced 모델 예시</a:t>
            </a:r>
            <a:endParaRPr/>
          </a:p>
        </p:txBody>
      </p:sp>
      <p:cxnSp>
        <p:nvCxnSpPr>
          <p:cNvPr id="631" name="Google Shape;631;p31"/>
          <p:cNvCxnSpPr/>
          <p:nvPr/>
        </p:nvCxnSpPr>
        <p:spPr>
          <a:xfrm>
            <a:off x="0" y="373189"/>
            <a:ext cx="4457700" cy="0"/>
          </a:xfrm>
          <a:prstGeom prst="straightConnector1">
            <a:avLst/>
          </a:prstGeom>
          <a:noFill/>
          <a:ln w="38100" cap="flat" cmpd="sng">
            <a:solidFill>
              <a:srgbClr val="9FE6F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32" name="Google Shape;632;p31"/>
          <p:cNvSpPr/>
          <p:nvPr/>
        </p:nvSpPr>
        <p:spPr>
          <a:xfrm>
            <a:off x="430094" y="1352509"/>
            <a:ext cx="1667111" cy="441142"/>
          </a:xfrm>
          <a:prstGeom prst="rect">
            <a:avLst/>
          </a:prstGeom>
          <a:solidFill>
            <a:srgbClr val="5DFFA6"/>
          </a:solidFill>
          <a:ln w="19050" cap="flat" cmpd="sng">
            <a:solidFill>
              <a:srgbClr val="0C0C0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Behavior Tree</a:t>
            </a:r>
            <a:br>
              <a:rPr lang="ko-KR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-KR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전술 판단</a:t>
            </a:r>
            <a:endParaRPr/>
          </a:p>
        </p:txBody>
      </p:sp>
      <p:sp>
        <p:nvSpPr>
          <p:cNvPr id="627" name="Google Shape;627;p31"/>
          <p:cNvSpPr/>
          <p:nvPr/>
        </p:nvSpPr>
        <p:spPr>
          <a:xfrm>
            <a:off x="3574192" y="2719088"/>
            <a:ext cx="1667111" cy="441142"/>
          </a:xfrm>
          <a:prstGeom prst="rect">
            <a:avLst/>
          </a:prstGeom>
          <a:solidFill>
            <a:srgbClr val="9FE6FF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JSBSIM</a:t>
            </a:r>
            <a:br>
              <a:rPr lang="ko-KR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-KR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Controller</a:t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33" name="Google Shape;633;p31"/>
          <p:cNvSpPr/>
          <p:nvPr/>
        </p:nvSpPr>
        <p:spPr>
          <a:xfrm>
            <a:off x="469899" y="2335625"/>
            <a:ext cx="1587500" cy="667919"/>
          </a:xfrm>
          <a:prstGeom prst="rect">
            <a:avLst/>
          </a:prstGeom>
          <a:solidFill>
            <a:srgbClr val="00B050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Reinforcement Learning AI</a:t>
            </a:r>
            <a:br>
              <a:rPr lang="ko-KR" sz="11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-KR" sz="11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전투기 조종</a:t>
            </a:r>
            <a:endParaRPr/>
          </a:p>
        </p:txBody>
      </p:sp>
      <p:sp>
        <p:nvSpPr>
          <p:cNvPr id="634" name="Google Shape;634;p31"/>
          <p:cNvSpPr/>
          <p:nvPr/>
        </p:nvSpPr>
        <p:spPr>
          <a:xfrm>
            <a:off x="430094" y="3778789"/>
            <a:ext cx="1667111" cy="441142"/>
          </a:xfrm>
          <a:prstGeom prst="rect">
            <a:avLst/>
          </a:prstGeom>
          <a:solidFill>
            <a:srgbClr val="FFC5C5"/>
          </a:solidFill>
          <a:ln w="19050" cap="flat" cmpd="sng">
            <a:solidFill>
              <a:srgbClr val="0C0C0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JSBSIM</a:t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35" name="Google Shape;635;p31"/>
          <p:cNvSpPr/>
          <p:nvPr/>
        </p:nvSpPr>
        <p:spPr>
          <a:xfrm>
            <a:off x="2738166" y="1298627"/>
            <a:ext cx="1667111" cy="441142"/>
          </a:xfrm>
          <a:prstGeom prst="rect">
            <a:avLst/>
          </a:prstGeom>
          <a:solidFill>
            <a:srgbClr val="5DFFA6"/>
          </a:solidFill>
          <a:ln w="19050" cap="flat" cmpd="sng">
            <a:solidFill>
              <a:srgbClr val="0C0C0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Behavior Tree</a:t>
            </a:r>
            <a:br>
              <a:rPr lang="ko-KR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-KR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전술 판단 1</a:t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36" name="Google Shape;636;p31"/>
          <p:cNvSpPr/>
          <p:nvPr/>
        </p:nvSpPr>
        <p:spPr>
          <a:xfrm>
            <a:off x="4678711" y="1087780"/>
            <a:ext cx="1587500" cy="667919"/>
          </a:xfrm>
          <a:prstGeom prst="rect">
            <a:avLst/>
          </a:prstGeom>
          <a:solidFill>
            <a:srgbClr val="00B050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Reinforcement Learning AI</a:t>
            </a:r>
            <a:br>
              <a:rPr lang="ko-KR" sz="11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-KR" sz="11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전술판단 2</a:t>
            </a:r>
            <a:endParaRPr sz="11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37" name="Google Shape;637;p31"/>
          <p:cNvSpPr/>
          <p:nvPr/>
        </p:nvSpPr>
        <p:spPr>
          <a:xfrm>
            <a:off x="3574193" y="3842437"/>
            <a:ext cx="1667111" cy="441142"/>
          </a:xfrm>
          <a:prstGeom prst="rect">
            <a:avLst/>
          </a:prstGeom>
          <a:solidFill>
            <a:srgbClr val="FFC5C5"/>
          </a:solidFill>
          <a:ln w="19050" cap="flat" cmpd="sng">
            <a:solidFill>
              <a:srgbClr val="0C0C0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JSBSIM</a:t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38" name="Google Shape;638;p31"/>
          <p:cNvSpPr/>
          <p:nvPr/>
        </p:nvSpPr>
        <p:spPr>
          <a:xfrm>
            <a:off x="6634893" y="2598290"/>
            <a:ext cx="1667111" cy="441142"/>
          </a:xfrm>
          <a:prstGeom prst="rect">
            <a:avLst/>
          </a:prstGeom>
          <a:solidFill>
            <a:srgbClr val="9FE6FF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JSBSIM</a:t>
            </a:r>
            <a:br>
              <a:rPr lang="ko-KR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-KR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Controller</a:t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39" name="Google Shape;639;p31"/>
          <p:cNvSpPr/>
          <p:nvPr/>
        </p:nvSpPr>
        <p:spPr>
          <a:xfrm>
            <a:off x="6683843" y="1030630"/>
            <a:ext cx="1587500" cy="667919"/>
          </a:xfrm>
          <a:prstGeom prst="rect">
            <a:avLst/>
          </a:prstGeom>
          <a:solidFill>
            <a:srgbClr val="00B050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Reinforcement Learning AI</a:t>
            </a:r>
            <a:br>
              <a:rPr lang="ko-KR" sz="11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-KR" sz="11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전술판단</a:t>
            </a:r>
            <a:endParaRPr/>
          </a:p>
        </p:txBody>
      </p:sp>
      <p:sp>
        <p:nvSpPr>
          <p:cNvPr id="640" name="Google Shape;640;p31"/>
          <p:cNvSpPr/>
          <p:nvPr/>
        </p:nvSpPr>
        <p:spPr>
          <a:xfrm>
            <a:off x="6634894" y="3721639"/>
            <a:ext cx="1667111" cy="441142"/>
          </a:xfrm>
          <a:prstGeom prst="rect">
            <a:avLst/>
          </a:prstGeom>
          <a:solidFill>
            <a:srgbClr val="FFC5C5"/>
          </a:solidFill>
          <a:ln w="19050" cap="flat" cmpd="sng">
            <a:solidFill>
              <a:srgbClr val="0C0C0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JSBSIM</a:t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641" name="Google Shape;641;p31"/>
          <p:cNvCxnSpPr>
            <a:stCxn id="635" idx="2"/>
            <a:endCxn id="627" idx="0"/>
          </p:cNvCxnSpPr>
          <p:nvPr/>
        </p:nvCxnSpPr>
        <p:spPr>
          <a:xfrm>
            <a:off x="3571721" y="1739769"/>
            <a:ext cx="836100" cy="979200"/>
          </a:xfrm>
          <a:prstGeom prst="straightConnector1">
            <a:avLst/>
          </a:prstGeom>
          <a:noFill/>
          <a:ln w="19050" cap="flat" cmpd="sng">
            <a:solidFill>
              <a:srgbClr val="00B0F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642" name="Google Shape;642;p31"/>
          <p:cNvCxnSpPr>
            <a:stCxn id="636" idx="2"/>
            <a:endCxn id="627" idx="0"/>
          </p:cNvCxnSpPr>
          <p:nvPr/>
        </p:nvCxnSpPr>
        <p:spPr>
          <a:xfrm flipH="1">
            <a:off x="4407761" y="1755699"/>
            <a:ext cx="1064700" cy="963300"/>
          </a:xfrm>
          <a:prstGeom prst="straightConnector1">
            <a:avLst/>
          </a:prstGeom>
          <a:noFill/>
          <a:ln w="19050" cap="flat" cmpd="sng">
            <a:solidFill>
              <a:srgbClr val="00B0F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643" name="Google Shape;643;p31"/>
          <p:cNvSpPr txBox="1"/>
          <p:nvPr/>
        </p:nvSpPr>
        <p:spPr>
          <a:xfrm>
            <a:off x="469899" y="5351494"/>
            <a:ext cx="8804013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여러 조합의 방법을 사용 가능, 무슨 수를 써서라도 접속기에 붙이기만 하면 됩니다.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참가팀 여러분의 익숙한 AI 방식, 생각하기에 좋아 보이는 방향성 등</a:t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가장 성능 좋을 것 같은 방향으로 준비하세요</a:t>
            </a:r>
            <a:endParaRPr/>
          </a:p>
        </p:txBody>
      </p:sp>
      <p:sp>
        <p:nvSpPr>
          <p:cNvPr id="644" name="Google Shape;644;p31"/>
          <p:cNvSpPr/>
          <p:nvPr/>
        </p:nvSpPr>
        <p:spPr>
          <a:xfrm>
            <a:off x="8665428" y="2598290"/>
            <a:ext cx="1667111" cy="441142"/>
          </a:xfrm>
          <a:prstGeom prst="rect">
            <a:avLst/>
          </a:prstGeom>
          <a:solidFill>
            <a:srgbClr val="9FE6FF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JSBSIM</a:t>
            </a:r>
            <a:br>
              <a:rPr lang="ko-KR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-KR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Controller</a:t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45" name="Google Shape;645;p31"/>
          <p:cNvSpPr/>
          <p:nvPr/>
        </p:nvSpPr>
        <p:spPr>
          <a:xfrm>
            <a:off x="9363308" y="1131938"/>
            <a:ext cx="1667111" cy="441142"/>
          </a:xfrm>
          <a:prstGeom prst="rect">
            <a:avLst/>
          </a:prstGeom>
          <a:solidFill>
            <a:srgbClr val="5DFFA6"/>
          </a:solidFill>
          <a:ln w="19050" cap="flat" cmpd="sng">
            <a:solidFill>
              <a:srgbClr val="0C0C0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Behavior Tree</a:t>
            </a:r>
            <a:br>
              <a:rPr lang="ko-KR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-KR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전술 판단 1</a:t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46" name="Google Shape;646;p31"/>
          <p:cNvSpPr/>
          <p:nvPr/>
        </p:nvSpPr>
        <p:spPr>
          <a:xfrm>
            <a:off x="10598144" y="2468442"/>
            <a:ext cx="1587500" cy="667919"/>
          </a:xfrm>
          <a:prstGeom prst="rect">
            <a:avLst/>
          </a:prstGeom>
          <a:solidFill>
            <a:srgbClr val="00B050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Reinforcement Learning AI</a:t>
            </a:r>
            <a:br>
              <a:rPr lang="ko-KR" sz="11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-KR" sz="11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Throttle 관리</a:t>
            </a:r>
            <a:endParaRPr/>
          </a:p>
        </p:txBody>
      </p:sp>
      <p:sp>
        <p:nvSpPr>
          <p:cNvPr id="647" name="Google Shape;647;p31"/>
          <p:cNvSpPr/>
          <p:nvPr/>
        </p:nvSpPr>
        <p:spPr>
          <a:xfrm>
            <a:off x="9464437" y="3721639"/>
            <a:ext cx="1667111" cy="441142"/>
          </a:xfrm>
          <a:prstGeom prst="rect">
            <a:avLst/>
          </a:prstGeom>
          <a:solidFill>
            <a:srgbClr val="FFC5C5"/>
          </a:solidFill>
          <a:ln w="19050" cap="flat" cmpd="sng">
            <a:solidFill>
              <a:srgbClr val="0C0C0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JSBSIM</a:t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648" name="Google Shape;648;p31"/>
          <p:cNvCxnSpPr>
            <a:stCxn id="645" idx="2"/>
            <a:endCxn id="644" idx="0"/>
          </p:cNvCxnSpPr>
          <p:nvPr/>
        </p:nvCxnSpPr>
        <p:spPr>
          <a:xfrm flipH="1">
            <a:off x="9499064" y="1573080"/>
            <a:ext cx="697800" cy="1025100"/>
          </a:xfrm>
          <a:prstGeom prst="straightConnector1">
            <a:avLst/>
          </a:prstGeom>
          <a:noFill/>
          <a:ln w="19050" cap="flat" cmpd="sng">
            <a:solidFill>
              <a:srgbClr val="00B0F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649" name="Google Shape;649;p31"/>
          <p:cNvCxnSpPr>
            <a:stCxn id="646" idx="2"/>
            <a:endCxn id="647" idx="0"/>
          </p:cNvCxnSpPr>
          <p:nvPr/>
        </p:nvCxnSpPr>
        <p:spPr>
          <a:xfrm flipH="1">
            <a:off x="10298094" y="3136361"/>
            <a:ext cx="1093800" cy="585300"/>
          </a:xfrm>
          <a:prstGeom prst="straightConnector1">
            <a:avLst/>
          </a:prstGeom>
          <a:noFill/>
          <a:ln w="19050" cap="flat" cmpd="sng">
            <a:solidFill>
              <a:srgbClr val="00B0F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650" name="Google Shape;650;p31"/>
          <p:cNvCxnSpPr>
            <a:stCxn id="644" idx="2"/>
            <a:endCxn id="647" idx="0"/>
          </p:cNvCxnSpPr>
          <p:nvPr/>
        </p:nvCxnSpPr>
        <p:spPr>
          <a:xfrm>
            <a:off x="9498984" y="3039432"/>
            <a:ext cx="798900" cy="682200"/>
          </a:xfrm>
          <a:prstGeom prst="straightConnector1">
            <a:avLst/>
          </a:prstGeom>
          <a:noFill/>
          <a:ln w="19050" cap="flat" cmpd="sng">
            <a:solidFill>
              <a:srgbClr val="00B0F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651" name="Google Shape;651;p31"/>
          <p:cNvCxnSpPr>
            <a:stCxn id="647" idx="2"/>
          </p:cNvCxnSpPr>
          <p:nvPr/>
        </p:nvCxnSpPr>
        <p:spPr>
          <a:xfrm>
            <a:off x="10297993" y="4162781"/>
            <a:ext cx="0" cy="649200"/>
          </a:xfrm>
          <a:prstGeom prst="straightConnector1">
            <a:avLst/>
          </a:prstGeom>
          <a:noFill/>
          <a:ln w="19050" cap="flat" cmpd="sng">
            <a:solidFill>
              <a:srgbClr val="00B0F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652" name="Google Shape;652;p31"/>
          <p:cNvCxnSpPr>
            <a:endCxn id="646" idx="0"/>
          </p:cNvCxnSpPr>
          <p:nvPr/>
        </p:nvCxnSpPr>
        <p:spPr>
          <a:xfrm>
            <a:off x="11048994" y="373242"/>
            <a:ext cx="342900" cy="2095200"/>
          </a:xfrm>
          <a:prstGeom prst="straightConnector1">
            <a:avLst/>
          </a:prstGeom>
          <a:noFill/>
          <a:ln w="19050" cap="flat" cmpd="sng">
            <a:solidFill>
              <a:srgbClr val="00B0F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653" name="Google Shape;653;p31"/>
          <p:cNvCxnSpPr>
            <a:endCxn id="645" idx="0"/>
          </p:cNvCxnSpPr>
          <p:nvPr/>
        </p:nvCxnSpPr>
        <p:spPr>
          <a:xfrm flipH="1">
            <a:off x="10196864" y="373238"/>
            <a:ext cx="852300" cy="758700"/>
          </a:xfrm>
          <a:prstGeom prst="straightConnector1">
            <a:avLst/>
          </a:prstGeom>
          <a:noFill/>
          <a:ln w="19050" cap="flat" cmpd="sng">
            <a:solidFill>
              <a:srgbClr val="00B0F0"/>
            </a:solidFill>
            <a:prstDash val="solid"/>
            <a:miter lim="800000"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32"/>
          <p:cNvSpPr txBox="1"/>
          <p:nvPr/>
        </p:nvSpPr>
        <p:spPr>
          <a:xfrm>
            <a:off x="6038850" y="3575050"/>
            <a:ext cx="6038850" cy="2954655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특강 1일차</a:t>
            </a: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: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>
                <a:solidFill>
                  <a:srgbClr val="0070C0"/>
                </a:solidFill>
                <a:latin typeface="Malgun Gothic"/>
                <a:ea typeface="Malgun Gothic"/>
                <a:cs typeface="Malgun Gothic"/>
                <a:sym typeface="Malgun Gothic"/>
              </a:rPr>
              <a:t>	#Orientation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>
                <a:solidFill>
                  <a:srgbClr val="0070C0"/>
                </a:solidFill>
                <a:latin typeface="Malgun Gothic"/>
                <a:ea typeface="Malgun Gothic"/>
                <a:cs typeface="Malgun Gothic"/>
                <a:sym typeface="Malgun Gothic"/>
              </a:rPr>
              <a:t>		- 대회 소개</a:t>
            </a:r>
            <a:endParaRPr sz="1800" b="1">
              <a:solidFill>
                <a:srgbClr val="0070C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>
                <a:solidFill>
                  <a:srgbClr val="0070C0"/>
                </a:solidFill>
                <a:latin typeface="Malgun Gothic"/>
                <a:ea typeface="Malgun Gothic"/>
                <a:cs typeface="Malgun Gothic"/>
                <a:sym typeface="Malgun Gothic"/>
              </a:rPr>
              <a:t>		- 교전 룰 소개</a:t>
            </a:r>
            <a:endParaRPr sz="1800" b="1">
              <a:solidFill>
                <a:srgbClr val="0070C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>
                <a:solidFill>
                  <a:srgbClr val="0070C0"/>
                </a:solidFill>
                <a:latin typeface="Malgun Gothic"/>
                <a:ea typeface="Malgun Gothic"/>
                <a:cs typeface="Malgun Gothic"/>
                <a:sym typeface="Malgun Gothic"/>
              </a:rPr>
              <a:t>		- 개발 환경 &amp; 대회 경기 환경 소개</a:t>
            </a:r>
            <a:endParaRPr sz="1800" b="1">
              <a:solidFill>
                <a:srgbClr val="0070C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	</a:t>
            </a: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#전투기 AI에 대하여</a:t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	#Behavior Tree 기반 AI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	#실습</a:t>
            </a:r>
            <a:endParaRPr/>
          </a:p>
        </p:txBody>
      </p:sp>
      <p:pic>
        <p:nvPicPr>
          <p:cNvPr id="660" name="Google Shape;660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39" y="0"/>
            <a:ext cx="12185522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61" name="Google Shape;661;p32"/>
          <p:cNvCxnSpPr/>
          <p:nvPr/>
        </p:nvCxnSpPr>
        <p:spPr>
          <a:xfrm>
            <a:off x="4000500" y="5365750"/>
            <a:ext cx="7296150" cy="0"/>
          </a:xfrm>
          <a:prstGeom prst="straightConnector1">
            <a:avLst/>
          </a:prstGeom>
          <a:noFill/>
          <a:ln w="19050" cap="flat" cmpd="sng">
            <a:solidFill>
              <a:srgbClr val="5DFFA6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33"/>
          <p:cNvSpPr txBox="1"/>
          <p:nvPr/>
        </p:nvSpPr>
        <p:spPr>
          <a:xfrm>
            <a:off x="-1" y="0"/>
            <a:ext cx="6033705" cy="449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algun Gothic"/>
              <a:buNone/>
            </a:pPr>
            <a:r>
              <a:rPr lang="ko-KR" sz="2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Behavior Tree ???</a:t>
            </a:r>
            <a:endParaRPr sz="24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667" name="Google Shape;667;p33"/>
          <p:cNvCxnSpPr/>
          <p:nvPr/>
        </p:nvCxnSpPr>
        <p:spPr>
          <a:xfrm>
            <a:off x="0" y="373189"/>
            <a:ext cx="6520940" cy="0"/>
          </a:xfrm>
          <a:prstGeom prst="straightConnector1">
            <a:avLst/>
          </a:prstGeom>
          <a:noFill/>
          <a:ln w="19050" cap="flat" cmpd="sng">
            <a:solidFill>
              <a:srgbClr val="5DFFA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68" name="Google Shape;668;p33"/>
          <p:cNvSpPr txBox="1"/>
          <p:nvPr/>
        </p:nvSpPr>
        <p:spPr>
          <a:xfrm>
            <a:off x="285021" y="887703"/>
            <a:ext cx="10118796" cy="1138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AI가 뭘 해야 할지 정하는 일종의 할 일 리스트 &amp; 선택기</a:t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	</a:t>
            </a:r>
            <a:r>
              <a:rPr lang="ko-KR" sz="16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-AI가 지금 현 상황에서 뭘 해야하는지 결정하도록 하는 구조</a:t>
            </a:r>
            <a:endParaRPr sz="16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	-단순하게 if문으로도 충분히 개발 가능하지만 유지보수가 힘들어지기 때문에 Behavior Tree를 사용</a:t>
            </a:r>
            <a:endParaRPr sz="16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	-해야 할 일, 상태 확인 등을 노드로 구현</a:t>
            </a:r>
            <a:endParaRPr sz="16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669" name="Google Shape;669;p33"/>
          <p:cNvGrpSpPr/>
          <p:nvPr/>
        </p:nvGrpSpPr>
        <p:grpSpPr>
          <a:xfrm>
            <a:off x="215113" y="2756818"/>
            <a:ext cx="6417330" cy="3941162"/>
            <a:chOff x="215113" y="2406298"/>
            <a:chExt cx="6417330" cy="3941162"/>
          </a:xfrm>
        </p:grpSpPr>
        <p:sp>
          <p:nvSpPr>
            <p:cNvPr id="670" name="Google Shape;670;p33"/>
            <p:cNvSpPr/>
            <p:nvPr/>
          </p:nvSpPr>
          <p:spPr>
            <a:xfrm>
              <a:off x="2961924" y="2406298"/>
              <a:ext cx="797324" cy="269380"/>
            </a:xfrm>
            <a:prstGeom prst="rect">
              <a:avLst/>
            </a:prstGeom>
            <a:solidFill>
              <a:srgbClr val="FF0000"/>
            </a:solidFill>
            <a:ln w="19050" cap="flat" cmpd="sng">
              <a:solidFill>
                <a:srgbClr val="08283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2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질문</a:t>
              </a:r>
              <a:endParaRPr/>
            </a:p>
          </p:txBody>
        </p:sp>
        <p:sp>
          <p:nvSpPr>
            <p:cNvPr id="671" name="Google Shape;671;p33"/>
            <p:cNvSpPr/>
            <p:nvPr/>
          </p:nvSpPr>
          <p:spPr>
            <a:xfrm>
              <a:off x="2961924" y="3059284"/>
              <a:ext cx="797324" cy="269380"/>
            </a:xfrm>
            <a:prstGeom prst="rect">
              <a:avLst/>
            </a:prstGeom>
            <a:solidFill>
              <a:srgbClr val="AEAEAE"/>
            </a:solidFill>
            <a:ln w="19050" cap="flat" cmpd="sng">
              <a:solidFill>
                <a:srgbClr val="747474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2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선택사항</a:t>
              </a:r>
              <a:endParaRPr/>
            </a:p>
          </p:txBody>
        </p:sp>
        <p:sp>
          <p:nvSpPr>
            <p:cNvPr id="672" name="Google Shape;672;p33"/>
            <p:cNvSpPr/>
            <p:nvPr/>
          </p:nvSpPr>
          <p:spPr>
            <a:xfrm>
              <a:off x="4933560" y="4128892"/>
              <a:ext cx="1299623" cy="327938"/>
            </a:xfrm>
            <a:prstGeom prst="rect">
              <a:avLst/>
            </a:prstGeom>
            <a:solidFill>
              <a:srgbClr val="0070C0"/>
            </a:solidFill>
            <a:ln w="19050" cap="flat" cmpd="sng">
              <a:solidFill>
                <a:srgbClr val="08283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2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주말/공강 인가?</a:t>
              </a:r>
              <a:endPara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73" name="Google Shape;673;p33"/>
            <p:cNvSpPr/>
            <p:nvPr/>
          </p:nvSpPr>
          <p:spPr>
            <a:xfrm>
              <a:off x="960818" y="4178802"/>
              <a:ext cx="1299623" cy="327938"/>
            </a:xfrm>
            <a:prstGeom prst="rect">
              <a:avLst/>
            </a:prstGeom>
            <a:solidFill>
              <a:srgbClr val="0070C0"/>
            </a:solidFill>
            <a:ln w="19050" cap="flat" cmpd="sng">
              <a:solidFill>
                <a:srgbClr val="08283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2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오늘 평일인가?</a:t>
              </a:r>
              <a:endPara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74" name="Google Shape;674;p33"/>
            <p:cNvSpPr/>
            <p:nvPr/>
          </p:nvSpPr>
          <p:spPr>
            <a:xfrm>
              <a:off x="5188018" y="4456830"/>
              <a:ext cx="797324" cy="269380"/>
            </a:xfrm>
            <a:prstGeom prst="rect">
              <a:avLst/>
            </a:prstGeom>
            <a:solidFill>
              <a:srgbClr val="AEAEAE"/>
            </a:solidFill>
            <a:ln w="19050" cap="flat" cmpd="sng">
              <a:solidFill>
                <a:srgbClr val="747474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2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선택사항</a:t>
              </a:r>
              <a:endParaRPr/>
            </a:p>
          </p:txBody>
        </p:sp>
        <p:sp>
          <p:nvSpPr>
            <p:cNvPr id="675" name="Google Shape;675;p33"/>
            <p:cNvSpPr/>
            <p:nvPr/>
          </p:nvSpPr>
          <p:spPr>
            <a:xfrm>
              <a:off x="215113" y="5261613"/>
              <a:ext cx="1395517" cy="611287"/>
            </a:xfrm>
            <a:prstGeom prst="rect">
              <a:avLst/>
            </a:prstGeom>
            <a:solidFill>
              <a:srgbClr val="0070C0"/>
            </a:solidFill>
            <a:ln w="19050" cap="flat" cmpd="sng">
              <a:solidFill>
                <a:srgbClr val="08283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2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시험 기간인가?</a:t>
              </a:r>
              <a:endPara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76" name="Google Shape;676;p33"/>
            <p:cNvSpPr/>
            <p:nvPr/>
          </p:nvSpPr>
          <p:spPr>
            <a:xfrm>
              <a:off x="3748625" y="5292471"/>
              <a:ext cx="1572544" cy="582667"/>
            </a:xfrm>
            <a:prstGeom prst="rect">
              <a:avLst/>
            </a:prstGeom>
            <a:solidFill>
              <a:srgbClr val="0070C0"/>
            </a:solidFill>
            <a:ln w="19050" cap="flat" cmpd="sng">
              <a:solidFill>
                <a:srgbClr val="08283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2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교수님이 오늘 학교 나와라고 칼들고</a:t>
              </a:r>
              <a:endPara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2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협박했는가?</a:t>
              </a:r>
              <a:endPara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77" name="Google Shape;677;p33"/>
            <p:cNvSpPr/>
            <p:nvPr/>
          </p:nvSpPr>
          <p:spPr>
            <a:xfrm>
              <a:off x="5825480" y="5496918"/>
              <a:ext cx="806963" cy="328900"/>
            </a:xfrm>
            <a:prstGeom prst="rect">
              <a:avLst/>
            </a:prstGeom>
            <a:solidFill>
              <a:srgbClr val="7030A0"/>
            </a:solidFill>
            <a:ln w="19050" cap="flat" cmpd="sng">
              <a:solidFill>
                <a:srgbClr val="08283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2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Happy~</a:t>
              </a:r>
              <a:endPara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78" name="Google Shape;678;p33"/>
            <p:cNvSpPr/>
            <p:nvPr/>
          </p:nvSpPr>
          <p:spPr>
            <a:xfrm>
              <a:off x="3977639" y="5875138"/>
              <a:ext cx="1051783" cy="472322"/>
            </a:xfrm>
            <a:prstGeom prst="rect">
              <a:avLst/>
            </a:prstGeom>
            <a:solidFill>
              <a:srgbClr val="7030A0"/>
            </a:solidFill>
            <a:ln w="19050" cap="flat" cmpd="sng">
              <a:solidFill>
                <a:srgbClr val="08283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9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눈물..</a:t>
              </a:r>
              <a:endParaRPr sz="9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cxnSp>
          <p:nvCxnSpPr>
            <p:cNvPr id="679" name="Google Shape;679;p33"/>
            <p:cNvCxnSpPr>
              <a:stCxn id="670" idx="2"/>
              <a:endCxn id="671" idx="0"/>
            </p:cNvCxnSpPr>
            <p:nvPr/>
          </p:nvCxnSpPr>
          <p:spPr>
            <a:xfrm>
              <a:off x="3360586" y="2675678"/>
              <a:ext cx="0" cy="383700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680" name="Google Shape;680;p33"/>
            <p:cNvCxnSpPr>
              <a:stCxn id="671" idx="2"/>
              <a:endCxn id="672" idx="0"/>
            </p:cNvCxnSpPr>
            <p:nvPr/>
          </p:nvCxnSpPr>
          <p:spPr>
            <a:xfrm>
              <a:off x="3360586" y="3328664"/>
              <a:ext cx="2222700" cy="800100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681" name="Google Shape;681;p33"/>
            <p:cNvCxnSpPr>
              <a:stCxn id="671" idx="2"/>
              <a:endCxn id="673" idx="0"/>
            </p:cNvCxnSpPr>
            <p:nvPr/>
          </p:nvCxnSpPr>
          <p:spPr>
            <a:xfrm flipH="1">
              <a:off x="1610686" y="3328664"/>
              <a:ext cx="1749900" cy="850200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682" name="Google Shape;682;p33"/>
            <p:cNvCxnSpPr>
              <a:stCxn id="674" idx="2"/>
              <a:endCxn id="676" idx="0"/>
            </p:cNvCxnSpPr>
            <p:nvPr/>
          </p:nvCxnSpPr>
          <p:spPr>
            <a:xfrm flipH="1">
              <a:off x="4534880" y="4726210"/>
              <a:ext cx="1051800" cy="566400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683" name="Google Shape;683;p33"/>
            <p:cNvCxnSpPr>
              <a:stCxn id="674" idx="2"/>
              <a:endCxn id="677" idx="0"/>
            </p:cNvCxnSpPr>
            <p:nvPr/>
          </p:nvCxnSpPr>
          <p:spPr>
            <a:xfrm>
              <a:off x="5586680" y="4726210"/>
              <a:ext cx="642300" cy="770700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684" name="Google Shape;684;p33"/>
            <p:cNvSpPr/>
            <p:nvPr/>
          </p:nvSpPr>
          <p:spPr>
            <a:xfrm>
              <a:off x="1211968" y="4510261"/>
              <a:ext cx="797324" cy="269380"/>
            </a:xfrm>
            <a:prstGeom prst="rect">
              <a:avLst/>
            </a:prstGeom>
            <a:solidFill>
              <a:srgbClr val="AEAEAE"/>
            </a:solidFill>
            <a:ln w="19050" cap="flat" cmpd="sng">
              <a:solidFill>
                <a:srgbClr val="747474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2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선택사항</a:t>
              </a:r>
              <a:endParaRPr/>
            </a:p>
          </p:txBody>
        </p:sp>
        <p:sp>
          <p:nvSpPr>
            <p:cNvPr id="685" name="Google Shape;685;p33"/>
            <p:cNvSpPr/>
            <p:nvPr/>
          </p:nvSpPr>
          <p:spPr>
            <a:xfrm>
              <a:off x="1968473" y="5265134"/>
              <a:ext cx="1042191" cy="582667"/>
            </a:xfrm>
            <a:prstGeom prst="rect">
              <a:avLst/>
            </a:prstGeom>
            <a:solidFill>
              <a:srgbClr val="0070C0"/>
            </a:solidFill>
            <a:ln w="19050" cap="flat" cmpd="sng">
              <a:solidFill>
                <a:srgbClr val="08283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2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시험기간 끝인가?</a:t>
              </a:r>
              <a:endPara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86" name="Google Shape;686;p33"/>
            <p:cNvSpPr/>
            <p:nvPr/>
          </p:nvSpPr>
          <p:spPr>
            <a:xfrm>
              <a:off x="514209" y="5875138"/>
              <a:ext cx="797324" cy="269380"/>
            </a:xfrm>
            <a:prstGeom prst="rect">
              <a:avLst/>
            </a:prstGeom>
            <a:solidFill>
              <a:srgbClr val="7030A0"/>
            </a:solidFill>
            <a:ln w="19050" cap="flat" cmpd="sng">
              <a:solidFill>
                <a:srgbClr val="08283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2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공부</a:t>
              </a:r>
              <a:endParaRPr/>
            </a:p>
          </p:txBody>
        </p:sp>
        <p:sp>
          <p:nvSpPr>
            <p:cNvPr id="687" name="Google Shape;687;p33"/>
            <p:cNvSpPr/>
            <p:nvPr/>
          </p:nvSpPr>
          <p:spPr>
            <a:xfrm>
              <a:off x="2086390" y="5847801"/>
              <a:ext cx="797324" cy="393996"/>
            </a:xfrm>
            <a:prstGeom prst="rect">
              <a:avLst/>
            </a:prstGeom>
            <a:solidFill>
              <a:srgbClr val="7030A0"/>
            </a:solidFill>
            <a:ln w="19050" cap="flat" cmpd="sng">
              <a:solidFill>
                <a:srgbClr val="08283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2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술</a:t>
              </a:r>
              <a:endParaRPr/>
            </a:p>
          </p:txBody>
        </p:sp>
        <p:cxnSp>
          <p:nvCxnSpPr>
            <p:cNvPr id="688" name="Google Shape;688;p33"/>
            <p:cNvCxnSpPr>
              <a:stCxn id="684" idx="2"/>
              <a:endCxn id="675" idx="0"/>
            </p:cNvCxnSpPr>
            <p:nvPr/>
          </p:nvCxnSpPr>
          <p:spPr>
            <a:xfrm flipH="1">
              <a:off x="912830" y="4779641"/>
              <a:ext cx="697800" cy="482100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689" name="Google Shape;689;p33"/>
            <p:cNvCxnSpPr>
              <a:stCxn id="684" idx="2"/>
              <a:endCxn id="685" idx="0"/>
            </p:cNvCxnSpPr>
            <p:nvPr/>
          </p:nvCxnSpPr>
          <p:spPr>
            <a:xfrm>
              <a:off x="1610630" y="4779641"/>
              <a:ext cx="879000" cy="485400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</p:grpSp>
      <p:sp>
        <p:nvSpPr>
          <p:cNvPr id="690" name="Google Shape;690;p33"/>
          <p:cNvSpPr/>
          <p:nvPr/>
        </p:nvSpPr>
        <p:spPr>
          <a:xfrm>
            <a:off x="7879988" y="3169948"/>
            <a:ext cx="1626376" cy="1113829"/>
          </a:xfrm>
          <a:prstGeom prst="rect">
            <a:avLst/>
          </a:prstGeom>
          <a:solidFill>
            <a:srgbClr val="3F3F3F"/>
          </a:solidFill>
          <a:ln w="19050" cap="flat" cmpd="sng">
            <a:solidFill>
              <a:srgbClr val="9FE6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기억</a:t>
            </a:r>
            <a:endParaRPr/>
          </a:p>
        </p:txBody>
      </p:sp>
      <p:cxnSp>
        <p:nvCxnSpPr>
          <p:cNvPr id="691" name="Google Shape;691;p33"/>
          <p:cNvCxnSpPr>
            <a:stCxn id="690" idx="1"/>
            <a:endCxn id="673" idx="3"/>
          </p:cNvCxnSpPr>
          <p:nvPr/>
        </p:nvCxnSpPr>
        <p:spPr>
          <a:xfrm flipH="1">
            <a:off x="2260388" y="3726863"/>
            <a:ext cx="5619600" cy="966300"/>
          </a:xfrm>
          <a:prstGeom prst="curvedConnector3">
            <a:avLst>
              <a:gd name="adj1" fmla="val 50000"/>
            </a:avLst>
          </a:prstGeom>
          <a:noFill/>
          <a:ln w="12700" cap="flat" cmpd="sng">
            <a:solidFill>
              <a:srgbClr val="FFC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692" name="Google Shape;692;p33"/>
          <p:cNvCxnSpPr>
            <a:stCxn id="690" idx="1"/>
            <a:endCxn id="672" idx="3"/>
          </p:cNvCxnSpPr>
          <p:nvPr/>
        </p:nvCxnSpPr>
        <p:spPr>
          <a:xfrm flipH="1">
            <a:off x="6233288" y="3726863"/>
            <a:ext cx="1646700" cy="916500"/>
          </a:xfrm>
          <a:prstGeom prst="curvedConnector3">
            <a:avLst>
              <a:gd name="adj1" fmla="val 50000"/>
            </a:avLst>
          </a:prstGeom>
          <a:noFill/>
          <a:ln w="12700" cap="flat" cmpd="sng">
            <a:solidFill>
              <a:srgbClr val="FFC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693" name="Google Shape;693;p33"/>
          <p:cNvSpPr txBox="1"/>
          <p:nvPr/>
        </p:nvSpPr>
        <p:spPr>
          <a:xfrm rot="-1580743">
            <a:off x="6269331" y="4420093"/>
            <a:ext cx="1476686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오늘 무슨 요일이지?</a:t>
            </a:r>
            <a:endParaRPr sz="11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94" name="Google Shape;694;p33"/>
          <p:cNvSpPr txBox="1"/>
          <p:nvPr/>
        </p:nvSpPr>
        <p:spPr>
          <a:xfrm rot="-587636">
            <a:off x="5431368" y="3564841"/>
            <a:ext cx="1399742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중간고사 다 쳤나??</a:t>
            </a:r>
            <a:endParaRPr sz="11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695" name="Google Shape;695;p33"/>
          <p:cNvCxnSpPr>
            <a:stCxn id="690" idx="2"/>
            <a:endCxn id="676" idx="0"/>
          </p:cNvCxnSpPr>
          <p:nvPr/>
        </p:nvCxnSpPr>
        <p:spPr>
          <a:xfrm rot="5400000">
            <a:off x="5934376" y="2884277"/>
            <a:ext cx="1359300" cy="4158300"/>
          </a:xfrm>
          <a:prstGeom prst="curvedConnector3">
            <a:avLst>
              <a:gd name="adj1" fmla="val 65693"/>
            </a:avLst>
          </a:prstGeom>
          <a:noFill/>
          <a:ln w="12700" cap="flat" cmpd="sng">
            <a:solidFill>
              <a:srgbClr val="FFC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696" name="Google Shape;696;p33"/>
          <p:cNvSpPr txBox="1"/>
          <p:nvPr/>
        </p:nvSpPr>
        <p:spPr>
          <a:xfrm rot="-883491">
            <a:off x="6534910" y="5047305"/>
            <a:ext cx="2690160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교수님이 칼을 들고 협박했던 기억 상기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34"/>
          <p:cNvSpPr txBox="1"/>
          <p:nvPr/>
        </p:nvSpPr>
        <p:spPr>
          <a:xfrm>
            <a:off x="-1" y="0"/>
            <a:ext cx="5733355" cy="449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algun Gothic"/>
              <a:buNone/>
            </a:pPr>
            <a:r>
              <a:rPr lang="ko-KR" sz="2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AIP Behavior Tree Tutorial</a:t>
            </a:r>
            <a:endParaRPr sz="24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702" name="Google Shape;702;p34"/>
          <p:cNvCxnSpPr/>
          <p:nvPr/>
        </p:nvCxnSpPr>
        <p:spPr>
          <a:xfrm>
            <a:off x="0" y="373189"/>
            <a:ext cx="5591408" cy="0"/>
          </a:xfrm>
          <a:prstGeom prst="straightConnector1">
            <a:avLst/>
          </a:prstGeom>
          <a:noFill/>
          <a:ln w="19050" cap="flat" cmpd="sng">
            <a:solidFill>
              <a:srgbClr val="5DFFA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03" name="Google Shape;703;p34"/>
          <p:cNvSpPr txBox="1"/>
          <p:nvPr/>
        </p:nvSpPr>
        <p:spPr>
          <a:xfrm>
            <a:off x="976004" y="5046670"/>
            <a:ext cx="9291946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>
                <a:solidFill>
                  <a:srgbClr val="00B0F0"/>
                </a:solidFill>
                <a:latin typeface="Malgun Gothic"/>
                <a:ea typeface="Malgun Gothic"/>
                <a:cs typeface="Malgun Gothic"/>
                <a:sym typeface="Malgun Gothic"/>
              </a:rPr>
              <a:t>굳이 Unreal Engine의 Behavior Tree를 먼저 설명하는 이유</a:t>
            </a:r>
            <a:endParaRPr sz="1600">
              <a:solidFill>
                <a:srgbClr val="00B0F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>
                <a:solidFill>
                  <a:srgbClr val="00B0F0"/>
                </a:solidFill>
                <a:latin typeface="Malgun Gothic"/>
                <a:ea typeface="Malgun Gothic"/>
                <a:cs typeface="Malgun Gothic"/>
                <a:sym typeface="Malgun Gothic"/>
              </a:rPr>
              <a:t>	UnrealEngine의 Behavior Tree가 훨씬 직관적이고 세분화된 노드로 구성됐기 때문에 </a:t>
            </a:r>
            <a:endParaRPr sz="1600">
              <a:solidFill>
                <a:srgbClr val="00B0F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>
                <a:solidFill>
                  <a:srgbClr val="00B0F0"/>
                </a:solidFill>
                <a:latin typeface="Malgun Gothic"/>
                <a:ea typeface="Malgun Gothic"/>
                <a:cs typeface="Malgun Gothic"/>
                <a:sym typeface="Malgun Gothic"/>
              </a:rPr>
              <a:t>	설계를 UnrealEngine 형식으로 하고 개발을 CppBehaviorTree 형태로 하는 것이 좋음</a:t>
            </a:r>
            <a:endParaRPr sz="1600">
              <a:solidFill>
                <a:srgbClr val="00B0F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704" name="Google Shape;704;p34"/>
          <p:cNvPicPr preferRelativeResize="0"/>
          <p:nvPr/>
        </p:nvPicPr>
        <p:blipFill rotWithShape="1">
          <a:blip r:embed="rId3">
            <a:alphaModFix/>
          </a:blip>
          <a:srcRect l="27242" t="1086" r="25240" b="51246"/>
          <a:stretch/>
        </p:blipFill>
        <p:spPr>
          <a:xfrm>
            <a:off x="247868" y="1509301"/>
            <a:ext cx="5465460" cy="2612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705" name="Google Shape;705;p3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34232" y="1281301"/>
            <a:ext cx="2924096" cy="1988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706" name="Google Shape;706;p3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584310" y="2158332"/>
            <a:ext cx="3074145" cy="1840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707" name="Google Shape;707;p3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850818" y="2770551"/>
            <a:ext cx="3085162" cy="1351595"/>
          </a:xfrm>
          <a:prstGeom prst="rect">
            <a:avLst/>
          </a:prstGeom>
          <a:noFill/>
          <a:ln>
            <a:noFill/>
          </a:ln>
        </p:spPr>
      </p:pic>
      <p:sp>
        <p:nvSpPr>
          <p:cNvPr id="708" name="Google Shape;708;p34"/>
          <p:cNvSpPr txBox="1"/>
          <p:nvPr/>
        </p:nvSpPr>
        <p:spPr>
          <a:xfrm>
            <a:off x="1292063" y="4159188"/>
            <a:ext cx="313323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Unreal Engine Behavior Tree</a:t>
            </a:r>
            <a:endParaRPr/>
          </a:p>
        </p:txBody>
      </p:sp>
      <p:sp>
        <p:nvSpPr>
          <p:cNvPr id="709" name="Google Shape;709;p34"/>
          <p:cNvSpPr/>
          <p:nvPr/>
        </p:nvSpPr>
        <p:spPr>
          <a:xfrm>
            <a:off x="6184720" y="2641832"/>
            <a:ext cx="978408" cy="484632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1"/>
          </a:solidFill>
          <a:ln w="19050" cap="flat" cmpd="sng">
            <a:solidFill>
              <a:srgbClr val="9FE6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10" name="Google Shape;710;p34"/>
          <p:cNvSpPr txBox="1"/>
          <p:nvPr/>
        </p:nvSpPr>
        <p:spPr>
          <a:xfrm>
            <a:off x="8584310" y="4223010"/>
            <a:ext cx="214424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C++ Behavior Tree</a:t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11" name="Google Shape;711;p34"/>
          <p:cNvSpPr txBox="1"/>
          <p:nvPr/>
        </p:nvSpPr>
        <p:spPr>
          <a:xfrm>
            <a:off x="10065885" y="1356859"/>
            <a:ext cx="492443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rgbClr val="FFFF00"/>
                </a:solidFill>
                <a:latin typeface="Malgun Gothic"/>
                <a:ea typeface="Malgun Gothic"/>
                <a:cs typeface="Malgun Gothic"/>
                <a:sym typeface="Malgun Gothic"/>
              </a:rPr>
              <a:t>XML</a:t>
            </a:r>
            <a:endParaRPr sz="1200">
              <a:solidFill>
                <a:srgbClr val="FFFF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12" name="Google Shape;712;p34"/>
          <p:cNvSpPr txBox="1"/>
          <p:nvPr/>
        </p:nvSpPr>
        <p:spPr>
          <a:xfrm>
            <a:off x="10121382" y="2632051"/>
            <a:ext cx="134203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rgbClr val="FFFF00"/>
                </a:solidFill>
                <a:latin typeface="Malgun Gothic"/>
                <a:ea typeface="Malgun Gothic"/>
                <a:cs typeface="Malgun Gothic"/>
                <a:sym typeface="Malgun Gothic"/>
              </a:rPr>
              <a:t>C++ Node Class</a:t>
            </a:r>
            <a:endParaRPr sz="1200">
              <a:solidFill>
                <a:srgbClr val="FFFF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13" name="Google Shape;713;p34"/>
          <p:cNvSpPr txBox="1"/>
          <p:nvPr/>
        </p:nvSpPr>
        <p:spPr>
          <a:xfrm>
            <a:off x="0" y="373189"/>
            <a:ext cx="390748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Unreal Engine Behavior Tree의 구성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35"/>
          <p:cNvSpPr txBox="1"/>
          <p:nvPr/>
        </p:nvSpPr>
        <p:spPr>
          <a:xfrm>
            <a:off x="0" y="373189"/>
            <a:ext cx="390748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Unreal Engine Behavior Tree의 구성</a:t>
            </a:r>
            <a:endParaRPr/>
          </a:p>
        </p:txBody>
      </p:sp>
      <p:sp>
        <p:nvSpPr>
          <p:cNvPr id="719" name="Google Shape;719;p35"/>
          <p:cNvSpPr/>
          <p:nvPr/>
        </p:nvSpPr>
        <p:spPr>
          <a:xfrm>
            <a:off x="431019" y="4620184"/>
            <a:ext cx="1626376" cy="607273"/>
          </a:xfrm>
          <a:prstGeom prst="rect">
            <a:avLst/>
          </a:prstGeom>
          <a:solidFill>
            <a:srgbClr val="7030A0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Task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Node</a:t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20" name="Google Shape;720;p35"/>
          <p:cNvSpPr/>
          <p:nvPr/>
        </p:nvSpPr>
        <p:spPr>
          <a:xfrm>
            <a:off x="431019" y="5317324"/>
            <a:ext cx="1626376" cy="607273"/>
          </a:xfrm>
          <a:prstGeom prst="rect">
            <a:avLst/>
          </a:prstGeom>
          <a:solidFill>
            <a:srgbClr val="0070C0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Decorator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Node</a:t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21" name="Google Shape;721;p35"/>
          <p:cNvSpPr/>
          <p:nvPr/>
        </p:nvSpPr>
        <p:spPr>
          <a:xfrm>
            <a:off x="431019" y="6014464"/>
            <a:ext cx="1626376" cy="607273"/>
          </a:xfrm>
          <a:prstGeom prst="rect">
            <a:avLst/>
          </a:prstGeom>
          <a:solidFill>
            <a:srgbClr val="00B050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Service</a:t>
            </a:r>
            <a:b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Node</a:t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22" name="Google Shape;722;p35"/>
          <p:cNvSpPr txBox="1"/>
          <p:nvPr/>
        </p:nvSpPr>
        <p:spPr>
          <a:xfrm>
            <a:off x="2342880" y="4739154"/>
            <a:ext cx="79432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객체의 행위 자체를 수행하는 노드, 이 프로젝트에서는 VP를 생성하는 역할</a:t>
            </a:r>
            <a:endParaRPr/>
          </a:p>
        </p:txBody>
      </p:sp>
      <p:sp>
        <p:nvSpPr>
          <p:cNvPr id="723" name="Google Shape;723;p35"/>
          <p:cNvSpPr txBox="1"/>
          <p:nvPr/>
        </p:nvSpPr>
        <p:spPr>
          <a:xfrm>
            <a:off x="2342880" y="5436294"/>
            <a:ext cx="970810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다른 노드들에 붙어서 실행 조건을 확인하는 노드, 트리의 조건문, if 문의 조건이라고 보면됨</a:t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24" name="Google Shape;724;p35"/>
          <p:cNvSpPr txBox="1"/>
          <p:nvPr/>
        </p:nvSpPr>
        <p:spPr>
          <a:xfrm>
            <a:off x="2342880" y="6133434"/>
            <a:ext cx="797846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트리가 지나가는 경로 도중에 실행되는 노드, 주로 상태 업데이트를 위해 씀</a:t>
            </a:r>
            <a:endParaRPr/>
          </a:p>
        </p:txBody>
      </p:sp>
      <p:cxnSp>
        <p:nvCxnSpPr>
          <p:cNvPr id="725" name="Google Shape;725;p35"/>
          <p:cNvCxnSpPr/>
          <p:nvPr/>
        </p:nvCxnSpPr>
        <p:spPr>
          <a:xfrm>
            <a:off x="206936" y="2657204"/>
            <a:ext cx="11562128" cy="0"/>
          </a:xfrm>
          <a:prstGeom prst="straightConnector1">
            <a:avLst/>
          </a:prstGeom>
          <a:noFill/>
          <a:ln w="19050" cap="flat" cmpd="sng">
            <a:solidFill>
              <a:srgbClr val="EAF2FA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26" name="Google Shape;726;p35"/>
          <p:cNvSpPr/>
          <p:nvPr/>
        </p:nvSpPr>
        <p:spPr>
          <a:xfrm>
            <a:off x="431019" y="2896362"/>
            <a:ext cx="1626376" cy="607273"/>
          </a:xfrm>
          <a:prstGeom prst="rect">
            <a:avLst/>
          </a:prstGeom>
          <a:solidFill>
            <a:srgbClr val="A5A5A5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Selector</a:t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27" name="Google Shape;727;p35"/>
          <p:cNvSpPr/>
          <p:nvPr/>
        </p:nvSpPr>
        <p:spPr>
          <a:xfrm>
            <a:off x="431019" y="3616727"/>
            <a:ext cx="1626376" cy="607273"/>
          </a:xfrm>
          <a:prstGeom prst="rect">
            <a:avLst/>
          </a:prstGeom>
          <a:solidFill>
            <a:srgbClr val="7F7F7F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Sequence</a:t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28" name="Google Shape;728;p35"/>
          <p:cNvSpPr txBox="1"/>
          <p:nvPr/>
        </p:nvSpPr>
        <p:spPr>
          <a:xfrm>
            <a:off x="2270642" y="2892937"/>
            <a:ext cx="952311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자손 노드중 성공한 노드를 실행, if else 문</a:t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왼(위)쪽부터 차례대로 검사하여 하나라도 성공하면 더 이상 더 진행하지 않음</a:t>
            </a:r>
            <a:endParaRPr/>
          </a:p>
        </p:txBody>
      </p:sp>
      <p:sp>
        <p:nvSpPr>
          <p:cNvPr id="729" name="Google Shape;729;p35"/>
          <p:cNvSpPr txBox="1"/>
          <p:nvPr/>
        </p:nvSpPr>
        <p:spPr>
          <a:xfrm>
            <a:off x="2342880" y="3609710"/>
            <a:ext cx="8217314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자손 노드를 모두 실행, if, if, if 문</a:t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왼(위)쪽부터 차례대로 검사하여 하나라도 실패하면 더 이상 더 진행하지 않음</a:t>
            </a:r>
            <a:endParaRPr/>
          </a:p>
        </p:txBody>
      </p:sp>
      <p:cxnSp>
        <p:nvCxnSpPr>
          <p:cNvPr id="730" name="Google Shape;730;p35"/>
          <p:cNvCxnSpPr/>
          <p:nvPr/>
        </p:nvCxnSpPr>
        <p:spPr>
          <a:xfrm>
            <a:off x="206936" y="4410479"/>
            <a:ext cx="11562128" cy="0"/>
          </a:xfrm>
          <a:prstGeom prst="straightConnector1">
            <a:avLst/>
          </a:prstGeom>
          <a:noFill/>
          <a:ln w="19050" cap="flat" cmpd="sng">
            <a:solidFill>
              <a:srgbClr val="EAF2FA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31" name="Google Shape;731;p35"/>
          <p:cNvSpPr/>
          <p:nvPr/>
        </p:nvSpPr>
        <p:spPr>
          <a:xfrm>
            <a:off x="431019" y="1888285"/>
            <a:ext cx="1626376" cy="607273"/>
          </a:xfrm>
          <a:prstGeom prst="rect">
            <a:avLst/>
          </a:prstGeom>
          <a:solidFill>
            <a:srgbClr val="0C0C0C"/>
          </a:solidFill>
          <a:ln w="19050" cap="flat" cmpd="sng">
            <a:solidFill>
              <a:srgbClr val="9FE6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BlackBoard</a:t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32" name="Google Shape;732;p35"/>
          <p:cNvSpPr txBox="1"/>
          <p:nvPr/>
        </p:nvSpPr>
        <p:spPr>
          <a:xfrm>
            <a:off x="2342880" y="2017415"/>
            <a:ext cx="750949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Behavior Tree 가 정보를 저장하는 공간, 모든 노드에서 접근 가능, </a:t>
            </a:r>
            <a:r>
              <a:rPr lang="ko-KR" sz="1800">
                <a:solidFill>
                  <a:srgbClr val="FFFF00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기억</a:t>
            </a:r>
            <a:endParaRPr/>
          </a:p>
        </p:txBody>
      </p:sp>
      <p:sp>
        <p:nvSpPr>
          <p:cNvPr id="733" name="Google Shape;733;p35"/>
          <p:cNvSpPr txBox="1"/>
          <p:nvPr/>
        </p:nvSpPr>
        <p:spPr>
          <a:xfrm>
            <a:off x="10606831" y="4164258"/>
            <a:ext cx="1293944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Flow Control Node</a:t>
            </a:r>
            <a:endParaRPr sz="1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734" name="Google Shape;734;p35"/>
          <p:cNvCxnSpPr/>
          <p:nvPr/>
        </p:nvCxnSpPr>
        <p:spPr>
          <a:xfrm>
            <a:off x="182248" y="6770986"/>
            <a:ext cx="11562128" cy="0"/>
          </a:xfrm>
          <a:prstGeom prst="straightConnector1">
            <a:avLst/>
          </a:prstGeom>
          <a:noFill/>
          <a:ln w="19050" cap="flat" cmpd="sng">
            <a:solidFill>
              <a:srgbClr val="EAF2FA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35" name="Google Shape;735;p35"/>
          <p:cNvSpPr txBox="1"/>
          <p:nvPr/>
        </p:nvSpPr>
        <p:spPr>
          <a:xfrm>
            <a:off x="10778731" y="6572885"/>
            <a:ext cx="101502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Content Node</a:t>
            </a:r>
            <a:endParaRPr sz="1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36" name="Google Shape;736;p35"/>
          <p:cNvSpPr/>
          <p:nvPr/>
        </p:nvSpPr>
        <p:spPr>
          <a:xfrm>
            <a:off x="431019" y="1124648"/>
            <a:ext cx="1626376" cy="607273"/>
          </a:xfrm>
          <a:prstGeom prst="rect">
            <a:avLst/>
          </a:prstGeom>
          <a:solidFill>
            <a:schemeClr val="accent2"/>
          </a:solidFill>
          <a:ln w="19050" cap="flat" cmpd="sng">
            <a:solidFill>
              <a:srgbClr val="9FE6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Tree</a:t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37" name="Google Shape;737;p35"/>
          <p:cNvSpPr txBox="1"/>
          <p:nvPr/>
        </p:nvSpPr>
        <p:spPr>
          <a:xfrm>
            <a:off x="2342880" y="1243618"/>
            <a:ext cx="67297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Unreal Engine에서 제공하는 Behavior Tree 제작 툴,	</a:t>
            </a:r>
            <a:r>
              <a:rPr lang="ko-KR" sz="1800">
                <a:solidFill>
                  <a:srgbClr val="FFFF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사고 회로</a:t>
            </a:r>
            <a:endParaRPr/>
          </a:p>
        </p:txBody>
      </p:sp>
      <p:sp>
        <p:nvSpPr>
          <p:cNvPr id="738" name="Google Shape;738;p35"/>
          <p:cNvSpPr txBox="1"/>
          <p:nvPr/>
        </p:nvSpPr>
        <p:spPr>
          <a:xfrm>
            <a:off x="-1" y="0"/>
            <a:ext cx="5733355" cy="449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algun Gothic"/>
              <a:buNone/>
            </a:pPr>
            <a:r>
              <a:rPr lang="ko-KR" sz="2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AIP Behavior Tree Tutorial</a:t>
            </a:r>
            <a:endParaRPr sz="24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739" name="Google Shape;739;p35"/>
          <p:cNvCxnSpPr/>
          <p:nvPr/>
        </p:nvCxnSpPr>
        <p:spPr>
          <a:xfrm>
            <a:off x="0" y="373189"/>
            <a:ext cx="5591408" cy="0"/>
          </a:xfrm>
          <a:prstGeom prst="straightConnector1">
            <a:avLst/>
          </a:prstGeom>
          <a:noFill/>
          <a:ln w="19050" cap="flat" cmpd="sng">
            <a:solidFill>
              <a:srgbClr val="5DFFA6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36"/>
          <p:cNvSpPr txBox="1"/>
          <p:nvPr/>
        </p:nvSpPr>
        <p:spPr>
          <a:xfrm>
            <a:off x="0" y="373189"/>
            <a:ext cx="390748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Unreal Engine Behavior Tree의 구성</a:t>
            </a:r>
            <a:endParaRPr/>
          </a:p>
        </p:txBody>
      </p:sp>
      <p:sp>
        <p:nvSpPr>
          <p:cNvPr id="745" name="Google Shape;745;p36"/>
          <p:cNvSpPr/>
          <p:nvPr/>
        </p:nvSpPr>
        <p:spPr>
          <a:xfrm>
            <a:off x="3111053" y="2794133"/>
            <a:ext cx="1626376" cy="501878"/>
          </a:xfrm>
          <a:prstGeom prst="rect">
            <a:avLst/>
          </a:prstGeom>
          <a:solidFill>
            <a:srgbClr val="A5A5A5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Selector</a:t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46" name="Google Shape;746;p36"/>
          <p:cNvSpPr/>
          <p:nvPr/>
        </p:nvSpPr>
        <p:spPr>
          <a:xfrm>
            <a:off x="7286504" y="916402"/>
            <a:ext cx="1626376" cy="3755462"/>
          </a:xfrm>
          <a:prstGeom prst="rect">
            <a:avLst/>
          </a:prstGeom>
          <a:solidFill>
            <a:srgbClr val="0C0C0C"/>
          </a:solidFill>
          <a:ln w="19050" cap="flat" cmpd="sng">
            <a:solidFill>
              <a:srgbClr val="9FE6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BlackBoard</a:t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47" name="Google Shape;747;p36"/>
          <p:cNvSpPr/>
          <p:nvPr/>
        </p:nvSpPr>
        <p:spPr>
          <a:xfrm>
            <a:off x="3111053" y="998022"/>
            <a:ext cx="1626376" cy="342789"/>
          </a:xfrm>
          <a:prstGeom prst="rect">
            <a:avLst/>
          </a:prstGeom>
          <a:solidFill>
            <a:srgbClr val="FF0000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Root</a:t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48" name="Google Shape;748;p36"/>
          <p:cNvSpPr/>
          <p:nvPr/>
        </p:nvSpPr>
        <p:spPr>
          <a:xfrm>
            <a:off x="3111053" y="1790604"/>
            <a:ext cx="1626376" cy="501878"/>
          </a:xfrm>
          <a:prstGeom prst="rect">
            <a:avLst/>
          </a:prstGeom>
          <a:solidFill>
            <a:srgbClr val="00B050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Update Distance</a:t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49" name="Google Shape;749;p36"/>
          <p:cNvSpPr/>
          <p:nvPr/>
        </p:nvSpPr>
        <p:spPr>
          <a:xfrm>
            <a:off x="270921" y="6251241"/>
            <a:ext cx="1626376" cy="501878"/>
          </a:xfrm>
          <a:prstGeom prst="rect">
            <a:avLst/>
          </a:prstGeom>
          <a:solidFill>
            <a:srgbClr val="7030A0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Pure Pursuit</a:t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50" name="Google Shape;750;p36"/>
          <p:cNvSpPr/>
          <p:nvPr/>
        </p:nvSpPr>
        <p:spPr>
          <a:xfrm>
            <a:off x="4656150" y="4543682"/>
            <a:ext cx="1626376" cy="501878"/>
          </a:xfrm>
          <a:prstGeom prst="rect">
            <a:avLst/>
          </a:prstGeom>
          <a:solidFill>
            <a:srgbClr val="7030A0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Lag Pursuit</a:t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51" name="Google Shape;751;p36"/>
          <p:cNvSpPr/>
          <p:nvPr/>
        </p:nvSpPr>
        <p:spPr>
          <a:xfrm>
            <a:off x="1412559" y="4042032"/>
            <a:ext cx="1626376" cy="501878"/>
          </a:xfrm>
          <a:prstGeom prst="rect">
            <a:avLst/>
          </a:prstGeom>
          <a:solidFill>
            <a:srgbClr val="0070C0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Distance &lt; 1000m</a:t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52" name="Google Shape;752;p36"/>
          <p:cNvSpPr/>
          <p:nvPr/>
        </p:nvSpPr>
        <p:spPr>
          <a:xfrm>
            <a:off x="4656150" y="4042031"/>
            <a:ext cx="1626376" cy="501878"/>
          </a:xfrm>
          <a:prstGeom prst="rect">
            <a:avLst/>
          </a:prstGeom>
          <a:solidFill>
            <a:srgbClr val="0070C0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Distance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&gt; 1000m</a:t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53" name="Google Shape;753;p36"/>
          <p:cNvSpPr/>
          <p:nvPr/>
        </p:nvSpPr>
        <p:spPr>
          <a:xfrm>
            <a:off x="1412559" y="4544523"/>
            <a:ext cx="1626376" cy="501878"/>
          </a:xfrm>
          <a:prstGeom prst="rect">
            <a:avLst/>
          </a:prstGeom>
          <a:solidFill>
            <a:srgbClr val="A5A5A5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Selector</a:t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54" name="Google Shape;754;p36"/>
          <p:cNvSpPr/>
          <p:nvPr/>
        </p:nvSpPr>
        <p:spPr>
          <a:xfrm>
            <a:off x="2747470" y="6254174"/>
            <a:ext cx="1626376" cy="501878"/>
          </a:xfrm>
          <a:prstGeom prst="rect">
            <a:avLst/>
          </a:prstGeom>
          <a:solidFill>
            <a:srgbClr val="7030A0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Lag Pursuit</a:t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55" name="Google Shape;755;p36"/>
          <p:cNvSpPr/>
          <p:nvPr/>
        </p:nvSpPr>
        <p:spPr>
          <a:xfrm>
            <a:off x="270921" y="5738529"/>
            <a:ext cx="1626376" cy="501878"/>
          </a:xfrm>
          <a:prstGeom prst="rect">
            <a:avLst/>
          </a:prstGeom>
          <a:solidFill>
            <a:srgbClr val="0070C0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LOS &lt;= 1</a:t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56" name="Google Shape;756;p36"/>
          <p:cNvSpPr/>
          <p:nvPr/>
        </p:nvSpPr>
        <p:spPr>
          <a:xfrm>
            <a:off x="2747470" y="5749363"/>
            <a:ext cx="1626376" cy="501878"/>
          </a:xfrm>
          <a:prstGeom prst="rect">
            <a:avLst/>
          </a:prstGeom>
          <a:solidFill>
            <a:srgbClr val="0070C0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LOS &gt; 1</a:t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57" name="Google Shape;757;p36"/>
          <p:cNvSpPr/>
          <p:nvPr/>
        </p:nvSpPr>
        <p:spPr>
          <a:xfrm>
            <a:off x="3111053" y="2292255"/>
            <a:ext cx="1626376" cy="501878"/>
          </a:xfrm>
          <a:prstGeom prst="rect">
            <a:avLst/>
          </a:prstGeom>
          <a:solidFill>
            <a:srgbClr val="00B050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Update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LOS</a:t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758" name="Google Shape;758;p36"/>
          <p:cNvCxnSpPr>
            <a:stCxn id="747" idx="2"/>
            <a:endCxn id="748" idx="0"/>
          </p:cNvCxnSpPr>
          <p:nvPr/>
        </p:nvCxnSpPr>
        <p:spPr>
          <a:xfrm>
            <a:off x="3924241" y="1340811"/>
            <a:ext cx="0" cy="44970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759" name="Google Shape;759;p36"/>
          <p:cNvCxnSpPr>
            <a:stCxn id="745" idx="2"/>
            <a:endCxn id="751" idx="0"/>
          </p:cNvCxnSpPr>
          <p:nvPr/>
        </p:nvCxnSpPr>
        <p:spPr>
          <a:xfrm flipH="1">
            <a:off x="2225641" y="3296011"/>
            <a:ext cx="1698600" cy="74610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760" name="Google Shape;760;p36"/>
          <p:cNvCxnSpPr>
            <a:stCxn id="745" idx="2"/>
            <a:endCxn id="752" idx="0"/>
          </p:cNvCxnSpPr>
          <p:nvPr/>
        </p:nvCxnSpPr>
        <p:spPr>
          <a:xfrm>
            <a:off x="3924241" y="3296011"/>
            <a:ext cx="1545000" cy="74610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761" name="Google Shape;761;p36"/>
          <p:cNvCxnSpPr>
            <a:stCxn id="753" idx="2"/>
            <a:endCxn id="755" idx="0"/>
          </p:cNvCxnSpPr>
          <p:nvPr/>
        </p:nvCxnSpPr>
        <p:spPr>
          <a:xfrm flipH="1">
            <a:off x="1084247" y="5046401"/>
            <a:ext cx="1141500" cy="69210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762" name="Google Shape;762;p36"/>
          <p:cNvCxnSpPr>
            <a:stCxn id="753" idx="2"/>
            <a:endCxn id="756" idx="0"/>
          </p:cNvCxnSpPr>
          <p:nvPr/>
        </p:nvCxnSpPr>
        <p:spPr>
          <a:xfrm>
            <a:off x="2225747" y="5046401"/>
            <a:ext cx="1335000" cy="70290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763" name="Google Shape;763;p36"/>
          <p:cNvCxnSpPr>
            <a:stCxn id="748" idx="3"/>
          </p:cNvCxnSpPr>
          <p:nvPr/>
        </p:nvCxnSpPr>
        <p:spPr>
          <a:xfrm>
            <a:off x="4737429" y="2041543"/>
            <a:ext cx="2493900" cy="660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cxnSp>
        <p:nvCxnSpPr>
          <p:cNvPr id="764" name="Google Shape;764;p36"/>
          <p:cNvCxnSpPr>
            <a:stCxn id="757" idx="3"/>
          </p:cNvCxnSpPr>
          <p:nvPr/>
        </p:nvCxnSpPr>
        <p:spPr>
          <a:xfrm>
            <a:off x="4737429" y="2543194"/>
            <a:ext cx="2493900" cy="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765" name="Google Shape;765;p36"/>
          <p:cNvSpPr txBox="1"/>
          <p:nvPr/>
        </p:nvSpPr>
        <p:spPr>
          <a:xfrm>
            <a:off x="5227815" y="2107589"/>
            <a:ext cx="151323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Data Update</a:t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66" name="Google Shape;766;p36"/>
          <p:cNvSpPr txBox="1"/>
          <p:nvPr/>
        </p:nvSpPr>
        <p:spPr>
          <a:xfrm>
            <a:off x="9202079" y="2137632"/>
            <a:ext cx="2896947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Current State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	#</a:t>
            </a:r>
            <a:r>
              <a:rPr lang="ko-KR" sz="1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적기와 거리 : 650m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	#적기에 대한 시야각(LOS) : 4.3</a:t>
            </a:r>
            <a:endParaRPr/>
          </a:p>
        </p:txBody>
      </p:sp>
      <p:cxnSp>
        <p:nvCxnSpPr>
          <p:cNvPr id="767" name="Google Shape;767;p36"/>
          <p:cNvCxnSpPr>
            <a:endCxn id="746" idx="3"/>
          </p:cNvCxnSpPr>
          <p:nvPr/>
        </p:nvCxnSpPr>
        <p:spPr>
          <a:xfrm rot="10800000">
            <a:off x="8912880" y="2794133"/>
            <a:ext cx="2869500" cy="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768" name="Google Shape;768;p36"/>
          <p:cNvSpPr txBox="1"/>
          <p:nvPr/>
        </p:nvSpPr>
        <p:spPr>
          <a:xfrm>
            <a:off x="-1" y="0"/>
            <a:ext cx="5733355" cy="449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Malgun Gothic"/>
              <a:buNone/>
            </a:pPr>
            <a:r>
              <a:rPr lang="ko-KR" sz="2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AIP Behavior Tree Tutorial : Develop Tree</a:t>
            </a:r>
            <a:endParaRPr sz="24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769" name="Google Shape;769;p36"/>
          <p:cNvCxnSpPr/>
          <p:nvPr/>
        </p:nvCxnSpPr>
        <p:spPr>
          <a:xfrm>
            <a:off x="0" y="373189"/>
            <a:ext cx="5591408" cy="0"/>
          </a:xfrm>
          <a:prstGeom prst="straightConnector1">
            <a:avLst/>
          </a:prstGeom>
          <a:noFill/>
          <a:ln w="19050" cap="flat" cmpd="sng">
            <a:solidFill>
              <a:srgbClr val="5DFFA6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p37"/>
          <p:cNvSpPr txBox="1"/>
          <p:nvPr/>
        </p:nvSpPr>
        <p:spPr>
          <a:xfrm>
            <a:off x="0" y="373189"/>
            <a:ext cx="390748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Unreal Engine Behavior Tree의 구성</a:t>
            </a:r>
            <a:endParaRPr/>
          </a:p>
        </p:txBody>
      </p:sp>
      <p:sp>
        <p:nvSpPr>
          <p:cNvPr id="775" name="Google Shape;775;p37"/>
          <p:cNvSpPr/>
          <p:nvPr/>
        </p:nvSpPr>
        <p:spPr>
          <a:xfrm>
            <a:off x="3111053" y="2794133"/>
            <a:ext cx="1626376" cy="501878"/>
          </a:xfrm>
          <a:prstGeom prst="rect">
            <a:avLst/>
          </a:prstGeom>
          <a:solidFill>
            <a:srgbClr val="A5A5A5"/>
          </a:solidFill>
          <a:ln w="19050" cap="flat" cmpd="sng">
            <a:solidFill>
              <a:srgbClr val="FFFF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Selector</a:t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76" name="Google Shape;776;p37"/>
          <p:cNvSpPr/>
          <p:nvPr/>
        </p:nvSpPr>
        <p:spPr>
          <a:xfrm>
            <a:off x="7286504" y="916402"/>
            <a:ext cx="1626376" cy="3755462"/>
          </a:xfrm>
          <a:prstGeom prst="rect">
            <a:avLst/>
          </a:prstGeom>
          <a:solidFill>
            <a:srgbClr val="0C0C0C"/>
          </a:solidFill>
          <a:ln w="19050" cap="flat" cmpd="sng">
            <a:solidFill>
              <a:srgbClr val="9FE6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BlackBoard</a:t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77" name="Google Shape;777;p37"/>
          <p:cNvSpPr/>
          <p:nvPr/>
        </p:nvSpPr>
        <p:spPr>
          <a:xfrm>
            <a:off x="3111053" y="998022"/>
            <a:ext cx="1626376" cy="342789"/>
          </a:xfrm>
          <a:prstGeom prst="rect">
            <a:avLst/>
          </a:prstGeom>
          <a:solidFill>
            <a:srgbClr val="FF0000"/>
          </a:solidFill>
          <a:ln w="19050" cap="flat" cmpd="sng">
            <a:solidFill>
              <a:srgbClr val="FFFF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Root</a:t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78" name="Google Shape;778;p37"/>
          <p:cNvSpPr/>
          <p:nvPr/>
        </p:nvSpPr>
        <p:spPr>
          <a:xfrm>
            <a:off x="3111053" y="1790604"/>
            <a:ext cx="1626376" cy="501878"/>
          </a:xfrm>
          <a:prstGeom prst="rect">
            <a:avLst/>
          </a:prstGeom>
          <a:solidFill>
            <a:srgbClr val="00B050"/>
          </a:solidFill>
          <a:ln w="19050" cap="flat" cmpd="sng">
            <a:solidFill>
              <a:srgbClr val="FFFF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Update Distance</a:t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79" name="Google Shape;779;p37"/>
          <p:cNvSpPr/>
          <p:nvPr/>
        </p:nvSpPr>
        <p:spPr>
          <a:xfrm>
            <a:off x="270921" y="6251241"/>
            <a:ext cx="1626376" cy="501878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Pure Pursuit</a:t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80" name="Google Shape;780;p37"/>
          <p:cNvSpPr/>
          <p:nvPr/>
        </p:nvSpPr>
        <p:spPr>
          <a:xfrm>
            <a:off x="4656150" y="4543682"/>
            <a:ext cx="1626376" cy="501878"/>
          </a:xfrm>
          <a:prstGeom prst="rect">
            <a:avLst/>
          </a:prstGeom>
          <a:solidFill>
            <a:srgbClr val="7030A0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Lag Pursuit</a:t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81" name="Google Shape;781;p37"/>
          <p:cNvSpPr/>
          <p:nvPr/>
        </p:nvSpPr>
        <p:spPr>
          <a:xfrm>
            <a:off x="1412559" y="4042032"/>
            <a:ext cx="1626376" cy="501878"/>
          </a:xfrm>
          <a:prstGeom prst="rect">
            <a:avLst/>
          </a:prstGeom>
          <a:solidFill>
            <a:srgbClr val="0070C0"/>
          </a:solidFill>
          <a:ln w="19050" cap="flat" cmpd="sng">
            <a:solidFill>
              <a:srgbClr val="FFFF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Distance &lt; 1000m</a:t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82" name="Google Shape;782;p37"/>
          <p:cNvSpPr/>
          <p:nvPr/>
        </p:nvSpPr>
        <p:spPr>
          <a:xfrm>
            <a:off x="4656150" y="4042031"/>
            <a:ext cx="1626376" cy="501878"/>
          </a:xfrm>
          <a:prstGeom prst="rect">
            <a:avLst/>
          </a:prstGeom>
          <a:solidFill>
            <a:srgbClr val="0070C0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Distance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&gt;= 1000m</a:t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83" name="Google Shape;783;p37"/>
          <p:cNvSpPr/>
          <p:nvPr/>
        </p:nvSpPr>
        <p:spPr>
          <a:xfrm>
            <a:off x="1412559" y="4544523"/>
            <a:ext cx="1626376" cy="501878"/>
          </a:xfrm>
          <a:prstGeom prst="rect">
            <a:avLst/>
          </a:prstGeom>
          <a:solidFill>
            <a:srgbClr val="A5A5A5"/>
          </a:solidFill>
          <a:ln w="19050" cap="flat" cmpd="sng">
            <a:solidFill>
              <a:srgbClr val="FFFF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Selector</a:t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84" name="Google Shape;784;p37"/>
          <p:cNvSpPr/>
          <p:nvPr/>
        </p:nvSpPr>
        <p:spPr>
          <a:xfrm>
            <a:off x="2747470" y="6254174"/>
            <a:ext cx="1626376" cy="501878"/>
          </a:xfrm>
          <a:prstGeom prst="rect">
            <a:avLst/>
          </a:prstGeom>
          <a:solidFill>
            <a:srgbClr val="7030A0"/>
          </a:solidFill>
          <a:ln w="19050" cap="flat" cmpd="sng">
            <a:solidFill>
              <a:srgbClr val="FFFF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Lag Pursuit</a:t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85" name="Google Shape;785;p37"/>
          <p:cNvSpPr/>
          <p:nvPr/>
        </p:nvSpPr>
        <p:spPr>
          <a:xfrm>
            <a:off x="270921" y="5738529"/>
            <a:ext cx="1626376" cy="501878"/>
          </a:xfrm>
          <a:prstGeom prst="rect">
            <a:avLst/>
          </a:prstGeom>
          <a:solidFill>
            <a:srgbClr val="0070C0"/>
          </a:solidFill>
          <a:ln w="1905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LOS &lt;= 1</a:t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86" name="Google Shape;786;p37"/>
          <p:cNvSpPr/>
          <p:nvPr/>
        </p:nvSpPr>
        <p:spPr>
          <a:xfrm>
            <a:off x="2747470" y="5749363"/>
            <a:ext cx="1626376" cy="501878"/>
          </a:xfrm>
          <a:prstGeom prst="rect">
            <a:avLst/>
          </a:prstGeom>
          <a:solidFill>
            <a:srgbClr val="0070C0"/>
          </a:solidFill>
          <a:ln w="19050" cap="flat" cmpd="sng">
            <a:solidFill>
              <a:srgbClr val="FFFF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LOS &gt; 1</a:t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87" name="Google Shape;787;p37"/>
          <p:cNvSpPr/>
          <p:nvPr/>
        </p:nvSpPr>
        <p:spPr>
          <a:xfrm>
            <a:off x="3111053" y="2292255"/>
            <a:ext cx="1626376" cy="501878"/>
          </a:xfrm>
          <a:prstGeom prst="rect">
            <a:avLst/>
          </a:prstGeom>
          <a:solidFill>
            <a:srgbClr val="00B050"/>
          </a:solidFill>
          <a:ln w="19050" cap="flat" cmpd="sng">
            <a:solidFill>
              <a:srgbClr val="FFFF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Update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LOS</a:t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788" name="Google Shape;788;p37"/>
          <p:cNvCxnSpPr>
            <a:stCxn id="777" idx="2"/>
            <a:endCxn id="778" idx="0"/>
          </p:cNvCxnSpPr>
          <p:nvPr/>
        </p:nvCxnSpPr>
        <p:spPr>
          <a:xfrm>
            <a:off x="3924241" y="1340811"/>
            <a:ext cx="0" cy="449700"/>
          </a:xfrm>
          <a:prstGeom prst="straightConnector1">
            <a:avLst/>
          </a:prstGeom>
          <a:noFill/>
          <a:ln w="12700" cap="flat" cmpd="sng">
            <a:solidFill>
              <a:srgbClr val="FFFF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789" name="Google Shape;789;p37"/>
          <p:cNvCxnSpPr>
            <a:stCxn id="775" idx="2"/>
            <a:endCxn id="781" idx="0"/>
          </p:cNvCxnSpPr>
          <p:nvPr/>
        </p:nvCxnSpPr>
        <p:spPr>
          <a:xfrm flipH="1">
            <a:off x="2225641" y="3296011"/>
            <a:ext cx="1698600" cy="746100"/>
          </a:xfrm>
          <a:prstGeom prst="straightConnector1">
            <a:avLst/>
          </a:prstGeom>
          <a:noFill/>
          <a:ln w="12700" cap="flat" cmpd="sng">
            <a:solidFill>
              <a:srgbClr val="FFFF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790" name="Google Shape;790;p37"/>
          <p:cNvCxnSpPr>
            <a:stCxn id="775" idx="2"/>
            <a:endCxn id="782" idx="0"/>
          </p:cNvCxnSpPr>
          <p:nvPr/>
        </p:nvCxnSpPr>
        <p:spPr>
          <a:xfrm>
            <a:off x="3924241" y="3296011"/>
            <a:ext cx="1545000" cy="74610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791" name="Google Shape;791;p37"/>
          <p:cNvCxnSpPr>
            <a:stCxn id="783" idx="2"/>
            <a:endCxn id="785" idx="0"/>
          </p:cNvCxnSpPr>
          <p:nvPr/>
        </p:nvCxnSpPr>
        <p:spPr>
          <a:xfrm flipH="1">
            <a:off x="1084247" y="5046401"/>
            <a:ext cx="1141500" cy="692100"/>
          </a:xfrm>
          <a:prstGeom prst="straightConnector1">
            <a:avLst/>
          </a:prstGeom>
          <a:noFill/>
          <a:ln w="12700" cap="flat" cmpd="sng">
            <a:solidFill>
              <a:srgbClr val="FFFF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792" name="Google Shape;792;p37"/>
          <p:cNvCxnSpPr>
            <a:stCxn id="783" idx="2"/>
            <a:endCxn id="786" idx="0"/>
          </p:cNvCxnSpPr>
          <p:nvPr/>
        </p:nvCxnSpPr>
        <p:spPr>
          <a:xfrm>
            <a:off x="2225747" y="5046401"/>
            <a:ext cx="1335000" cy="702900"/>
          </a:xfrm>
          <a:prstGeom prst="straightConnector1">
            <a:avLst/>
          </a:prstGeom>
          <a:noFill/>
          <a:ln w="12700" cap="flat" cmpd="sng">
            <a:solidFill>
              <a:srgbClr val="FFFF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793" name="Google Shape;793;p37"/>
          <p:cNvSpPr txBox="1"/>
          <p:nvPr/>
        </p:nvSpPr>
        <p:spPr>
          <a:xfrm>
            <a:off x="5147787" y="1672783"/>
            <a:ext cx="1728358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Distance Update : 650m</a:t>
            </a:r>
            <a:endParaRPr sz="11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794" name="Google Shape;794;p37"/>
          <p:cNvCxnSpPr>
            <a:stCxn id="778" idx="3"/>
          </p:cNvCxnSpPr>
          <p:nvPr/>
        </p:nvCxnSpPr>
        <p:spPr>
          <a:xfrm>
            <a:off x="4737429" y="2041543"/>
            <a:ext cx="2549100" cy="6600"/>
          </a:xfrm>
          <a:prstGeom prst="straightConnector1">
            <a:avLst/>
          </a:prstGeom>
          <a:noFill/>
          <a:ln w="12700" cap="flat" cmpd="sng">
            <a:solidFill>
              <a:srgbClr val="FFFF00"/>
            </a:solidFill>
            <a:prstDash val="dot"/>
            <a:miter lim="800000"/>
            <a:headEnd type="none" w="sm" len="sm"/>
            <a:tailEnd type="triangle" w="med" len="med"/>
          </a:ln>
        </p:spPr>
      </p:cxnSp>
      <p:cxnSp>
        <p:nvCxnSpPr>
          <p:cNvPr id="795" name="Google Shape;795;p37"/>
          <p:cNvCxnSpPr>
            <a:stCxn id="787" idx="3"/>
          </p:cNvCxnSpPr>
          <p:nvPr/>
        </p:nvCxnSpPr>
        <p:spPr>
          <a:xfrm>
            <a:off x="4737429" y="2543194"/>
            <a:ext cx="2549100" cy="13200"/>
          </a:xfrm>
          <a:prstGeom prst="straightConnector1">
            <a:avLst/>
          </a:prstGeom>
          <a:noFill/>
          <a:ln w="12700" cap="flat" cmpd="sng">
            <a:solidFill>
              <a:srgbClr val="FFFF00"/>
            </a:solidFill>
            <a:prstDash val="dot"/>
            <a:miter lim="800000"/>
            <a:headEnd type="none" w="sm" len="sm"/>
            <a:tailEnd type="triangle" w="med" len="med"/>
          </a:ln>
        </p:spPr>
      </p:cxnSp>
      <p:sp>
        <p:nvSpPr>
          <p:cNvPr id="796" name="Google Shape;796;p37"/>
          <p:cNvSpPr txBox="1"/>
          <p:nvPr/>
        </p:nvSpPr>
        <p:spPr>
          <a:xfrm>
            <a:off x="5147787" y="2185105"/>
            <a:ext cx="1228221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Los Update : 4.3</a:t>
            </a:r>
            <a:endParaRPr sz="11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797" name="Google Shape;797;p37"/>
          <p:cNvCxnSpPr>
            <a:endCxn id="781" idx="3"/>
          </p:cNvCxnSpPr>
          <p:nvPr/>
        </p:nvCxnSpPr>
        <p:spPr>
          <a:xfrm flipH="1">
            <a:off x="3038935" y="3540271"/>
            <a:ext cx="4232700" cy="752700"/>
          </a:xfrm>
          <a:prstGeom prst="bentConnector3">
            <a:avLst>
              <a:gd name="adj1" fmla="val 71281"/>
            </a:avLst>
          </a:prstGeom>
          <a:noFill/>
          <a:ln w="12700" cap="flat" cmpd="sng">
            <a:solidFill>
              <a:srgbClr val="FFFF00"/>
            </a:solidFill>
            <a:prstDash val="dot"/>
            <a:miter lim="800000"/>
            <a:headEnd type="none" w="sm" len="sm"/>
            <a:tailEnd type="triangle" w="med" len="med"/>
          </a:ln>
        </p:spPr>
      </p:cxnSp>
      <p:cxnSp>
        <p:nvCxnSpPr>
          <p:cNvPr id="798" name="Google Shape;798;p37"/>
          <p:cNvCxnSpPr>
            <a:endCxn id="785" idx="3"/>
          </p:cNvCxnSpPr>
          <p:nvPr/>
        </p:nvCxnSpPr>
        <p:spPr>
          <a:xfrm flipH="1">
            <a:off x="1897297" y="5363968"/>
            <a:ext cx="1470000" cy="625500"/>
          </a:xfrm>
          <a:prstGeom prst="bentConnector3">
            <a:avLst>
              <a:gd name="adj1" fmla="val 49997"/>
            </a:avLst>
          </a:prstGeom>
          <a:noFill/>
          <a:ln w="12700" cap="flat" cmpd="sng">
            <a:solidFill>
              <a:srgbClr val="FFFF00"/>
            </a:solidFill>
            <a:prstDash val="dot"/>
            <a:miter lim="800000"/>
            <a:headEnd type="none" w="sm" len="sm"/>
            <a:tailEnd type="triangle" w="med" len="med"/>
          </a:ln>
        </p:spPr>
      </p:cxnSp>
      <p:cxnSp>
        <p:nvCxnSpPr>
          <p:cNvPr id="799" name="Google Shape;799;p37"/>
          <p:cNvCxnSpPr>
            <a:stCxn id="776" idx="2"/>
          </p:cNvCxnSpPr>
          <p:nvPr/>
        </p:nvCxnSpPr>
        <p:spPr>
          <a:xfrm rot="5400000">
            <a:off x="5387542" y="2651814"/>
            <a:ext cx="692100" cy="4732200"/>
          </a:xfrm>
          <a:prstGeom prst="bentConnector2">
            <a:avLst/>
          </a:prstGeom>
          <a:noFill/>
          <a:ln w="12700" cap="flat" cmpd="sng">
            <a:solidFill>
              <a:srgbClr val="FFFF00"/>
            </a:solidFill>
            <a:prstDash val="dot"/>
            <a:miter lim="800000"/>
            <a:headEnd type="none" w="sm" len="sm"/>
            <a:tailEnd type="none" w="sm" len="sm"/>
          </a:ln>
        </p:spPr>
      </p:cxnSp>
      <p:sp>
        <p:nvSpPr>
          <p:cNvPr id="800" name="Google Shape;800;p37"/>
          <p:cNvSpPr txBox="1"/>
          <p:nvPr/>
        </p:nvSpPr>
        <p:spPr>
          <a:xfrm>
            <a:off x="5149699" y="3242834"/>
            <a:ext cx="1212191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Distance : 650m</a:t>
            </a:r>
            <a:endParaRPr sz="11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01" name="Google Shape;801;p37"/>
          <p:cNvSpPr txBox="1"/>
          <p:nvPr/>
        </p:nvSpPr>
        <p:spPr>
          <a:xfrm>
            <a:off x="5147787" y="5392465"/>
            <a:ext cx="712054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Los : 4.3</a:t>
            </a:r>
            <a:endParaRPr sz="11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02" name="Google Shape;802;p37"/>
          <p:cNvSpPr txBox="1"/>
          <p:nvPr/>
        </p:nvSpPr>
        <p:spPr>
          <a:xfrm>
            <a:off x="-1" y="0"/>
            <a:ext cx="5733355" cy="449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Malgun Gothic"/>
              <a:buNone/>
            </a:pPr>
            <a:r>
              <a:rPr lang="ko-KR" sz="2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AIP Behavior Tree Tutorial : Develop Tree</a:t>
            </a:r>
            <a:endParaRPr sz="24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803" name="Google Shape;803;p37"/>
          <p:cNvCxnSpPr/>
          <p:nvPr/>
        </p:nvCxnSpPr>
        <p:spPr>
          <a:xfrm>
            <a:off x="0" y="373189"/>
            <a:ext cx="5591408" cy="0"/>
          </a:xfrm>
          <a:prstGeom prst="straightConnector1">
            <a:avLst/>
          </a:prstGeom>
          <a:noFill/>
          <a:ln w="19050" cap="flat" cmpd="sng">
            <a:solidFill>
              <a:srgbClr val="5DFFA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04" name="Google Shape;804;p37"/>
          <p:cNvSpPr txBox="1"/>
          <p:nvPr/>
        </p:nvSpPr>
        <p:spPr>
          <a:xfrm>
            <a:off x="2954684" y="1638328"/>
            <a:ext cx="156369" cy="215444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sz="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05" name="Google Shape;805;p37"/>
          <p:cNvSpPr txBox="1"/>
          <p:nvPr/>
        </p:nvSpPr>
        <p:spPr>
          <a:xfrm>
            <a:off x="1397626" y="3837195"/>
            <a:ext cx="156369" cy="215444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sz="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06" name="Google Shape;806;p37"/>
          <p:cNvSpPr txBox="1"/>
          <p:nvPr/>
        </p:nvSpPr>
        <p:spPr>
          <a:xfrm>
            <a:off x="270921" y="5533919"/>
            <a:ext cx="156369" cy="215444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sz="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07" name="Google Shape;807;p37"/>
          <p:cNvSpPr txBox="1"/>
          <p:nvPr/>
        </p:nvSpPr>
        <p:spPr>
          <a:xfrm>
            <a:off x="4217558" y="5546353"/>
            <a:ext cx="156369" cy="215444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sz="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808" name="Google Shape;808;p37"/>
          <p:cNvCxnSpPr>
            <a:stCxn id="776" idx="2"/>
            <a:endCxn id="786" idx="3"/>
          </p:cNvCxnSpPr>
          <p:nvPr/>
        </p:nvCxnSpPr>
        <p:spPr>
          <a:xfrm rot="5400000">
            <a:off x="5572642" y="3473214"/>
            <a:ext cx="1328400" cy="3725700"/>
          </a:xfrm>
          <a:prstGeom prst="bentConnector2">
            <a:avLst/>
          </a:prstGeom>
          <a:noFill/>
          <a:ln w="12700" cap="flat" cmpd="sng">
            <a:solidFill>
              <a:srgbClr val="FFFF00"/>
            </a:solidFill>
            <a:prstDash val="dot"/>
            <a:miter lim="800000"/>
            <a:headEnd type="none" w="sm" len="sm"/>
            <a:tailEnd type="triangle" w="med" len="med"/>
          </a:ln>
        </p:spPr>
      </p:cxnSp>
      <p:sp>
        <p:nvSpPr>
          <p:cNvPr id="809" name="Google Shape;809;p37"/>
          <p:cNvSpPr txBox="1"/>
          <p:nvPr/>
        </p:nvSpPr>
        <p:spPr>
          <a:xfrm>
            <a:off x="5187034" y="5989467"/>
            <a:ext cx="712054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Los : 4.3</a:t>
            </a:r>
            <a:endParaRPr sz="11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38"/>
          <p:cNvSpPr txBox="1"/>
          <p:nvPr/>
        </p:nvSpPr>
        <p:spPr>
          <a:xfrm>
            <a:off x="0" y="373189"/>
            <a:ext cx="291849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C++ Behavior Tree의 구성</a:t>
            </a:r>
            <a:endParaRPr/>
          </a:p>
        </p:txBody>
      </p:sp>
      <p:sp>
        <p:nvSpPr>
          <p:cNvPr id="815" name="Google Shape;815;p38"/>
          <p:cNvSpPr/>
          <p:nvPr/>
        </p:nvSpPr>
        <p:spPr>
          <a:xfrm>
            <a:off x="543721" y="5283591"/>
            <a:ext cx="1626376" cy="607273"/>
          </a:xfrm>
          <a:prstGeom prst="rect">
            <a:avLst/>
          </a:prstGeom>
          <a:solidFill>
            <a:srgbClr val="7030A0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Task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Node</a:t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16" name="Google Shape;816;p38"/>
          <p:cNvSpPr/>
          <p:nvPr/>
        </p:nvSpPr>
        <p:spPr>
          <a:xfrm>
            <a:off x="539019" y="4310671"/>
            <a:ext cx="1626376" cy="607273"/>
          </a:xfrm>
          <a:prstGeom prst="rect">
            <a:avLst/>
          </a:prstGeom>
          <a:solidFill>
            <a:srgbClr val="0070C0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Decorator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Node</a:t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17" name="Google Shape;817;p38"/>
          <p:cNvSpPr/>
          <p:nvPr/>
        </p:nvSpPr>
        <p:spPr>
          <a:xfrm>
            <a:off x="539019" y="6007716"/>
            <a:ext cx="1626376" cy="607273"/>
          </a:xfrm>
          <a:prstGeom prst="rect">
            <a:avLst/>
          </a:prstGeom>
          <a:solidFill>
            <a:srgbClr val="00B050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Service</a:t>
            </a:r>
            <a:b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Node</a:t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18" name="Google Shape;818;p38"/>
          <p:cNvSpPr txBox="1"/>
          <p:nvPr/>
        </p:nvSpPr>
        <p:spPr>
          <a:xfrm>
            <a:off x="4900669" y="5630528"/>
            <a:ext cx="565571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서비스 노드와 같은 역할 구분이 사라짐</a:t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트리의 말단 부분. 객체의 행위 자체를 구현하는 부분</a:t>
            </a:r>
            <a:endParaRPr/>
          </a:p>
        </p:txBody>
      </p:sp>
      <p:sp>
        <p:nvSpPr>
          <p:cNvPr id="819" name="Google Shape;819;p38"/>
          <p:cNvSpPr txBox="1"/>
          <p:nvPr/>
        </p:nvSpPr>
        <p:spPr>
          <a:xfrm>
            <a:off x="2450880" y="4425092"/>
            <a:ext cx="697338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트리의 조건문, 자식 노드의 실행 결과값을 판단 및 변환하는 노드</a:t>
            </a:r>
            <a:endParaRPr/>
          </a:p>
        </p:txBody>
      </p:sp>
      <p:cxnSp>
        <p:nvCxnSpPr>
          <p:cNvPr id="820" name="Google Shape;820;p38"/>
          <p:cNvCxnSpPr/>
          <p:nvPr/>
        </p:nvCxnSpPr>
        <p:spPr>
          <a:xfrm>
            <a:off x="314936" y="2635492"/>
            <a:ext cx="11562128" cy="0"/>
          </a:xfrm>
          <a:prstGeom prst="straightConnector1">
            <a:avLst/>
          </a:prstGeom>
          <a:noFill/>
          <a:ln w="19050" cap="flat" cmpd="sng">
            <a:solidFill>
              <a:srgbClr val="EAF2FA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21" name="Google Shape;821;p38"/>
          <p:cNvSpPr/>
          <p:nvPr/>
        </p:nvSpPr>
        <p:spPr>
          <a:xfrm>
            <a:off x="539019" y="2874650"/>
            <a:ext cx="1626376" cy="607273"/>
          </a:xfrm>
          <a:prstGeom prst="rect">
            <a:avLst/>
          </a:prstGeom>
          <a:solidFill>
            <a:srgbClr val="A5A5A5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Fallback</a:t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22" name="Google Shape;822;p38"/>
          <p:cNvSpPr/>
          <p:nvPr/>
        </p:nvSpPr>
        <p:spPr>
          <a:xfrm>
            <a:off x="539019" y="3595015"/>
            <a:ext cx="1626376" cy="607273"/>
          </a:xfrm>
          <a:prstGeom prst="rect">
            <a:avLst/>
          </a:prstGeom>
          <a:solidFill>
            <a:srgbClr val="7F7F7F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Sequence</a:t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23" name="Google Shape;823;p38"/>
          <p:cNvSpPr txBox="1"/>
          <p:nvPr/>
        </p:nvSpPr>
        <p:spPr>
          <a:xfrm>
            <a:off x="2450880" y="2993621"/>
            <a:ext cx="739785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Unreal BT의 Selector 노드, 자손 노드중 성공한 노드를 실행, if else 문</a:t>
            </a:r>
            <a:endParaRPr/>
          </a:p>
        </p:txBody>
      </p:sp>
      <p:sp>
        <p:nvSpPr>
          <p:cNvPr id="824" name="Google Shape;824;p38"/>
          <p:cNvSpPr txBox="1"/>
          <p:nvPr/>
        </p:nvSpPr>
        <p:spPr>
          <a:xfrm>
            <a:off x="2450880" y="3713985"/>
            <a:ext cx="357739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자손 노드를 모두 실행, if, if, if 문</a:t>
            </a:r>
            <a:endParaRPr/>
          </a:p>
        </p:txBody>
      </p:sp>
      <p:cxnSp>
        <p:nvCxnSpPr>
          <p:cNvPr id="825" name="Google Shape;825;p38"/>
          <p:cNvCxnSpPr/>
          <p:nvPr/>
        </p:nvCxnSpPr>
        <p:spPr>
          <a:xfrm>
            <a:off x="339624" y="5039007"/>
            <a:ext cx="11562128" cy="0"/>
          </a:xfrm>
          <a:prstGeom prst="straightConnector1">
            <a:avLst/>
          </a:prstGeom>
          <a:noFill/>
          <a:ln w="19050" cap="flat" cmpd="sng">
            <a:solidFill>
              <a:srgbClr val="EAF2FA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26" name="Google Shape;826;p38"/>
          <p:cNvSpPr/>
          <p:nvPr/>
        </p:nvSpPr>
        <p:spPr>
          <a:xfrm>
            <a:off x="539019" y="1919913"/>
            <a:ext cx="1626376" cy="607273"/>
          </a:xfrm>
          <a:prstGeom prst="rect">
            <a:avLst/>
          </a:prstGeom>
          <a:solidFill>
            <a:srgbClr val="0C0C0C"/>
          </a:solidFill>
          <a:ln w="19050" cap="flat" cmpd="sng">
            <a:solidFill>
              <a:srgbClr val="9FE6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BlackBoard</a:t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27" name="Google Shape;827;p38"/>
          <p:cNvSpPr txBox="1"/>
          <p:nvPr/>
        </p:nvSpPr>
        <p:spPr>
          <a:xfrm>
            <a:off x="2450880" y="2038883"/>
            <a:ext cx="422814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Behavior Tree 가 정보를 저장하는 공간</a:t>
            </a:r>
            <a:endParaRPr/>
          </a:p>
        </p:txBody>
      </p:sp>
      <p:sp>
        <p:nvSpPr>
          <p:cNvPr id="828" name="Google Shape;828;p38"/>
          <p:cNvSpPr txBox="1"/>
          <p:nvPr/>
        </p:nvSpPr>
        <p:spPr>
          <a:xfrm>
            <a:off x="10244856" y="4670698"/>
            <a:ext cx="173380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Flow Control Node</a:t>
            </a:r>
            <a:endParaRPr sz="14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829" name="Google Shape;829;p38"/>
          <p:cNvCxnSpPr/>
          <p:nvPr/>
        </p:nvCxnSpPr>
        <p:spPr>
          <a:xfrm>
            <a:off x="339624" y="6748437"/>
            <a:ext cx="11562128" cy="0"/>
          </a:xfrm>
          <a:prstGeom prst="straightConnector1">
            <a:avLst/>
          </a:prstGeom>
          <a:noFill/>
          <a:ln w="19050" cap="flat" cmpd="sng">
            <a:solidFill>
              <a:srgbClr val="EAF2FA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30" name="Google Shape;830;p38"/>
          <p:cNvSpPr txBox="1"/>
          <p:nvPr/>
        </p:nvSpPr>
        <p:spPr>
          <a:xfrm>
            <a:off x="10556384" y="6177034"/>
            <a:ext cx="134536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Content Node</a:t>
            </a:r>
            <a:endParaRPr sz="14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31" name="Google Shape;831;p38"/>
          <p:cNvSpPr/>
          <p:nvPr/>
        </p:nvSpPr>
        <p:spPr>
          <a:xfrm>
            <a:off x="2918491" y="5625395"/>
            <a:ext cx="1626376" cy="607273"/>
          </a:xfrm>
          <a:prstGeom prst="rect">
            <a:avLst/>
          </a:prstGeom>
          <a:solidFill>
            <a:srgbClr val="7030A0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Action</a:t>
            </a:r>
            <a:b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Node</a:t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32" name="Google Shape;832;p38"/>
          <p:cNvSpPr/>
          <p:nvPr/>
        </p:nvSpPr>
        <p:spPr>
          <a:xfrm>
            <a:off x="2323587" y="5789439"/>
            <a:ext cx="485095" cy="322618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1"/>
          </a:solidFill>
          <a:ln w="19050" cap="flat" cmpd="sng">
            <a:solidFill>
              <a:srgbClr val="9FE6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33" name="Google Shape;833;p38"/>
          <p:cNvSpPr/>
          <p:nvPr/>
        </p:nvSpPr>
        <p:spPr>
          <a:xfrm>
            <a:off x="539019" y="1123621"/>
            <a:ext cx="1626376" cy="607273"/>
          </a:xfrm>
          <a:prstGeom prst="rect">
            <a:avLst/>
          </a:prstGeom>
          <a:solidFill>
            <a:schemeClr val="accent2"/>
          </a:solidFill>
          <a:ln w="19050" cap="flat" cmpd="sng">
            <a:solidFill>
              <a:srgbClr val="9FE6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Tree</a:t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34" name="Google Shape;834;p38"/>
          <p:cNvSpPr txBox="1"/>
          <p:nvPr/>
        </p:nvSpPr>
        <p:spPr>
          <a:xfrm>
            <a:off x="2450880" y="1242591"/>
            <a:ext cx="178446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XML, 사고 회로</a:t>
            </a:r>
            <a:endParaRPr/>
          </a:p>
        </p:txBody>
      </p:sp>
      <p:sp>
        <p:nvSpPr>
          <p:cNvPr id="835" name="Google Shape;835;p38"/>
          <p:cNvSpPr txBox="1"/>
          <p:nvPr/>
        </p:nvSpPr>
        <p:spPr>
          <a:xfrm>
            <a:off x="-1" y="0"/>
            <a:ext cx="5733355" cy="449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Malgun Gothic"/>
              <a:buNone/>
            </a:pPr>
            <a:r>
              <a:rPr lang="ko-KR" sz="2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AIP Behavior Tree Tutorial : Develop Tree</a:t>
            </a:r>
            <a:endParaRPr sz="24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836" name="Google Shape;836;p38"/>
          <p:cNvCxnSpPr/>
          <p:nvPr/>
        </p:nvCxnSpPr>
        <p:spPr>
          <a:xfrm>
            <a:off x="0" y="373189"/>
            <a:ext cx="5591408" cy="0"/>
          </a:xfrm>
          <a:prstGeom prst="straightConnector1">
            <a:avLst/>
          </a:prstGeom>
          <a:noFill/>
          <a:ln w="19050" cap="flat" cmpd="sng">
            <a:solidFill>
              <a:srgbClr val="5DFFA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37" name="Google Shape;837;p38"/>
          <p:cNvSpPr txBox="1"/>
          <p:nvPr/>
        </p:nvSpPr>
        <p:spPr>
          <a:xfrm>
            <a:off x="8722449" y="419355"/>
            <a:ext cx="3469551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라이브러리 참고는</a:t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https://www.behaviortree.dev/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p39"/>
          <p:cNvSpPr/>
          <p:nvPr/>
        </p:nvSpPr>
        <p:spPr>
          <a:xfrm>
            <a:off x="5574515" y="2963300"/>
            <a:ext cx="1221921" cy="414775"/>
          </a:xfrm>
          <a:prstGeom prst="rect">
            <a:avLst/>
          </a:prstGeom>
          <a:solidFill>
            <a:srgbClr val="A5A5A5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Fallback</a:t>
            </a:r>
            <a:endParaRPr sz="14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43" name="Google Shape;843;p39"/>
          <p:cNvSpPr/>
          <p:nvPr/>
        </p:nvSpPr>
        <p:spPr>
          <a:xfrm>
            <a:off x="3153490" y="1032609"/>
            <a:ext cx="1221921" cy="283296"/>
          </a:xfrm>
          <a:prstGeom prst="rect">
            <a:avLst/>
          </a:prstGeom>
          <a:solidFill>
            <a:srgbClr val="FF0000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Root</a:t>
            </a:r>
            <a:endParaRPr sz="14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44" name="Google Shape;844;p39"/>
          <p:cNvSpPr/>
          <p:nvPr/>
        </p:nvSpPr>
        <p:spPr>
          <a:xfrm>
            <a:off x="979049" y="2963299"/>
            <a:ext cx="1221921" cy="414775"/>
          </a:xfrm>
          <a:prstGeom prst="rect">
            <a:avLst/>
          </a:prstGeom>
          <a:solidFill>
            <a:srgbClr val="7030A0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Update Distance</a:t>
            </a:r>
            <a:endParaRPr sz="14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45" name="Google Shape;845;p39"/>
          <p:cNvSpPr/>
          <p:nvPr/>
        </p:nvSpPr>
        <p:spPr>
          <a:xfrm>
            <a:off x="3303311" y="6264081"/>
            <a:ext cx="1221921" cy="414775"/>
          </a:xfrm>
          <a:prstGeom prst="rect">
            <a:avLst/>
          </a:prstGeom>
          <a:solidFill>
            <a:srgbClr val="7030A0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Pure Pursuit</a:t>
            </a:r>
            <a:endParaRPr sz="14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46" name="Google Shape;846;p39"/>
          <p:cNvSpPr/>
          <p:nvPr/>
        </p:nvSpPr>
        <p:spPr>
          <a:xfrm>
            <a:off x="8389885" y="4566719"/>
            <a:ext cx="1221921" cy="414775"/>
          </a:xfrm>
          <a:prstGeom prst="rect">
            <a:avLst/>
          </a:prstGeom>
          <a:solidFill>
            <a:srgbClr val="7030A0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Lag Pursuit</a:t>
            </a:r>
            <a:endParaRPr sz="14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47" name="Google Shape;847;p39"/>
          <p:cNvSpPr/>
          <p:nvPr/>
        </p:nvSpPr>
        <p:spPr>
          <a:xfrm>
            <a:off x="2200970" y="4569240"/>
            <a:ext cx="1626376" cy="414775"/>
          </a:xfrm>
          <a:prstGeom prst="rect">
            <a:avLst/>
          </a:prstGeom>
          <a:solidFill>
            <a:srgbClr val="7030A0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DECO_ Distance &lt; 1000m</a:t>
            </a:r>
            <a:endParaRPr sz="14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48" name="Google Shape;848;p39"/>
          <p:cNvSpPr/>
          <p:nvPr/>
        </p:nvSpPr>
        <p:spPr>
          <a:xfrm>
            <a:off x="6458205" y="4566720"/>
            <a:ext cx="1626376" cy="414775"/>
          </a:xfrm>
          <a:prstGeom prst="rect">
            <a:avLst/>
          </a:prstGeom>
          <a:solidFill>
            <a:srgbClr val="7030A0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DECO_ Distance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&gt; 1000m</a:t>
            </a:r>
            <a:endParaRPr sz="14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49" name="Google Shape;849;p39"/>
          <p:cNvSpPr/>
          <p:nvPr/>
        </p:nvSpPr>
        <p:spPr>
          <a:xfrm>
            <a:off x="4563300" y="4566721"/>
            <a:ext cx="1221921" cy="414775"/>
          </a:xfrm>
          <a:prstGeom prst="rect">
            <a:avLst/>
          </a:prstGeom>
          <a:solidFill>
            <a:srgbClr val="A5A5A5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Fallback</a:t>
            </a:r>
            <a:endParaRPr sz="14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50" name="Google Shape;850;p39"/>
          <p:cNvSpPr/>
          <p:nvPr/>
        </p:nvSpPr>
        <p:spPr>
          <a:xfrm>
            <a:off x="6723438" y="6264081"/>
            <a:ext cx="1221921" cy="414775"/>
          </a:xfrm>
          <a:prstGeom prst="rect">
            <a:avLst/>
          </a:prstGeom>
          <a:solidFill>
            <a:srgbClr val="7030A0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Lag Pursuit</a:t>
            </a:r>
            <a:endParaRPr sz="14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51" name="Google Shape;851;p39"/>
          <p:cNvSpPr/>
          <p:nvPr/>
        </p:nvSpPr>
        <p:spPr>
          <a:xfrm>
            <a:off x="1433442" y="6264083"/>
            <a:ext cx="1626376" cy="414775"/>
          </a:xfrm>
          <a:prstGeom prst="rect">
            <a:avLst/>
          </a:prstGeom>
          <a:solidFill>
            <a:srgbClr val="7030A0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DECO_LOS &lt;= 1</a:t>
            </a:r>
            <a:endParaRPr sz="14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52" name="Google Shape;852;p39"/>
          <p:cNvSpPr/>
          <p:nvPr/>
        </p:nvSpPr>
        <p:spPr>
          <a:xfrm>
            <a:off x="4853569" y="6264081"/>
            <a:ext cx="1626376" cy="414775"/>
          </a:xfrm>
          <a:prstGeom prst="rect">
            <a:avLst/>
          </a:prstGeom>
          <a:solidFill>
            <a:srgbClr val="7030A0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DECO_ LOS &gt; 1</a:t>
            </a:r>
            <a:endParaRPr sz="14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53" name="Google Shape;853;p39"/>
          <p:cNvSpPr/>
          <p:nvPr/>
        </p:nvSpPr>
        <p:spPr>
          <a:xfrm>
            <a:off x="3155116" y="2963300"/>
            <a:ext cx="1221921" cy="414775"/>
          </a:xfrm>
          <a:prstGeom prst="rect">
            <a:avLst/>
          </a:prstGeom>
          <a:solidFill>
            <a:srgbClr val="7030A0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Update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LOS</a:t>
            </a:r>
            <a:endParaRPr sz="14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854" name="Google Shape;854;p39"/>
          <p:cNvCxnSpPr>
            <a:stCxn id="843" idx="2"/>
            <a:endCxn id="855" idx="0"/>
          </p:cNvCxnSpPr>
          <p:nvPr/>
        </p:nvCxnSpPr>
        <p:spPr>
          <a:xfrm>
            <a:off x="3764451" y="1315905"/>
            <a:ext cx="0" cy="68940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856" name="Google Shape;856;p39"/>
          <p:cNvCxnSpPr>
            <a:stCxn id="842" idx="2"/>
            <a:endCxn id="857" idx="0"/>
          </p:cNvCxnSpPr>
          <p:nvPr/>
        </p:nvCxnSpPr>
        <p:spPr>
          <a:xfrm flipH="1">
            <a:off x="4163776" y="3378075"/>
            <a:ext cx="2021700" cy="41010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858" name="Google Shape;858;p39"/>
          <p:cNvCxnSpPr>
            <a:stCxn id="842" idx="2"/>
            <a:endCxn id="859" idx="0"/>
          </p:cNvCxnSpPr>
          <p:nvPr/>
        </p:nvCxnSpPr>
        <p:spPr>
          <a:xfrm>
            <a:off x="6185476" y="3378075"/>
            <a:ext cx="1927800" cy="41010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860" name="Google Shape;860;p39"/>
          <p:cNvCxnSpPr>
            <a:stCxn id="849" idx="2"/>
            <a:endCxn id="861" idx="0"/>
          </p:cNvCxnSpPr>
          <p:nvPr/>
        </p:nvCxnSpPr>
        <p:spPr>
          <a:xfrm flipH="1">
            <a:off x="3129761" y="4981496"/>
            <a:ext cx="2044500" cy="48090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862" name="Google Shape;862;p39"/>
          <p:cNvCxnSpPr>
            <a:stCxn id="849" idx="2"/>
            <a:endCxn id="863" idx="0"/>
          </p:cNvCxnSpPr>
          <p:nvPr/>
        </p:nvCxnSpPr>
        <p:spPr>
          <a:xfrm>
            <a:off x="5174261" y="4981496"/>
            <a:ext cx="1327800" cy="47250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855" name="Google Shape;855;p39"/>
          <p:cNvSpPr/>
          <p:nvPr/>
        </p:nvSpPr>
        <p:spPr>
          <a:xfrm>
            <a:off x="3153490" y="2005158"/>
            <a:ext cx="1221921" cy="377068"/>
          </a:xfrm>
          <a:prstGeom prst="rect">
            <a:avLst/>
          </a:prstGeom>
          <a:solidFill>
            <a:srgbClr val="7F7F7F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Sequence</a:t>
            </a:r>
            <a:endParaRPr sz="14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864" name="Google Shape;864;p39"/>
          <p:cNvCxnSpPr>
            <a:stCxn id="855" idx="2"/>
            <a:endCxn id="844" idx="0"/>
          </p:cNvCxnSpPr>
          <p:nvPr/>
        </p:nvCxnSpPr>
        <p:spPr>
          <a:xfrm flipH="1">
            <a:off x="1590050" y="2382226"/>
            <a:ext cx="2174400" cy="58110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865" name="Google Shape;865;p39"/>
          <p:cNvCxnSpPr>
            <a:stCxn id="855" idx="2"/>
            <a:endCxn id="853" idx="0"/>
          </p:cNvCxnSpPr>
          <p:nvPr/>
        </p:nvCxnSpPr>
        <p:spPr>
          <a:xfrm>
            <a:off x="3764451" y="2382226"/>
            <a:ext cx="1500" cy="58110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866" name="Google Shape;866;p39"/>
          <p:cNvCxnSpPr>
            <a:stCxn id="855" idx="2"/>
            <a:endCxn id="842" idx="0"/>
          </p:cNvCxnSpPr>
          <p:nvPr/>
        </p:nvCxnSpPr>
        <p:spPr>
          <a:xfrm>
            <a:off x="3764451" y="2382226"/>
            <a:ext cx="2421000" cy="58110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857" name="Google Shape;857;p39"/>
          <p:cNvSpPr/>
          <p:nvPr/>
        </p:nvSpPr>
        <p:spPr>
          <a:xfrm>
            <a:off x="3552914" y="3788177"/>
            <a:ext cx="1221921" cy="377068"/>
          </a:xfrm>
          <a:prstGeom prst="rect">
            <a:avLst/>
          </a:prstGeom>
          <a:solidFill>
            <a:srgbClr val="7F7F7F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Sequence</a:t>
            </a:r>
            <a:endParaRPr sz="14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61" name="Google Shape;861;p39"/>
          <p:cNvSpPr/>
          <p:nvPr/>
        </p:nvSpPr>
        <p:spPr>
          <a:xfrm>
            <a:off x="2518788" y="5462249"/>
            <a:ext cx="1221921" cy="377068"/>
          </a:xfrm>
          <a:prstGeom prst="rect">
            <a:avLst/>
          </a:prstGeom>
          <a:solidFill>
            <a:srgbClr val="7F7F7F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Sequence</a:t>
            </a:r>
            <a:endParaRPr sz="14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63" name="Google Shape;863;p39"/>
          <p:cNvSpPr/>
          <p:nvPr/>
        </p:nvSpPr>
        <p:spPr>
          <a:xfrm>
            <a:off x="5890972" y="5454026"/>
            <a:ext cx="1221921" cy="377068"/>
          </a:xfrm>
          <a:prstGeom prst="rect">
            <a:avLst/>
          </a:prstGeom>
          <a:solidFill>
            <a:srgbClr val="7F7F7F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Sequence</a:t>
            </a:r>
            <a:endParaRPr sz="14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59" name="Google Shape;859;p39"/>
          <p:cNvSpPr/>
          <p:nvPr/>
        </p:nvSpPr>
        <p:spPr>
          <a:xfrm>
            <a:off x="7502348" y="3788177"/>
            <a:ext cx="1221921" cy="377068"/>
          </a:xfrm>
          <a:prstGeom prst="rect">
            <a:avLst/>
          </a:prstGeom>
          <a:solidFill>
            <a:srgbClr val="7F7F7F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Sequence</a:t>
            </a:r>
            <a:endParaRPr sz="14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867" name="Google Shape;867;p39"/>
          <p:cNvCxnSpPr>
            <a:stCxn id="857" idx="2"/>
            <a:endCxn id="847" idx="0"/>
          </p:cNvCxnSpPr>
          <p:nvPr/>
        </p:nvCxnSpPr>
        <p:spPr>
          <a:xfrm flipH="1">
            <a:off x="3014275" y="4165245"/>
            <a:ext cx="1149600" cy="40410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868" name="Google Shape;868;p39"/>
          <p:cNvCxnSpPr>
            <a:stCxn id="857" idx="2"/>
            <a:endCxn id="849" idx="0"/>
          </p:cNvCxnSpPr>
          <p:nvPr/>
        </p:nvCxnSpPr>
        <p:spPr>
          <a:xfrm>
            <a:off x="4163875" y="4165245"/>
            <a:ext cx="1010400" cy="40140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869" name="Google Shape;869;p39"/>
          <p:cNvCxnSpPr>
            <a:stCxn id="859" idx="2"/>
            <a:endCxn id="848" idx="0"/>
          </p:cNvCxnSpPr>
          <p:nvPr/>
        </p:nvCxnSpPr>
        <p:spPr>
          <a:xfrm flipH="1">
            <a:off x="7271509" y="4165245"/>
            <a:ext cx="841800" cy="40140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870" name="Google Shape;870;p39"/>
          <p:cNvCxnSpPr>
            <a:stCxn id="859" idx="2"/>
            <a:endCxn id="846" idx="0"/>
          </p:cNvCxnSpPr>
          <p:nvPr/>
        </p:nvCxnSpPr>
        <p:spPr>
          <a:xfrm>
            <a:off x="8113309" y="4165245"/>
            <a:ext cx="887400" cy="40140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871" name="Google Shape;871;p39"/>
          <p:cNvCxnSpPr>
            <a:stCxn id="861" idx="2"/>
            <a:endCxn id="851" idx="0"/>
          </p:cNvCxnSpPr>
          <p:nvPr/>
        </p:nvCxnSpPr>
        <p:spPr>
          <a:xfrm flipH="1">
            <a:off x="2246549" y="5839317"/>
            <a:ext cx="883200" cy="42480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872" name="Google Shape;872;p39"/>
          <p:cNvCxnSpPr>
            <a:stCxn id="861" idx="2"/>
            <a:endCxn id="845" idx="0"/>
          </p:cNvCxnSpPr>
          <p:nvPr/>
        </p:nvCxnSpPr>
        <p:spPr>
          <a:xfrm>
            <a:off x="3129749" y="5839317"/>
            <a:ext cx="784500" cy="42480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873" name="Google Shape;873;p39"/>
          <p:cNvCxnSpPr>
            <a:stCxn id="863" idx="2"/>
            <a:endCxn id="850" idx="0"/>
          </p:cNvCxnSpPr>
          <p:nvPr/>
        </p:nvCxnSpPr>
        <p:spPr>
          <a:xfrm>
            <a:off x="6501933" y="5831094"/>
            <a:ext cx="832500" cy="43290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874" name="Google Shape;874;p39"/>
          <p:cNvCxnSpPr>
            <a:stCxn id="863" idx="2"/>
            <a:endCxn id="852" idx="0"/>
          </p:cNvCxnSpPr>
          <p:nvPr/>
        </p:nvCxnSpPr>
        <p:spPr>
          <a:xfrm flipH="1">
            <a:off x="5666733" y="5831094"/>
            <a:ext cx="835200" cy="43290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875" name="Google Shape;875;p39"/>
          <p:cNvSpPr txBox="1"/>
          <p:nvPr/>
        </p:nvSpPr>
        <p:spPr>
          <a:xfrm>
            <a:off x="0" y="373189"/>
            <a:ext cx="291849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C++ Behavior Tree의 구성</a:t>
            </a:r>
            <a:endParaRPr/>
          </a:p>
        </p:txBody>
      </p:sp>
      <p:sp>
        <p:nvSpPr>
          <p:cNvPr id="876" name="Google Shape;876;p39"/>
          <p:cNvSpPr txBox="1"/>
          <p:nvPr/>
        </p:nvSpPr>
        <p:spPr>
          <a:xfrm>
            <a:off x="9377339" y="6108378"/>
            <a:ext cx="2852063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Current State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	#</a:t>
            </a:r>
            <a:r>
              <a:rPr lang="ko-KR" sz="1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적기와 거리 : 650m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	#적기의 상대적 위치(LOS) :4.3</a:t>
            </a:r>
            <a:endParaRPr/>
          </a:p>
        </p:txBody>
      </p:sp>
      <p:sp>
        <p:nvSpPr>
          <p:cNvPr id="877" name="Google Shape;877;p39"/>
          <p:cNvSpPr txBox="1"/>
          <p:nvPr/>
        </p:nvSpPr>
        <p:spPr>
          <a:xfrm>
            <a:off x="-1" y="0"/>
            <a:ext cx="5733355" cy="449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Malgun Gothic"/>
              <a:buNone/>
            </a:pPr>
            <a:r>
              <a:rPr lang="ko-KR" sz="2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AIP Behavior Tree Tutorial : Develop Tree</a:t>
            </a:r>
            <a:endParaRPr sz="24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878" name="Google Shape;878;p39"/>
          <p:cNvCxnSpPr/>
          <p:nvPr/>
        </p:nvCxnSpPr>
        <p:spPr>
          <a:xfrm>
            <a:off x="0" y="373189"/>
            <a:ext cx="5591408" cy="0"/>
          </a:xfrm>
          <a:prstGeom prst="straightConnector1">
            <a:avLst/>
          </a:prstGeom>
          <a:noFill/>
          <a:ln w="19050" cap="flat" cmpd="sng">
            <a:solidFill>
              <a:srgbClr val="5DFFA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79" name="Google Shape;879;p39"/>
          <p:cNvSpPr/>
          <p:nvPr/>
        </p:nvSpPr>
        <p:spPr>
          <a:xfrm>
            <a:off x="10316724" y="916402"/>
            <a:ext cx="1626376" cy="4537624"/>
          </a:xfrm>
          <a:prstGeom prst="rect">
            <a:avLst/>
          </a:prstGeom>
          <a:solidFill>
            <a:srgbClr val="0C0C0C"/>
          </a:solidFill>
          <a:ln w="19050" cap="flat" cmpd="sng">
            <a:solidFill>
              <a:srgbClr val="9FE6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BlackBoard</a:t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40"/>
          <p:cNvSpPr/>
          <p:nvPr/>
        </p:nvSpPr>
        <p:spPr>
          <a:xfrm>
            <a:off x="5574515" y="2963300"/>
            <a:ext cx="1221921" cy="414775"/>
          </a:xfrm>
          <a:prstGeom prst="rect">
            <a:avLst/>
          </a:prstGeom>
          <a:solidFill>
            <a:srgbClr val="A5A5A5"/>
          </a:solidFill>
          <a:ln w="19050" cap="flat" cmpd="sng">
            <a:solidFill>
              <a:srgbClr val="FFFF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Fallback</a:t>
            </a:r>
            <a:endParaRPr sz="14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85" name="Google Shape;885;p40"/>
          <p:cNvSpPr/>
          <p:nvPr/>
        </p:nvSpPr>
        <p:spPr>
          <a:xfrm>
            <a:off x="3153490" y="1032609"/>
            <a:ext cx="1221921" cy="283296"/>
          </a:xfrm>
          <a:prstGeom prst="rect">
            <a:avLst/>
          </a:prstGeom>
          <a:solidFill>
            <a:srgbClr val="FF0000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Root</a:t>
            </a:r>
            <a:endParaRPr sz="14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86" name="Google Shape;886;p40"/>
          <p:cNvSpPr/>
          <p:nvPr/>
        </p:nvSpPr>
        <p:spPr>
          <a:xfrm>
            <a:off x="979049" y="2963299"/>
            <a:ext cx="1221921" cy="414775"/>
          </a:xfrm>
          <a:prstGeom prst="rect">
            <a:avLst/>
          </a:prstGeom>
          <a:solidFill>
            <a:srgbClr val="7030A0"/>
          </a:solidFill>
          <a:ln w="19050" cap="flat" cmpd="sng">
            <a:solidFill>
              <a:srgbClr val="FFFF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Update Distance</a:t>
            </a:r>
            <a:endParaRPr sz="14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87" name="Google Shape;887;p40"/>
          <p:cNvSpPr/>
          <p:nvPr/>
        </p:nvSpPr>
        <p:spPr>
          <a:xfrm>
            <a:off x="3303311" y="6264081"/>
            <a:ext cx="1221921" cy="414775"/>
          </a:xfrm>
          <a:prstGeom prst="rect">
            <a:avLst/>
          </a:prstGeom>
          <a:solidFill>
            <a:srgbClr val="7030A0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Pure Pursuit</a:t>
            </a:r>
            <a:endParaRPr sz="14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88" name="Google Shape;888;p40"/>
          <p:cNvSpPr/>
          <p:nvPr/>
        </p:nvSpPr>
        <p:spPr>
          <a:xfrm>
            <a:off x="8389885" y="4566719"/>
            <a:ext cx="1221921" cy="414775"/>
          </a:xfrm>
          <a:prstGeom prst="rect">
            <a:avLst/>
          </a:prstGeom>
          <a:solidFill>
            <a:srgbClr val="7030A0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Lag Pursuit</a:t>
            </a:r>
            <a:endParaRPr sz="14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89" name="Google Shape;889;p40"/>
          <p:cNvSpPr/>
          <p:nvPr/>
        </p:nvSpPr>
        <p:spPr>
          <a:xfrm>
            <a:off x="2200970" y="4569240"/>
            <a:ext cx="1626376" cy="414775"/>
          </a:xfrm>
          <a:prstGeom prst="rect">
            <a:avLst/>
          </a:prstGeom>
          <a:solidFill>
            <a:srgbClr val="7030A0"/>
          </a:solidFill>
          <a:ln w="19050" cap="flat" cmpd="sng">
            <a:solidFill>
              <a:srgbClr val="FFFF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DECO_ Distance &lt; 1000m</a:t>
            </a:r>
            <a:endParaRPr sz="14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90" name="Google Shape;890;p40"/>
          <p:cNvSpPr/>
          <p:nvPr/>
        </p:nvSpPr>
        <p:spPr>
          <a:xfrm>
            <a:off x="6458205" y="4566720"/>
            <a:ext cx="1626376" cy="414775"/>
          </a:xfrm>
          <a:prstGeom prst="rect">
            <a:avLst/>
          </a:prstGeom>
          <a:solidFill>
            <a:srgbClr val="7030A0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DECO_ Distance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&gt; 1000m</a:t>
            </a:r>
            <a:endParaRPr sz="14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91" name="Google Shape;891;p40"/>
          <p:cNvSpPr/>
          <p:nvPr/>
        </p:nvSpPr>
        <p:spPr>
          <a:xfrm>
            <a:off x="4563300" y="4566721"/>
            <a:ext cx="1221921" cy="414775"/>
          </a:xfrm>
          <a:prstGeom prst="rect">
            <a:avLst/>
          </a:prstGeom>
          <a:solidFill>
            <a:srgbClr val="A5A5A5"/>
          </a:solidFill>
          <a:ln w="19050" cap="flat" cmpd="sng">
            <a:solidFill>
              <a:srgbClr val="FFFF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Fallback</a:t>
            </a:r>
            <a:endParaRPr sz="14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92" name="Google Shape;892;p40"/>
          <p:cNvSpPr/>
          <p:nvPr/>
        </p:nvSpPr>
        <p:spPr>
          <a:xfrm>
            <a:off x="6723438" y="6264081"/>
            <a:ext cx="1221921" cy="414775"/>
          </a:xfrm>
          <a:prstGeom prst="rect">
            <a:avLst/>
          </a:prstGeom>
          <a:solidFill>
            <a:srgbClr val="7030A0"/>
          </a:solidFill>
          <a:ln w="19050" cap="flat" cmpd="sng">
            <a:solidFill>
              <a:srgbClr val="FFFF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Lag Pursuit</a:t>
            </a:r>
            <a:endParaRPr sz="14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93" name="Google Shape;893;p40"/>
          <p:cNvSpPr/>
          <p:nvPr/>
        </p:nvSpPr>
        <p:spPr>
          <a:xfrm>
            <a:off x="1433442" y="6264083"/>
            <a:ext cx="1626376" cy="414775"/>
          </a:xfrm>
          <a:prstGeom prst="rect">
            <a:avLst/>
          </a:prstGeom>
          <a:solidFill>
            <a:srgbClr val="7030A0"/>
          </a:solidFill>
          <a:ln w="1905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DECO_LOS &lt;= 1</a:t>
            </a:r>
            <a:endParaRPr sz="14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94" name="Google Shape;894;p40"/>
          <p:cNvSpPr/>
          <p:nvPr/>
        </p:nvSpPr>
        <p:spPr>
          <a:xfrm>
            <a:off x="4853569" y="6264081"/>
            <a:ext cx="1626376" cy="414775"/>
          </a:xfrm>
          <a:prstGeom prst="rect">
            <a:avLst/>
          </a:prstGeom>
          <a:solidFill>
            <a:srgbClr val="7030A0"/>
          </a:solidFill>
          <a:ln w="19050" cap="flat" cmpd="sng">
            <a:solidFill>
              <a:srgbClr val="FFFF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DECO_ LOS &gt; 1</a:t>
            </a:r>
            <a:endParaRPr sz="14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95" name="Google Shape;895;p40"/>
          <p:cNvSpPr/>
          <p:nvPr/>
        </p:nvSpPr>
        <p:spPr>
          <a:xfrm>
            <a:off x="3155116" y="2963300"/>
            <a:ext cx="1221921" cy="414775"/>
          </a:xfrm>
          <a:prstGeom prst="rect">
            <a:avLst/>
          </a:prstGeom>
          <a:solidFill>
            <a:srgbClr val="7030A0"/>
          </a:solidFill>
          <a:ln w="19050" cap="flat" cmpd="sng">
            <a:solidFill>
              <a:srgbClr val="FFFF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Update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LOS</a:t>
            </a:r>
            <a:endParaRPr sz="14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896" name="Google Shape;896;p40"/>
          <p:cNvCxnSpPr>
            <a:stCxn id="885" idx="2"/>
            <a:endCxn id="897" idx="0"/>
          </p:cNvCxnSpPr>
          <p:nvPr/>
        </p:nvCxnSpPr>
        <p:spPr>
          <a:xfrm>
            <a:off x="3764451" y="1315905"/>
            <a:ext cx="0" cy="689400"/>
          </a:xfrm>
          <a:prstGeom prst="straightConnector1">
            <a:avLst/>
          </a:prstGeom>
          <a:noFill/>
          <a:ln w="12700" cap="flat" cmpd="sng">
            <a:solidFill>
              <a:srgbClr val="FFFF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898" name="Google Shape;898;p40"/>
          <p:cNvCxnSpPr>
            <a:stCxn id="884" idx="2"/>
            <a:endCxn id="899" idx="0"/>
          </p:cNvCxnSpPr>
          <p:nvPr/>
        </p:nvCxnSpPr>
        <p:spPr>
          <a:xfrm flipH="1">
            <a:off x="4163776" y="3378075"/>
            <a:ext cx="2021700" cy="410100"/>
          </a:xfrm>
          <a:prstGeom prst="straightConnector1">
            <a:avLst/>
          </a:prstGeom>
          <a:noFill/>
          <a:ln w="12700" cap="flat" cmpd="sng">
            <a:solidFill>
              <a:srgbClr val="FFFF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900" name="Google Shape;900;p40"/>
          <p:cNvCxnSpPr>
            <a:stCxn id="884" idx="2"/>
            <a:endCxn id="901" idx="0"/>
          </p:cNvCxnSpPr>
          <p:nvPr/>
        </p:nvCxnSpPr>
        <p:spPr>
          <a:xfrm>
            <a:off x="6185476" y="3378075"/>
            <a:ext cx="1927800" cy="41010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902" name="Google Shape;902;p40"/>
          <p:cNvCxnSpPr>
            <a:stCxn id="891" idx="2"/>
            <a:endCxn id="903" idx="0"/>
          </p:cNvCxnSpPr>
          <p:nvPr/>
        </p:nvCxnSpPr>
        <p:spPr>
          <a:xfrm flipH="1">
            <a:off x="3129761" y="4981496"/>
            <a:ext cx="2044500" cy="480900"/>
          </a:xfrm>
          <a:prstGeom prst="straightConnector1">
            <a:avLst/>
          </a:prstGeom>
          <a:noFill/>
          <a:ln w="12700" cap="flat" cmpd="sng">
            <a:solidFill>
              <a:srgbClr val="FFFF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904" name="Google Shape;904;p40"/>
          <p:cNvCxnSpPr>
            <a:stCxn id="891" idx="2"/>
            <a:endCxn id="905" idx="0"/>
          </p:cNvCxnSpPr>
          <p:nvPr/>
        </p:nvCxnSpPr>
        <p:spPr>
          <a:xfrm>
            <a:off x="5174261" y="4981496"/>
            <a:ext cx="1327800" cy="472500"/>
          </a:xfrm>
          <a:prstGeom prst="straightConnector1">
            <a:avLst/>
          </a:prstGeom>
          <a:noFill/>
          <a:ln w="12700" cap="flat" cmpd="sng">
            <a:solidFill>
              <a:srgbClr val="FFFF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897" name="Google Shape;897;p40"/>
          <p:cNvSpPr/>
          <p:nvPr/>
        </p:nvSpPr>
        <p:spPr>
          <a:xfrm>
            <a:off x="3153490" y="2005158"/>
            <a:ext cx="1221921" cy="377068"/>
          </a:xfrm>
          <a:prstGeom prst="rect">
            <a:avLst/>
          </a:prstGeom>
          <a:solidFill>
            <a:srgbClr val="7F7F7F"/>
          </a:solidFill>
          <a:ln w="19050" cap="flat" cmpd="sng">
            <a:solidFill>
              <a:srgbClr val="FFFF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Sequence</a:t>
            </a:r>
            <a:endParaRPr sz="14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906" name="Google Shape;906;p40"/>
          <p:cNvCxnSpPr>
            <a:stCxn id="897" idx="2"/>
            <a:endCxn id="886" idx="0"/>
          </p:cNvCxnSpPr>
          <p:nvPr/>
        </p:nvCxnSpPr>
        <p:spPr>
          <a:xfrm flipH="1">
            <a:off x="1590050" y="2382226"/>
            <a:ext cx="2174400" cy="581100"/>
          </a:xfrm>
          <a:prstGeom prst="straightConnector1">
            <a:avLst/>
          </a:prstGeom>
          <a:noFill/>
          <a:ln w="12700" cap="flat" cmpd="sng">
            <a:solidFill>
              <a:srgbClr val="FFFF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907" name="Google Shape;907;p40"/>
          <p:cNvCxnSpPr>
            <a:stCxn id="897" idx="2"/>
            <a:endCxn id="895" idx="0"/>
          </p:cNvCxnSpPr>
          <p:nvPr/>
        </p:nvCxnSpPr>
        <p:spPr>
          <a:xfrm>
            <a:off x="3764451" y="2382226"/>
            <a:ext cx="1500" cy="581100"/>
          </a:xfrm>
          <a:prstGeom prst="straightConnector1">
            <a:avLst/>
          </a:prstGeom>
          <a:noFill/>
          <a:ln w="12700" cap="flat" cmpd="sng">
            <a:solidFill>
              <a:srgbClr val="FFFF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908" name="Google Shape;908;p40"/>
          <p:cNvCxnSpPr>
            <a:stCxn id="897" idx="2"/>
            <a:endCxn id="884" idx="0"/>
          </p:cNvCxnSpPr>
          <p:nvPr/>
        </p:nvCxnSpPr>
        <p:spPr>
          <a:xfrm>
            <a:off x="3764451" y="2382226"/>
            <a:ext cx="2421000" cy="581100"/>
          </a:xfrm>
          <a:prstGeom prst="straightConnector1">
            <a:avLst/>
          </a:prstGeom>
          <a:noFill/>
          <a:ln w="12700" cap="flat" cmpd="sng">
            <a:solidFill>
              <a:srgbClr val="FFFF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899" name="Google Shape;899;p40"/>
          <p:cNvSpPr/>
          <p:nvPr/>
        </p:nvSpPr>
        <p:spPr>
          <a:xfrm>
            <a:off x="3552914" y="3788177"/>
            <a:ext cx="1221921" cy="377068"/>
          </a:xfrm>
          <a:prstGeom prst="rect">
            <a:avLst/>
          </a:prstGeom>
          <a:solidFill>
            <a:srgbClr val="7F7F7F"/>
          </a:solidFill>
          <a:ln w="19050" cap="flat" cmpd="sng">
            <a:solidFill>
              <a:srgbClr val="FFFF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Sequence</a:t>
            </a:r>
            <a:endParaRPr sz="14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03" name="Google Shape;903;p40"/>
          <p:cNvSpPr/>
          <p:nvPr/>
        </p:nvSpPr>
        <p:spPr>
          <a:xfrm>
            <a:off x="2518788" y="5462249"/>
            <a:ext cx="1221921" cy="377068"/>
          </a:xfrm>
          <a:prstGeom prst="rect">
            <a:avLst/>
          </a:prstGeom>
          <a:solidFill>
            <a:srgbClr val="7F7F7F"/>
          </a:solidFill>
          <a:ln w="19050" cap="flat" cmpd="sng">
            <a:solidFill>
              <a:srgbClr val="FFFF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Sequence</a:t>
            </a:r>
            <a:endParaRPr sz="14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05" name="Google Shape;905;p40"/>
          <p:cNvSpPr/>
          <p:nvPr/>
        </p:nvSpPr>
        <p:spPr>
          <a:xfrm>
            <a:off x="5890972" y="5454026"/>
            <a:ext cx="1221921" cy="377068"/>
          </a:xfrm>
          <a:prstGeom prst="rect">
            <a:avLst/>
          </a:prstGeom>
          <a:solidFill>
            <a:srgbClr val="7F7F7F"/>
          </a:solidFill>
          <a:ln w="19050" cap="flat" cmpd="sng">
            <a:solidFill>
              <a:srgbClr val="FFFF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Sequence</a:t>
            </a:r>
            <a:endParaRPr sz="14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01" name="Google Shape;901;p40"/>
          <p:cNvSpPr/>
          <p:nvPr/>
        </p:nvSpPr>
        <p:spPr>
          <a:xfrm>
            <a:off x="7502348" y="3788177"/>
            <a:ext cx="1221921" cy="377068"/>
          </a:xfrm>
          <a:prstGeom prst="rect">
            <a:avLst/>
          </a:prstGeom>
          <a:solidFill>
            <a:srgbClr val="7F7F7F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Sequence</a:t>
            </a:r>
            <a:endParaRPr sz="14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909" name="Google Shape;909;p40"/>
          <p:cNvCxnSpPr>
            <a:stCxn id="899" idx="2"/>
            <a:endCxn id="889" idx="0"/>
          </p:cNvCxnSpPr>
          <p:nvPr/>
        </p:nvCxnSpPr>
        <p:spPr>
          <a:xfrm flipH="1">
            <a:off x="3014275" y="4165245"/>
            <a:ext cx="1149600" cy="404100"/>
          </a:xfrm>
          <a:prstGeom prst="straightConnector1">
            <a:avLst/>
          </a:prstGeom>
          <a:noFill/>
          <a:ln w="12700" cap="flat" cmpd="sng">
            <a:solidFill>
              <a:srgbClr val="FFFF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910" name="Google Shape;910;p40"/>
          <p:cNvCxnSpPr>
            <a:stCxn id="899" idx="2"/>
            <a:endCxn id="891" idx="0"/>
          </p:cNvCxnSpPr>
          <p:nvPr/>
        </p:nvCxnSpPr>
        <p:spPr>
          <a:xfrm>
            <a:off x="4163875" y="4165245"/>
            <a:ext cx="1010400" cy="401400"/>
          </a:xfrm>
          <a:prstGeom prst="straightConnector1">
            <a:avLst/>
          </a:prstGeom>
          <a:noFill/>
          <a:ln w="12700" cap="flat" cmpd="sng">
            <a:solidFill>
              <a:srgbClr val="FFFF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911" name="Google Shape;911;p40"/>
          <p:cNvCxnSpPr>
            <a:stCxn id="901" idx="2"/>
            <a:endCxn id="890" idx="0"/>
          </p:cNvCxnSpPr>
          <p:nvPr/>
        </p:nvCxnSpPr>
        <p:spPr>
          <a:xfrm flipH="1">
            <a:off x="7271509" y="4165245"/>
            <a:ext cx="841800" cy="40140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912" name="Google Shape;912;p40"/>
          <p:cNvCxnSpPr>
            <a:stCxn id="901" idx="2"/>
            <a:endCxn id="888" idx="0"/>
          </p:cNvCxnSpPr>
          <p:nvPr/>
        </p:nvCxnSpPr>
        <p:spPr>
          <a:xfrm>
            <a:off x="8113309" y="4165245"/>
            <a:ext cx="887400" cy="40140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913" name="Google Shape;913;p40"/>
          <p:cNvCxnSpPr>
            <a:stCxn id="903" idx="2"/>
            <a:endCxn id="893" idx="0"/>
          </p:cNvCxnSpPr>
          <p:nvPr/>
        </p:nvCxnSpPr>
        <p:spPr>
          <a:xfrm flipH="1">
            <a:off x="2246549" y="5839317"/>
            <a:ext cx="883200" cy="424800"/>
          </a:xfrm>
          <a:prstGeom prst="straightConnector1">
            <a:avLst/>
          </a:prstGeom>
          <a:noFill/>
          <a:ln w="12700" cap="flat" cmpd="sng">
            <a:solidFill>
              <a:srgbClr val="FFFF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914" name="Google Shape;914;p40"/>
          <p:cNvCxnSpPr>
            <a:stCxn id="903" idx="2"/>
            <a:endCxn id="887" idx="0"/>
          </p:cNvCxnSpPr>
          <p:nvPr/>
        </p:nvCxnSpPr>
        <p:spPr>
          <a:xfrm>
            <a:off x="3129749" y="5839317"/>
            <a:ext cx="784500" cy="42480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915" name="Google Shape;915;p40"/>
          <p:cNvCxnSpPr>
            <a:stCxn id="905" idx="2"/>
            <a:endCxn id="892" idx="0"/>
          </p:cNvCxnSpPr>
          <p:nvPr/>
        </p:nvCxnSpPr>
        <p:spPr>
          <a:xfrm>
            <a:off x="6501933" y="5831094"/>
            <a:ext cx="832500" cy="432900"/>
          </a:xfrm>
          <a:prstGeom prst="straightConnector1">
            <a:avLst/>
          </a:prstGeom>
          <a:noFill/>
          <a:ln w="12700" cap="flat" cmpd="sng">
            <a:solidFill>
              <a:srgbClr val="FFFF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916" name="Google Shape;916;p40"/>
          <p:cNvCxnSpPr>
            <a:stCxn id="905" idx="2"/>
            <a:endCxn id="894" idx="0"/>
          </p:cNvCxnSpPr>
          <p:nvPr/>
        </p:nvCxnSpPr>
        <p:spPr>
          <a:xfrm flipH="1">
            <a:off x="5666733" y="5831094"/>
            <a:ext cx="835200" cy="432900"/>
          </a:xfrm>
          <a:prstGeom prst="straightConnector1">
            <a:avLst/>
          </a:prstGeom>
          <a:noFill/>
          <a:ln w="12700" cap="flat" cmpd="sng">
            <a:solidFill>
              <a:srgbClr val="FFFF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917" name="Google Shape;917;p40"/>
          <p:cNvSpPr txBox="1"/>
          <p:nvPr/>
        </p:nvSpPr>
        <p:spPr>
          <a:xfrm>
            <a:off x="0" y="373189"/>
            <a:ext cx="291849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C++ Behavior Tree의 구성</a:t>
            </a:r>
            <a:endParaRPr/>
          </a:p>
        </p:txBody>
      </p:sp>
      <p:sp>
        <p:nvSpPr>
          <p:cNvPr id="918" name="Google Shape;918;p40"/>
          <p:cNvSpPr txBox="1"/>
          <p:nvPr/>
        </p:nvSpPr>
        <p:spPr>
          <a:xfrm>
            <a:off x="-1" y="0"/>
            <a:ext cx="5733355" cy="449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Malgun Gothic"/>
              <a:buNone/>
            </a:pPr>
            <a:r>
              <a:rPr lang="ko-KR" sz="2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AIP Behavior Tree Tutorial : Develop Tree</a:t>
            </a:r>
            <a:endParaRPr sz="24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919" name="Google Shape;919;p40"/>
          <p:cNvCxnSpPr/>
          <p:nvPr/>
        </p:nvCxnSpPr>
        <p:spPr>
          <a:xfrm>
            <a:off x="0" y="373189"/>
            <a:ext cx="5591408" cy="0"/>
          </a:xfrm>
          <a:prstGeom prst="straightConnector1">
            <a:avLst/>
          </a:prstGeom>
          <a:noFill/>
          <a:ln w="19050" cap="flat" cmpd="sng">
            <a:solidFill>
              <a:srgbClr val="5DFFA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20" name="Google Shape;920;p40"/>
          <p:cNvSpPr/>
          <p:nvPr/>
        </p:nvSpPr>
        <p:spPr>
          <a:xfrm>
            <a:off x="10316724" y="916402"/>
            <a:ext cx="1626376" cy="4537624"/>
          </a:xfrm>
          <a:prstGeom prst="rect">
            <a:avLst/>
          </a:prstGeom>
          <a:solidFill>
            <a:srgbClr val="0C0C0C"/>
          </a:solidFill>
          <a:ln w="19050" cap="flat" cmpd="sng">
            <a:solidFill>
              <a:srgbClr val="9FE6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BlackBoard</a:t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21" name="Google Shape;921;p40"/>
          <p:cNvSpPr txBox="1"/>
          <p:nvPr/>
        </p:nvSpPr>
        <p:spPr>
          <a:xfrm>
            <a:off x="3075305" y="1837164"/>
            <a:ext cx="156369" cy="215444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sz="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22" name="Google Shape;922;p40"/>
          <p:cNvSpPr txBox="1"/>
          <p:nvPr/>
        </p:nvSpPr>
        <p:spPr>
          <a:xfrm>
            <a:off x="913087" y="2747855"/>
            <a:ext cx="156369" cy="215444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sz="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23" name="Google Shape;923;p40"/>
          <p:cNvSpPr txBox="1"/>
          <p:nvPr/>
        </p:nvSpPr>
        <p:spPr>
          <a:xfrm>
            <a:off x="3121650" y="2747854"/>
            <a:ext cx="156369" cy="215444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sz="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24" name="Google Shape;924;p40"/>
          <p:cNvSpPr txBox="1"/>
          <p:nvPr/>
        </p:nvSpPr>
        <p:spPr>
          <a:xfrm>
            <a:off x="6609180" y="2747854"/>
            <a:ext cx="156369" cy="215444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sz="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25" name="Google Shape;925;p40"/>
          <p:cNvSpPr txBox="1"/>
          <p:nvPr/>
        </p:nvSpPr>
        <p:spPr>
          <a:xfrm>
            <a:off x="3510831" y="3579289"/>
            <a:ext cx="156369" cy="215444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 sz="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26" name="Google Shape;926;p40"/>
          <p:cNvSpPr txBox="1"/>
          <p:nvPr/>
        </p:nvSpPr>
        <p:spPr>
          <a:xfrm>
            <a:off x="2204746" y="4351275"/>
            <a:ext cx="156369" cy="215444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6</a:t>
            </a:r>
            <a:endParaRPr sz="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27" name="Google Shape;927;p40"/>
          <p:cNvSpPr txBox="1"/>
          <p:nvPr/>
        </p:nvSpPr>
        <p:spPr>
          <a:xfrm>
            <a:off x="5636935" y="4361025"/>
            <a:ext cx="156369" cy="215444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7</a:t>
            </a:r>
            <a:endParaRPr sz="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28" name="Google Shape;928;p40"/>
          <p:cNvSpPr txBox="1"/>
          <p:nvPr/>
        </p:nvSpPr>
        <p:spPr>
          <a:xfrm>
            <a:off x="2508990" y="5238582"/>
            <a:ext cx="156369" cy="215444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8</a:t>
            </a:r>
            <a:endParaRPr sz="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29" name="Google Shape;929;p40"/>
          <p:cNvSpPr txBox="1"/>
          <p:nvPr/>
        </p:nvSpPr>
        <p:spPr>
          <a:xfrm>
            <a:off x="1242107" y="6245856"/>
            <a:ext cx="156369" cy="215444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9</a:t>
            </a:r>
            <a:endParaRPr sz="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30" name="Google Shape;930;p40"/>
          <p:cNvSpPr txBox="1"/>
          <p:nvPr/>
        </p:nvSpPr>
        <p:spPr>
          <a:xfrm>
            <a:off x="6791026" y="5238581"/>
            <a:ext cx="321867" cy="215444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10</a:t>
            </a:r>
            <a:endParaRPr sz="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31" name="Google Shape;931;p40"/>
          <p:cNvSpPr txBox="1"/>
          <p:nvPr/>
        </p:nvSpPr>
        <p:spPr>
          <a:xfrm>
            <a:off x="4878476" y="6067093"/>
            <a:ext cx="321867" cy="215444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11</a:t>
            </a:r>
            <a:endParaRPr sz="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32" name="Google Shape;932;p40"/>
          <p:cNvSpPr txBox="1"/>
          <p:nvPr/>
        </p:nvSpPr>
        <p:spPr>
          <a:xfrm>
            <a:off x="7623492" y="6067093"/>
            <a:ext cx="321867" cy="215444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12</a:t>
            </a:r>
            <a:endParaRPr sz="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33" name="Google Shape;933;p40"/>
          <p:cNvSpPr txBox="1"/>
          <p:nvPr/>
        </p:nvSpPr>
        <p:spPr>
          <a:xfrm>
            <a:off x="10484305" y="3657372"/>
            <a:ext cx="1162498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Distance: 650m</a:t>
            </a:r>
            <a:endParaRPr sz="11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34" name="Google Shape;934;p40"/>
          <p:cNvSpPr txBox="1"/>
          <p:nvPr/>
        </p:nvSpPr>
        <p:spPr>
          <a:xfrm>
            <a:off x="10498682" y="3845906"/>
            <a:ext cx="712054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Los : 4.3</a:t>
            </a:r>
            <a:endParaRPr sz="11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35" name="Google Shape;935;p40"/>
          <p:cNvSpPr txBox="1"/>
          <p:nvPr/>
        </p:nvSpPr>
        <p:spPr>
          <a:xfrm>
            <a:off x="1377264" y="5980770"/>
            <a:ext cx="854721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조건 실패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0" name="Google Shape;940;p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01343" y="748898"/>
            <a:ext cx="5429902" cy="5814764"/>
          </a:xfrm>
          <a:prstGeom prst="rect">
            <a:avLst/>
          </a:prstGeom>
          <a:noFill/>
          <a:ln>
            <a:noFill/>
          </a:ln>
        </p:spPr>
      </p:pic>
      <p:pic>
        <p:nvPicPr>
          <p:cNvPr id="941" name="Google Shape;941;p41" descr="텍스트, 스크린샷, 도표, 라인이(가) 표시된 사진&#10;&#10;AI 생성 콘텐츠는 정확하지 않을 수 있습니다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8710" y="1802286"/>
            <a:ext cx="5447118" cy="3572653"/>
          </a:xfrm>
          <a:prstGeom prst="rect">
            <a:avLst/>
          </a:prstGeom>
          <a:noFill/>
          <a:ln>
            <a:noFill/>
          </a:ln>
        </p:spPr>
      </p:pic>
      <p:sp>
        <p:nvSpPr>
          <p:cNvPr id="942" name="Google Shape;942;p41"/>
          <p:cNvSpPr/>
          <p:nvPr/>
        </p:nvSpPr>
        <p:spPr>
          <a:xfrm>
            <a:off x="43673" y="2369497"/>
            <a:ext cx="5733980" cy="3313330"/>
          </a:xfrm>
          <a:prstGeom prst="rect">
            <a:avLst/>
          </a:prstGeom>
          <a:noFill/>
          <a:ln w="19050" cap="flat" cmpd="sng">
            <a:solidFill>
              <a:srgbClr val="FFFF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43" name="Google Shape;943;p41"/>
          <p:cNvSpPr/>
          <p:nvPr/>
        </p:nvSpPr>
        <p:spPr>
          <a:xfrm>
            <a:off x="6969758" y="1341120"/>
            <a:ext cx="5061487" cy="4456853"/>
          </a:xfrm>
          <a:prstGeom prst="rect">
            <a:avLst/>
          </a:prstGeom>
          <a:noFill/>
          <a:ln w="19050" cap="flat" cmpd="sng">
            <a:solidFill>
              <a:srgbClr val="FFFF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44" name="Google Shape;944;p41"/>
          <p:cNvSpPr/>
          <p:nvPr/>
        </p:nvSpPr>
        <p:spPr>
          <a:xfrm>
            <a:off x="325120" y="3937380"/>
            <a:ext cx="4321387" cy="1518594"/>
          </a:xfrm>
          <a:custGeom>
            <a:avLst/>
            <a:gdLst/>
            <a:ahLst/>
            <a:cxnLst/>
            <a:rect l="l" t="t" r="r" b="b"/>
            <a:pathLst>
              <a:path w="4626591" h="1651379" extrusionOk="0">
                <a:moveTo>
                  <a:pt x="2326944" y="0"/>
                </a:moveTo>
                <a:lnTo>
                  <a:pt x="3091218" y="20472"/>
                </a:lnTo>
                <a:lnTo>
                  <a:pt x="4626591" y="1398896"/>
                </a:lnTo>
                <a:lnTo>
                  <a:pt x="4578824" y="1651379"/>
                </a:lnTo>
                <a:lnTo>
                  <a:pt x="0" y="1562669"/>
                </a:lnTo>
                <a:lnTo>
                  <a:pt x="136478" y="1016758"/>
                </a:lnTo>
                <a:lnTo>
                  <a:pt x="1030406" y="559558"/>
                </a:lnTo>
                <a:lnTo>
                  <a:pt x="2326944" y="0"/>
                </a:lnTo>
                <a:close/>
              </a:path>
            </a:pathLst>
          </a:custGeom>
          <a:noFill/>
          <a:ln w="19050" cap="flat" cmpd="sng">
            <a:solidFill>
              <a:srgbClr val="5DFF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45" name="Google Shape;945;p41"/>
          <p:cNvSpPr/>
          <p:nvPr/>
        </p:nvSpPr>
        <p:spPr>
          <a:xfrm>
            <a:off x="88711" y="2966720"/>
            <a:ext cx="5553476" cy="2621280"/>
          </a:xfrm>
          <a:custGeom>
            <a:avLst/>
            <a:gdLst/>
            <a:ahLst/>
            <a:cxnLst/>
            <a:rect l="l" t="t" r="r" b="b"/>
            <a:pathLst>
              <a:path w="5994400" h="2749973" extrusionOk="0">
                <a:moveTo>
                  <a:pt x="3373120" y="0"/>
                </a:moveTo>
                <a:lnTo>
                  <a:pt x="2851573" y="27093"/>
                </a:lnTo>
                <a:lnTo>
                  <a:pt x="562186" y="1151466"/>
                </a:lnTo>
                <a:lnTo>
                  <a:pt x="0" y="2722880"/>
                </a:lnTo>
                <a:lnTo>
                  <a:pt x="5994400" y="2749973"/>
                </a:lnTo>
                <a:lnTo>
                  <a:pt x="5919893" y="921173"/>
                </a:lnTo>
                <a:lnTo>
                  <a:pt x="4395893" y="40640"/>
                </a:lnTo>
                <a:lnTo>
                  <a:pt x="3373120" y="0"/>
                </a:lnTo>
                <a:close/>
              </a:path>
            </a:pathLst>
          </a:custGeom>
          <a:noFill/>
          <a:ln w="1905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46" name="Google Shape;946;p41"/>
          <p:cNvSpPr/>
          <p:nvPr/>
        </p:nvSpPr>
        <p:spPr>
          <a:xfrm>
            <a:off x="7073462" y="2072640"/>
            <a:ext cx="4718909" cy="344424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47" name="Google Shape;947;p41"/>
          <p:cNvSpPr/>
          <p:nvPr/>
        </p:nvSpPr>
        <p:spPr>
          <a:xfrm>
            <a:off x="7421870" y="2580640"/>
            <a:ext cx="4370501" cy="1754293"/>
          </a:xfrm>
          <a:prstGeom prst="rect">
            <a:avLst/>
          </a:prstGeom>
          <a:noFill/>
          <a:ln w="19050" cap="flat" cmpd="sng">
            <a:solidFill>
              <a:srgbClr val="5DFF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48" name="Google Shape;948;p41"/>
          <p:cNvSpPr txBox="1"/>
          <p:nvPr/>
        </p:nvSpPr>
        <p:spPr>
          <a:xfrm>
            <a:off x="0" y="373189"/>
            <a:ext cx="291849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C++ Behavior Tree의 구성</a:t>
            </a:r>
            <a:endParaRPr/>
          </a:p>
        </p:txBody>
      </p:sp>
      <p:sp>
        <p:nvSpPr>
          <p:cNvPr id="949" name="Google Shape;949;p41"/>
          <p:cNvSpPr/>
          <p:nvPr/>
        </p:nvSpPr>
        <p:spPr>
          <a:xfrm>
            <a:off x="5979766" y="3656280"/>
            <a:ext cx="485095" cy="322618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1"/>
          </a:solidFill>
          <a:ln w="19050" cap="flat" cmpd="sng">
            <a:solidFill>
              <a:srgbClr val="9FE6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50" name="Google Shape;950;p41"/>
          <p:cNvSpPr txBox="1"/>
          <p:nvPr/>
        </p:nvSpPr>
        <p:spPr>
          <a:xfrm>
            <a:off x="-1" y="0"/>
            <a:ext cx="5733355" cy="449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Malgun Gothic"/>
              <a:buNone/>
            </a:pPr>
            <a:r>
              <a:rPr lang="ko-KR" sz="2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AIP Behavior Tree Tutorial : Develop Tree</a:t>
            </a:r>
            <a:endParaRPr sz="24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951" name="Google Shape;951;p41"/>
          <p:cNvCxnSpPr/>
          <p:nvPr/>
        </p:nvCxnSpPr>
        <p:spPr>
          <a:xfrm>
            <a:off x="0" y="373189"/>
            <a:ext cx="5591408" cy="0"/>
          </a:xfrm>
          <a:prstGeom prst="straightConnector1">
            <a:avLst/>
          </a:prstGeom>
          <a:noFill/>
          <a:ln w="19050" cap="flat" cmpd="sng">
            <a:solidFill>
              <a:srgbClr val="5DFFA6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p42"/>
          <p:cNvSpPr txBox="1"/>
          <p:nvPr/>
        </p:nvSpPr>
        <p:spPr>
          <a:xfrm>
            <a:off x="6038850" y="3575050"/>
            <a:ext cx="6038850" cy="2954655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특강 1일차</a:t>
            </a: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: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>
                <a:solidFill>
                  <a:srgbClr val="0070C0"/>
                </a:solidFill>
                <a:latin typeface="Malgun Gothic"/>
                <a:ea typeface="Malgun Gothic"/>
                <a:cs typeface="Malgun Gothic"/>
                <a:sym typeface="Malgun Gothic"/>
              </a:rPr>
              <a:t>	#Orientation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>
                <a:solidFill>
                  <a:srgbClr val="0070C0"/>
                </a:solidFill>
                <a:latin typeface="Malgun Gothic"/>
                <a:ea typeface="Malgun Gothic"/>
                <a:cs typeface="Malgun Gothic"/>
                <a:sym typeface="Malgun Gothic"/>
              </a:rPr>
              <a:t>		- 대회 소개</a:t>
            </a:r>
            <a:endParaRPr sz="1800" b="1">
              <a:solidFill>
                <a:srgbClr val="0070C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>
                <a:solidFill>
                  <a:srgbClr val="0070C0"/>
                </a:solidFill>
                <a:latin typeface="Malgun Gothic"/>
                <a:ea typeface="Malgun Gothic"/>
                <a:cs typeface="Malgun Gothic"/>
                <a:sym typeface="Malgun Gothic"/>
              </a:rPr>
              <a:t>		- 교전 룰 소개</a:t>
            </a:r>
            <a:endParaRPr sz="1800" b="1">
              <a:solidFill>
                <a:srgbClr val="0070C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>
                <a:solidFill>
                  <a:srgbClr val="0070C0"/>
                </a:solidFill>
                <a:latin typeface="Malgun Gothic"/>
                <a:ea typeface="Malgun Gothic"/>
                <a:cs typeface="Malgun Gothic"/>
                <a:sym typeface="Malgun Gothic"/>
              </a:rPr>
              <a:t>		- 개발 환경 &amp; 대회 경기 환경 소개</a:t>
            </a:r>
            <a:endParaRPr sz="1800" b="1">
              <a:solidFill>
                <a:srgbClr val="0070C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	</a:t>
            </a: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#전투기 AI에 대하여</a:t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	#Behavior Tree 기반 AI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	#실습</a:t>
            </a:r>
            <a:endParaRPr/>
          </a:p>
        </p:txBody>
      </p:sp>
      <p:pic>
        <p:nvPicPr>
          <p:cNvPr id="957" name="Google Shape;957;p4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39" y="0"/>
            <a:ext cx="12185522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58" name="Google Shape;958;p42"/>
          <p:cNvCxnSpPr/>
          <p:nvPr/>
        </p:nvCxnSpPr>
        <p:spPr>
          <a:xfrm>
            <a:off x="4006850" y="6388100"/>
            <a:ext cx="7296150" cy="0"/>
          </a:xfrm>
          <a:prstGeom prst="straightConnector1">
            <a:avLst/>
          </a:prstGeom>
          <a:noFill/>
          <a:ln w="19050" cap="flat" cmpd="sng">
            <a:solidFill>
              <a:srgbClr val="5DFFA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59" name="Google Shape;959;p42"/>
          <p:cNvSpPr txBox="1"/>
          <p:nvPr/>
        </p:nvSpPr>
        <p:spPr>
          <a:xfrm>
            <a:off x="6292850" y="5538610"/>
            <a:ext cx="3219450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-개발환경 설치하기</a:t>
            </a:r>
            <a:endParaRPr sz="1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-Behavior Tree 만들어보기</a:t>
            </a:r>
            <a:endParaRPr sz="1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-학습환경에 넣고 테스트 해보기</a:t>
            </a:r>
            <a:endParaRPr sz="1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-교전 클라이언트에 넣고 교전 서버와 연동해보기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p43"/>
          <p:cNvSpPr txBox="1"/>
          <p:nvPr/>
        </p:nvSpPr>
        <p:spPr>
          <a:xfrm>
            <a:off x="4076056" y="3105834"/>
            <a:ext cx="403988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6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개발환경 설치하기</a:t>
            </a:r>
            <a:endParaRPr sz="36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p44"/>
          <p:cNvSpPr txBox="1"/>
          <p:nvPr/>
        </p:nvSpPr>
        <p:spPr>
          <a:xfrm>
            <a:off x="3655267" y="3105834"/>
            <a:ext cx="488146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6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설치 링크 OR QR 코드</a:t>
            </a:r>
            <a:endParaRPr sz="36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70" name="Google Shape;970;p44"/>
          <p:cNvSpPr txBox="1"/>
          <p:nvPr/>
        </p:nvSpPr>
        <p:spPr>
          <a:xfrm>
            <a:off x="592281" y="4956463"/>
            <a:ext cx="8347157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다운 받은 압축 파일을 원하는 위치에 풀어주세요</a:t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 PPT에서는 바탕화면에 AIP라는 폴더를 만들어서 해당 위치에 설치를 합니다</a:t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Ex) C:\Users\[윈도우 유저네임]\Desktop\AIP</a:t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971" name="Google Shape;971;p44"/>
          <p:cNvCxnSpPr/>
          <p:nvPr/>
        </p:nvCxnSpPr>
        <p:spPr>
          <a:xfrm>
            <a:off x="2213264" y="6350663"/>
            <a:ext cx="9144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7" name="Google Shape;977;p4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5518" y="665886"/>
            <a:ext cx="10840963" cy="6192114"/>
          </a:xfrm>
          <a:prstGeom prst="rect">
            <a:avLst/>
          </a:prstGeom>
          <a:noFill/>
          <a:ln>
            <a:noFill/>
          </a:ln>
        </p:spPr>
      </p:pic>
      <p:sp>
        <p:nvSpPr>
          <p:cNvPr id="978" name="Google Shape;978;p45"/>
          <p:cNvSpPr/>
          <p:nvPr/>
        </p:nvSpPr>
        <p:spPr>
          <a:xfrm>
            <a:off x="2421082" y="2359170"/>
            <a:ext cx="1870363" cy="270164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79" name="Google Shape;979;p45"/>
          <p:cNvSpPr/>
          <p:nvPr/>
        </p:nvSpPr>
        <p:spPr>
          <a:xfrm>
            <a:off x="2421081" y="2871789"/>
            <a:ext cx="1870363" cy="270164"/>
          </a:xfrm>
          <a:prstGeom prst="rect">
            <a:avLst/>
          </a:prstGeom>
          <a:noFill/>
          <a:ln w="19050" cap="flat" cmpd="sng">
            <a:solidFill>
              <a:srgbClr val="00B05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80" name="Google Shape;980;p45"/>
          <p:cNvSpPr txBox="1"/>
          <p:nvPr/>
        </p:nvSpPr>
        <p:spPr>
          <a:xfrm>
            <a:off x="4447309" y="2260002"/>
            <a:ext cx="2448812" cy="36933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Behavior Tree 개발 툴</a:t>
            </a:r>
            <a:endParaRPr/>
          </a:p>
        </p:txBody>
      </p:sp>
      <p:sp>
        <p:nvSpPr>
          <p:cNvPr id="981" name="Google Shape;981;p45"/>
          <p:cNvSpPr txBox="1"/>
          <p:nvPr/>
        </p:nvSpPr>
        <p:spPr>
          <a:xfrm>
            <a:off x="4447309" y="2772621"/>
            <a:ext cx="2778325" cy="36933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accent6"/>
                </a:solidFill>
                <a:latin typeface="Malgun Gothic"/>
                <a:ea typeface="Malgun Gothic"/>
                <a:cs typeface="Malgun Gothic"/>
                <a:sym typeface="Malgun Gothic"/>
              </a:rPr>
              <a:t>교전 접속기 &amp; 학습 환경</a:t>
            </a:r>
            <a:endParaRPr/>
          </a:p>
        </p:txBody>
      </p:sp>
      <p:sp>
        <p:nvSpPr>
          <p:cNvPr id="982" name="Google Shape;982;p45"/>
          <p:cNvSpPr/>
          <p:nvPr/>
        </p:nvSpPr>
        <p:spPr>
          <a:xfrm>
            <a:off x="2421080" y="3384408"/>
            <a:ext cx="1870363" cy="270164"/>
          </a:xfrm>
          <a:prstGeom prst="rect">
            <a:avLst/>
          </a:prstGeom>
          <a:noFill/>
          <a:ln w="19050" cap="flat" cmpd="sng">
            <a:solidFill>
              <a:srgbClr val="7030A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83" name="Google Shape;983;p45"/>
          <p:cNvSpPr txBox="1"/>
          <p:nvPr/>
        </p:nvSpPr>
        <p:spPr>
          <a:xfrm>
            <a:off x="4447309" y="3334824"/>
            <a:ext cx="1189749" cy="36933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rgbClr val="7030A0"/>
                </a:solidFill>
                <a:latin typeface="Malgun Gothic"/>
                <a:ea typeface="Malgun Gothic"/>
                <a:cs typeface="Malgun Gothic"/>
                <a:sym typeface="Malgun Gothic"/>
              </a:rPr>
              <a:t>교전 서버</a:t>
            </a:r>
            <a:endParaRPr sz="1800">
              <a:solidFill>
                <a:srgbClr val="7030A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84" name="Google Shape;984;p45"/>
          <p:cNvSpPr txBox="1"/>
          <p:nvPr/>
        </p:nvSpPr>
        <p:spPr>
          <a:xfrm>
            <a:off x="-1" y="0"/>
            <a:ext cx="5733355" cy="449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algun Gothic"/>
              <a:buNone/>
            </a:pPr>
            <a:r>
              <a:rPr lang="ko-KR" sz="2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개발환경 설치하기</a:t>
            </a:r>
            <a:endParaRPr/>
          </a:p>
        </p:txBody>
      </p:sp>
      <p:cxnSp>
        <p:nvCxnSpPr>
          <p:cNvPr id="985" name="Google Shape;985;p45"/>
          <p:cNvCxnSpPr/>
          <p:nvPr/>
        </p:nvCxnSpPr>
        <p:spPr>
          <a:xfrm>
            <a:off x="0" y="373189"/>
            <a:ext cx="5591408" cy="0"/>
          </a:xfrm>
          <a:prstGeom prst="straightConnector1">
            <a:avLst/>
          </a:prstGeom>
          <a:noFill/>
          <a:ln w="19050" cap="flat" cmpd="sng">
            <a:solidFill>
              <a:srgbClr val="D810E2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1" name="Google Shape;991;p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3772" y="815032"/>
            <a:ext cx="4508732" cy="3469587"/>
          </a:xfrm>
          <a:prstGeom prst="rect">
            <a:avLst/>
          </a:prstGeom>
          <a:noFill/>
          <a:ln>
            <a:noFill/>
          </a:ln>
        </p:spPr>
      </p:pic>
      <p:pic>
        <p:nvPicPr>
          <p:cNvPr id="992" name="Google Shape;992;p4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51293" y="815032"/>
            <a:ext cx="4422136" cy="3417630"/>
          </a:xfrm>
          <a:prstGeom prst="rect">
            <a:avLst/>
          </a:prstGeom>
          <a:noFill/>
          <a:ln>
            <a:noFill/>
          </a:ln>
        </p:spPr>
      </p:pic>
      <p:sp>
        <p:nvSpPr>
          <p:cNvPr id="993" name="Google Shape;993;p46"/>
          <p:cNvSpPr txBox="1"/>
          <p:nvPr/>
        </p:nvSpPr>
        <p:spPr>
          <a:xfrm>
            <a:off x="-1" y="0"/>
            <a:ext cx="12192001" cy="449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algun Gothic"/>
              <a:buNone/>
            </a:pPr>
            <a:r>
              <a:rPr lang="ko-KR" sz="2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개발환경 설치하기 : Anaconda, VSCode, Visual Studio  설치</a:t>
            </a:r>
            <a:endParaRPr/>
          </a:p>
        </p:txBody>
      </p:sp>
      <p:cxnSp>
        <p:nvCxnSpPr>
          <p:cNvPr id="994" name="Google Shape;994;p46"/>
          <p:cNvCxnSpPr/>
          <p:nvPr/>
        </p:nvCxnSpPr>
        <p:spPr>
          <a:xfrm>
            <a:off x="0" y="373189"/>
            <a:ext cx="5591408" cy="0"/>
          </a:xfrm>
          <a:prstGeom prst="straightConnector1">
            <a:avLst/>
          </a:prstGeom>
          <a:noFill/>
          <a:ln w="19050" cap="flat" cmpd="sng">
            <a:solidFill>
              <a:srgbClr val="D810E2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995" name="Google Shape;995;p4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51904" y="5656549"/>
            <a:ext cx="2960902" cy="899338"/>
          </a:xfrm>
          <a:prstGeom prst="rect">
            <a:avLst/>
          </a:prstGeom>
          <a:noFill/>
          <a:ln>
            <a:noFill/>
          </a:ln>
        </p:spPr>
      </p:pic>
      <p:pic>
        <p:nvPicPr>
          <p:cNvPr id="996" name="Google Shape;996;p4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91326" y="5544478"/>
            <a:ext cx="3319735" cy="1106578"/>
          </a:xfrm>
          <a:prstGeom prst="rect">
            <a:avLst/>
          </a:prstGeom>
          <a:noFill/>
          <a:ln>
            <a:noFill/>
          </a:ln>
        </p:spPr>
      </p:pic>
      <p:sp>
        <p:nvSpPr>
          <p:cNvPr id="997" name="Google Shape;997;p46"/>
          <p:cNvSpPr/>
          <p:nvPr/>
        </p:nvSpPr>
        <p:spPr>
          <a:xfrm>
            <a:off x="1298261" y="5780784"/>
            <a:ext cx="1481837" cy="185094"/>
          </a:xfrm>
          <a:prstGeom prst="rect">
            <a:avLst/>
          </a:prstGeom>
          <a:noFill/>
          <a:ln w="1905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998" name="Google Shape;998;p46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601055" y="5913182"/>
            <a:ext cx="3572374" cy="924054"/>
          </a:xfrm>
          <a:prstGeom prst="rect">
            <a:avLst/>
          </a:prstGeom>
          <a:noFill/>
          <a:ln>
            <a:noFill/>
          </a:ln>
        </p:spPr>
      </p:pic>
      <p:pic>
        <p:nvPicPr>
          <p:cNvPr id="999" name="Google Shape;999;p46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601055" y="5595682"/>
            <a:ext cx="2800741" cy="285790"/>
          </a:xfrm>
          <a:prstGeom prst="rect">
            <a:avLst/>
          </a:prstGeom>
          <a:noFill/>
          <a:ln>
            <a:noFill/>
          </a:ln>
        </p:spPr>
      </p:pic>
      <p:sp>
        <p:nvSpPr>
          <p:cNvPr id="1000" name="Google Shape;1000;p46"/>
          <p:cNvSpPr txBox="1"/>
          <p:nvPr/>
        </p:nvSpPr>
        <p:spPr>
          <a:xfrm>
            <a:off x="7601055" y="5318217"/>
            <a:ext cx="1031051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개별구성요소</a:t>
            </a:r>
            <a:endParaRPr/>
          </a:p>
        </p:txBody>
      </p:sp>
      <p:sp>
        <p:nvSpPr>
          <p:cNvPr id="1001" name="Google Shape;1001;p46"/>
          <p:cNvSpPr txBox="1"/>
          <p:nvPr/>
        </p:nvSpPr>
        <p:spPr>
          <a:xfrm>
            <a:off x="4351904" y="5394939"/>
            <a:ext cx="748923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워크로드</a:t>
            </a:r>
            <a:endParaRPr/>
          </a:p>
        </p:txBody>
      </p:sp>
      <p:sp>
        <p:nvSpPr>
          <p:cNvPr id="1002" name="Google Shape;1002;p46"/>
          <p:cNvSpPr txBox="1"/>
          <p:nvPr/>
        </p:nvSpPr>
        <p:spPr>
          <a:xfrm>
            <a:off x="891326" y="4833996"/>
            <a:ext cx="4200189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V143이 없다면 다음 과정을 통해 V143설치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8" name="Google Shape;1008;p4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0945" y="1218356"/>
            <a:ext cx="4064792" cy="3987490"/>
          </a:xfrm>
          <a:prstGeom prst="rect">
            <a:avLst/>
          </a:prstGeom>
          <a:noFill/>
          <a:ln>
            <a:noFill/>
          </a:ln>
        </p:spPr>
      </p:pic>
      <p:sp>
        <p:nvSpPr>
          <p:cNvPr id="1009" name="Google Shape;1009;p47"/>
          <p:cNvSpPr txBox="1"/>
          <p:nvPr/>
        </p:nvSpPr>
        <p:spPr>
          <a:xfrm>
            <a:off x="290945" y="5381832"/>
            <a:ext cx="262437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Anaconda Prompt 실행</a:t>
            </a:r>
            <a:endParaRPr/>
          </a:p>
        </p:txBody>
      </p:sp>
      <p:pic>
        <p:nvPicPr>
          <p:cNvPr id="1010" name="Google Shape;1010;p4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04216" y="1322729"/>
            <a:ext cx="7096839" cy="3778743"/>
          </a:xfrm>
          <a:prstGeom prst="rect">
            <a:avLst/>
          </a:prstGeom>
          <a:noFill/>
          <a:ln>
            <a:noFill/>
          </a:ln>
        </p:spPr>
      </p:pic>
      <p:sp>
        <p:nvSpPr>
          <p:cNvPr id="1011" name="Google Shape;1011;p47"/>
          <p:cNvSpPr txBox="1"/>
          <p:nvPr/>
        </p:nvSpPr>
        <p:spPr>
          <a:xfrm>
            <a:off x="4896716" y="5205846"/>
            <a:ext cx="6720300" cy="13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0" i="0">
                <a:solidFill>
                  <a:srgbClr val="E6EDF3"/>
                </a:solidFill>
                <a:latin typeface="Cascadia Mono"/>
                <a:ea typeface="Cascadia Mono"/>
                <a:cs typeface="Cascadia Mono"/>
                <a:sym typeface="Cascadia Mono"/>
              </a:rPr>
              <a:t>다음 명령어를 통해 aip라는 </a:t>
            </a:r>
            <a:r>
              <a:rPr lang="ko-KR" sz="1800">
                <a:solidFill>
                  <a:srgbClr val="E6EDF3"/>
                </a:solidFill>
                <a:latin typeface="Cascadia Mono"/>
                <a:ea typeface="Cascadia Mono"/>
                <a:cs typeface="Cascadia Mono"/>
                <a:sym typeface="Cascadia Mono"/>
              </a:rPr>
              <a:t>가상환경을 Anaconda에 생성</a:t>
            </a:r>
            <a:endParaRPr sz="1800" b="0" i="0">
              <a:solidFill>
                <a:srgbClr val="E6EDF3"/>
              </a:solidFill>
              <a:latin typeface="Cascadia Mono"/>
              <a:ea typeface="Cascadia Mono"/>
              <a:cs typeface="Cascadia Mono"/>
              <a:sym typeface="Cascadia Mono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0" i="0">
                <a:solidFill>
                  <a:srgbClr val="E6EDF3"/>
                </a:solidFill>
                <a:latin typeface="Cascadia Mono"/>
                <a:ea typeface="Cascadia Mono"/>
                <a:cs typeface="Cascadia Mono"/>
                <a:sym typeface="Cascadia Mono"/>
              </a:rPr>
              <a:t>conda create </a:t>
            </a:r>
            <a:r>
              <a:rPr lang="ko-KR" sz="1800">
                <a:solidFill>
                  <a:srgbClr val="E6EDF3"/>
                </a:solidFill>
                <a:latin typeface="Cascadia Mono"/>
                <a:ea typeface="Cascadia Mono"/>
                <a:cs typeface="Cascadia Mono"/>
                <a:sym typeface="Cascadia Mono"/>
              </a:rPr>
              <a:t>-</a:t>
            </a:r>
            <a:r>
              <a:rPr lang="ko-KR" sz="1800" b="0" i="0">
                <a:solidFill>
                  <a:srgbClr val="E6EDF3"/>
                </a:solidFill>
                <a:latin typeface="Cascadia Mono"/>
                <a:ea typeface="Cascadia Mono"/>
                <a:cs typeface="Cascadia Mono"/>
                <a:sym typeface="Cascadia Mono"/>
              </a:rPr>
              <a:t>n aip python=3.11</a:t>
            </a:r>
            <a:endParaRPr/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E6EDF3"/>
              </a:solidFill>
              <a:latin typeface="Cascadia Mono"/>
              <a:ea typeface="Cascadia Mono"/>
              <a:cs typeface="Cascadia Mono"/>
              <a:sym typeface="Cascadia Mono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b="0" i="0">
                <a:solidFill>
                  <a:srgbClr val="E6EDF3"/>
                </a:solidFill>
                <a:latin typeface="Cascadia Mono"/>
                <a:ea typeface="Cascadia Mono"/>
                <a:cs typeface="Cascadia Mono"/>
                <a:sym typeface="Cascadia Mono"/>
              </a:rPr>
              <a:t>이 </a:t>
            </a:r>
            <a:r>
              <a:rPr lang="ko-KR" sz="1400">
                <a:solidFill>
                  <a:srgbClr val="E6EDF3"/>
                </a:solidFill>
                <a:latin typeface="Cascadia Mono"/>
                <a:ea typeface="Cascadia Mono"/>
                <a:cs typeface="Cascadia Mono"/>
                <a:sym typeface="Cascadia Mono"/>
              </a:rPr>
              <a:t>명령어를 통해 aip라는 가상환경이 python 3.11버전으로 생성</a:t>
            </a:r>
            <a:endParaRPr sz="1800" b="0" i="0">
              <a:solidFill>
                <a:srgbClr val="E6EDF3"/>
              </a:solidFill>
              <a:latin typeface="Cascadia Mono"/>
              <a:ea typeface="Cascadia Mono"/>
              <a:cs typeface="Cascadia Mono"/>
              <a:sym typeface="Cascadia Mono"/>
            </a:endParaRPr>
          </a:p>
        </p:txBody>
      </p:sp>
      <p:sp>
        <p:nvSpPr>
          <p:cNvPr id="1012" name="Google Shape;1012;p47"/>
          <p:cNvSpPr txBox="1"/>
          <p:nvPr/>
        </p:nvSpPr>
        <p:spPr>
          <a:xfrm>
            <a:off x="-1" y="0"/>
            <a:ext cx="12192001" cy="449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algun Gothic"/>
              <a:buNone/>
            </a:pPr>
            <a:r>
              <a:rPr lang="ko-KR" sz="2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개발환경 설치하기 : Anaconda  환경 설정</a:t>
            </a:r>
            <a:endParaRPr/>
          </a:p>
        </p:txBody>
      </p:sp>
      <p:cxnSp>
        <p:nvCxnSpPr>
          <p:cNvPr id="1013" name="Google Shape;1013;p47"/>
          <p:cNvCxnSpPr/>
          <p:nvPr/>
        </p:nvCxnSpPr>
        <p:spPr>
          <a:xfrm>
            <a:off x="0" y="373189"/>
            <a:ext cx="5591408" cy="0"/>
          </a:xfrm>
          <a:prstGeom prst="straightConnector1">
            <a:avLst/>
          </a:prstGeom>
          <a:noFill/>
          <a:ln w="19050" cap="flat" cmpd="sng">
            <a:solidFill>
              <a:srgbClr val="D810E2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p48"/>
          <p:cNvSpPr txBox="1"/>
          <p:nvPr/>
        </p:nvSpPr>
        <p:spPr>
          <a:xfrm>
            <a:off x="-1" y="0"/>
            <a:ext cx="12192001" cy="449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algun Gothic"/>
              <a:buNone/>
            </a:pPr>
            <a:r>
              <a:rPr lang="ko-KR" sz="2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개발환경 설치하기 : Anaconda  환경 설정</a:t>
            </a:r>
            <a:endParaRPr/>
          </a:p>
        </p:txBody>
      </p:sp>
      <p:cxnSp>
        <p:nvCxnSpPr>
          <p:cNvPr id="1020" name="Google Shape;1020;p48"/>
          <p:cNvCxnSpPr/>
          <p:nvPr/>
        </p:nvCxnSpPr>
        <p:spPr>
          <a:xfrm>
            <a:off x="0" y="373189"/>
            <a:ext cx="5591408" cy="0"/>
          </a:xfrm>
          <a:prstGeom prst="straightConnector1">
            <a:avLst/>
          </a:prstGeom>
          <a:noFill/>
          <a:ln w="19050" cap="flat" cmpd="sng">
            <a:solidFill>
              <a:srgbClr val="D810E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21" name="Google Shape;1021;p48"/>
          <p:cNvSpPr txBox="1"/>
          <p:nvPr/>
        </p:nvSpPr>
        <p:spPr>
          <a:xfrm>
            <a:off x="280553" y="865037"/>
            <a:ext cx="945579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VS code를 실행하고 프로젝트 루트를 압축푼프로젝트위치\DogFightEnv\Release 로 설정</a:t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22" name="Google Shape;1022;p48"/>
          <p:cNvSpPr txBox="1"/>
          <p:nvPr/>
        </p:nvSpPr>
        <p:spPr>
          <a:xfrm>
            <a:off x="280553" y="1339066"/>
            <a:ext cx="947265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방법 1) Vscode에서 Expoler-&gt;Open Folder-&gt; 압축푼프로젝트위치\DogFightEnv\Release</a:t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23" name="Google Shape;1023;p48"/>
          <p:cNvSpPr txBox="1"/>
          <p:nvPr/>
        </p:nvSpPr>
        <p:spPr>
          <a:xfrm>
            <a:off x="280553" y="1754714"/>
            <a:ext cx="1181868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방법 2) 압축푼프로젝트위치\DogFightEnv\Release 폴더 열고 폴더 빈공간을 오른쪽 클릭해서 Code(으)로 열기 </a:t>
            </a:r>
            <a:endParaRPr/>
          </a:p>
        </p:txBody>
      </p:sp>
      <p:pic>
        <p:nvPicPr>
          <p:cNvPr id="1024" name="Google Shape;1024;p4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33307" y="2903564"/>
            <a:ext cx="5120868" cy="284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5" name="Google Shape;1025;p4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3515" y="2279919"/>
            <a:ext cx="3238952" cy="17147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6" name="Google Shape;1026;p4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19722" y="3619008"/>
            <a:ext cx="4725489" cy="284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7" name="Google Shape;1027;p48"/>
          <p:cNvSpPr txBox="1"/>
          <p:nvPr/>
        </p:nvSpPr>
        <p:spPr>
          <a:xfrm>
            <a:off x="1958910" y="6484811"/>
            <a:ext cx="85472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방법 1</a:t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28" name="Google Shape;1028;p48"/>
          <p:cNvSpPr txBox="1"/>
          <p:nvPr/>
        </p:nvSpPr>
        <p:spPr>
          <a:xfrm>
            <a:off x="8806584" y="6390232"/>
            <a:ext cx="85472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방법 2</a:t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029" name="Google Shape;1029;p48"/>
          <p:cNvCxnSpPr/>
          <p:nvPr/>
        </p:nvCxnSpPr>
        <p:spPr>
          <a:xfrm>
            <a:off x="143515" y="2628900"/>
            <a:ext cx="427985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030" name="Google Shape;1030;p48"/>
          <p:cNvCxnSpPr/>
          <p:nvPr/>
        </p:nvCxnSpPr>
        <p:spPr>
          <a:xfrm>
            <a:off x="737210" y="3429000"/>
            <a:ext cx="2411235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p49"/>
          <p:cNvSpPr txBox="1"/>
          <p:nvPr/>
        </p:nvSpPr>
        <p:spPr>
          <a:xfrm>
            <a:off x="-1" y="0"/>
            <a:ext cx="12192001" cy="449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algun Gothic"/>
              <a:buNone/>
            </a:pPr>
            <a:r>
              <a:rPr lang="ko-KR" sz="2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개발환경 설치하기 : Anaconda  환경 설정</a:t>
            </a:r>
            <a:endParaRPr/>
          </a:p>
        </p:txBody>
      </p:sp>
      <p:cxnSp>
        <p:nvCxnSpPr>
          <p:cNvPr id="1037" name="Google Shape;1037;p49"/>
          <p:cNvCxnSpPr/>
          <p:nvPr/>
        </p:nvCxnSpPr>
        <p:spPr>
          <a:xfrm>
            <a:off x="0" y="373189"/>
            <a:ext cx="5591408" cy="0"/>
          </a:xfrm>
          <a:prstGeom prst="straightConnector1">
            <a:avLst/>
          </a:prstGeom>
          <a:noFill/>
          <a:ln w="19050" cap="flat" cmpd="sng">
            <a:solidFill>
              <a:srgbClr val="D810E2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038" name="Google Shape;1038;p4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2751" y="746379"/>
            <a:ext cx="2277159" cy="22227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9" name="Google Shape;1039;p4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95877" y="3190008"/>
            <a:ext cx="11592808" cy="210935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40" name="Google Shape;1040;p49"/>
          <p:cNvCxnSpPr/>
          <p:nvPr/>
        </p:nvCxnSpPr>
        <p:spPr>
          <a:xfrm rot="10800000" flipH="1">
            <a:off x="9457666" y="3372108"/>
            <a:ext cx="552676" cy="2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41" name="Google Shape;1041;p49"/>
          <p:cNvSpPr txBox="1"/>
          <p:nvPr/>
        </p:nvSpPr>
        <p:spPr>
          <a:xfrm>
            <a:off x="7853778" y="2753732"/>
            <a:ext cx="2266967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Powershell로 생성 될수도 있음.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동작이 잘 안되는 경우가 있음 </a:t>
            </a:r>
            <a:endParaRPr/>
          </a:p>
        </p:txBody>
      </p:sp>
      <p:sp>
        <p:nvSpPr>
          <p:cNvPr id="1042" name="Google Shape;1042;p49"/>
          <p:cNvSpPr/>
          <p:nvPr/>
        </p:nvSpPr>
        <p:spPr>
          <a:xfrm>
            <a:off x="10245436" y="3190008"/>
            <a:ext cx="176646" cy="215751"/>
          </a:xfrm>
          <a:prstGeom prst="rect">
            <a:avLst/>
          </a:prstGeom>
          <a:noFill/>
          <a:ln w="19050" cap="flat" cmpd="sng">
            <a:solidFill>
              <a:srgbClr val="5DFF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43" name="Google Shape;1043;p49"/>
          <p:cNvSpPr txBox="1"/>
          <p:nvPr/>
        </p:nvSpPr>
        <p:spPr>
          <a:xfrm>
            <a:off x="7737190" y="3503480"/>
            <a:ext cx="3889206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rgbClr val="5DFFA6"/>
                </a:solidFill>
                <a:latin typeface="Malgun Gothic"/>
                <a:ea typeface="Malgun Gothic"/>
                <a:cs typeface="Malgun Gothic"/>
                <a:sym typeface="Malgun Gothic"/>
              </a:rPr>
              <a:t>V자(아래방향표시)버튼을 눌러 command prompt 터미널을 실행</a:t>
            </a:r>
            <a:endParaRPr sz="1000">
              <a:solidFill>
                <a:srgbClr val="5DFFA6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044" name="Google Shape;1044;p4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101378" y="4792760"/>
            <a:ext cx="7679802" cy="1454869"/>
          </a:xfrm>
          <a:prstGeom prst="rect">
            <a:avLst/>
          </a:prstGeom>
          <a:noFill/>
          <a:ln w="9525" cap="flat" cmpd="sng">
            <a:solidFill>
              <a:srgbClr val="5DFFA6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045" name="Google Shape;1045;p49"/>
          <p:cNvSpPr/>
          <p:nvPr/>
        </p:nvSpPr>
        <p:spPr>
          <a:xfrm>
            <a:off x="9555191" y="4073524"/>
            <a:ext cx="253203" cy="342322"/>
          </a:xfrm>
          <a:prstGeom prst="downArrow">
            <a:avLst>
              <a:gd name="adj1" fmla="val 50000"/>
              <a:gd name="adj2" fmla="val 50000"/>
            </a:avLst>
          </a:prstGeom>
          <a:noFill/>
          <a:ln w="19050" cap="flat" cmpd="sng">
            <a:solidFill>
              <a:srgbClr val="5DFF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046" name="Google Shape;1046;p49"/>
          <p:cNvCxnSpPr/>
          <p:nvPr/>
        </p:nvCxnSpPr>
        <p:spPr>
          <a:xfrm>
            <a:off x="10955919" y="5278593"/>
            <a:ext cx="759831" cy="0"/>
          </a:xfrm>
          <a:prstGeom prst="straightConnector1">
            <a:avLst/>
          </a:prstGeom>
          <a:noFill/>
          <a:ln w="19050" cap="flat" cmpd="sng">
            <a:solidFill>
              <a:srgbClr val="5DFFA6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047" name="Google Shape;1047;p49"/>
          <p:cNvCxnSpPr/>
          <p:nvPr/>
        </p:nvCxnSpPr>
        <p:spPr>
          <a:xfrm>
            <a:off x="2682216" y="3676910"/>
            <a:ext cx="1197634" cy="0"/>
          </a:xfrm>
          <a:prstGeom prst="straightConnector1">
            <a:avLst/>
          </a:prstGeom>
          <a:noFill/>
          <a:ln w="19050" cap="flat" cmpd="sng">
            <a:solidFill>
              <a:srgbClr val="FFFF0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48" name="Google Shape;1048;p49"/>
          <p:cNvSpPr txBox="1"/>
          <p:nvPr/>
        </p:nvSpPr>
        <p:spPr>
          <a:xfrm>
            <a:off x="3059528" y="3656908"/>
            <a:ext cx="798617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rgbClr val="FFFF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위치 확인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Google Shape;1054;p50"/>
          <p:cNvSpPr txBox="1"/>
          <p:nvPr/>
        </p:nvSpPr>
        <p:spPr>
          <a:xfrm>
            <a:off x="-1" y="0"/>
            <a:ext cx="12192001" cy="449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algun Gothic"/>
              <a:buNone/>
            </a:pPr>
            <a:r>
              <a:rPr lang="ko-KR" sz="2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개발환경 설치하기 : Anaconda  환경 설정</a:t>
            </a:r>
            <a:endParaRPr/>
          </a:p>
        </p:txBody>
      </p:sp>
      <p:cxnSp>
        <p:nvCxnSpPr>
          <p:cNvPr id="1055" name="Google Shape;1055;p50"/>
          <p:cNvCxnSpPr/>
          <p:nvPr/>
        </p:nvCxnSpPr>
        <p:spPr>
          <a:xfrm>
            <a:off x="0" y="373189"/>
            <a:ext cx="6661150" cy="0"/>
          </a:xfrm>
          <a:prstGeom prst="straightConnector1">
            <a:avLst/>
          </a:prstGeom>
          <a:noFill/>
          <a:ln w="19050" cap="flat" cmpd="sng">
            <a:solidFill>
              <a:srgbClr val="D810E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56" name="Google Shape;1056;p50"/>
          <p:cNvSpPr txBox="1"/>
          <p:nvPr/>
        </p:nvSpPr>
        <p:spPr>
          <a:xfrm>
            <a:off x="215900" y="1006799"/>
            <a:ext cx="11601450" cy="1558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 b="0" i="0">
                <a:solidFill>
                  <a:srgbClr val="E6EDF3"/>
                </a:solidFill>
                <a:latin typeface="Cascadia Mono"/>
                <a:ea typeface="Cascadia Mono"/>
                <a:cs typeface="Cascadia Mono"/>
                <a:sym typeface="Cascadia Mono"/>
              </a:rPr>
              <a:t>해당 터미널에서 다음 명령어 실행</a:t>
            </a:r>
            <a:endParaRPr sz="1600" b="0" i="0">
              <a:solidFill>
                <a:srgbClr val="E6EDF3"/>
              </a:solidFill>
              <a:latin typeface="Cascadia Mono"/>
              <a:ea typeface="Cascadia Mono"/>
              <a:cs typeface="Cascadia Mono"/>
              <a:sym typeface="Cascadia Mono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 b="0" i="0">
                <a:solidFill>
                  <a:srgbClr val="E6EDF3"/>
                </a:solidFill>
                <a:latin typeface="Cascadia Mono"/>
                <a:ea typeface="Cascadia Mono"/>
                <a:cs typeface="Cascadia Mono"/>
                <a:sym typeface="Cascadia Mono"/>
              </a:rPr>
              <a:t>Conda activate aip</a:t>
            </a:r>
            <a:endParaRPr sz="1600" b="0" i="0">
              <a:solidFill>
                <a:srgbClr val="E6EDF3"/>
              </a:solidFill>
              <a:latin typeface="Cascadia Mono"/>
              <a:ea typeface="Cascadia Mono"/>
              <a:cs typeface="Cascadia Mono"/>
              <a:sym typeface="Cascadia Mono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E6EDF3"/>
              </a:solidFill>
              <a:latin typeface="Cascadia Mono"/>
              <a:ea typeface="Cascadia Mono"/>
              <a:cs typeface="Cascadia Mono"/>
              <a:sym typeface="Cascadia Mono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>
                <a:solidFill>
                  <a:srgbClr val="E6EDF3"/>
                </a:solidFill>
                <a:latin typeface="Cascadia Mono"/>
                <a:ea typeface="Cascadia Mono"/>
                <a:cs typeface="Cascadia Mono"/>
                <a:sym typeface="Cascadia Mono"/>
              </a:rPr>
              <a:t>앞으로의 학습환경&amp;교전환경 접속기를 사용할땐 이 명령어를 무조건 실행해야함. 생성한 가상환경을 실행하는 명령어</a:t>
            </a:r>
            <a:endParaRPr sz="1600">
              <a:solidFill>
                <a:srgbClr val="E6EDF3"/>
              </a:solidFill>
              <a:latin typeface="Cascadia Mono"/>
              <a:ea typeface="Cascadia Mono"/>
              <a:cs typeface="Cascadia Mono"/>
              <a:sym typeface="Cascadia Mono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>
                <a:solidFill>
                  <a:srgbClr val="E6EDF3"/>
                </a:solidFill>
                <a:latin typeface="Cascadia Mono"/>
                <a:ea typeface="Cascadia Mono"/>
                <a:cs typeface="Cascadia Mono"/>
                <a:sym typeface="Cascadia Mono"/>
              </a:rPr>
              <a:t>지금까지 똑바로 따라했다면 다음과 비슷한 문구가 뜰것</a:t>
            </a:r>
            <a:endParaRPr sz="1600">
              <a:solidFill>
                <a:srgbClr val="E6EDF3"/>
              </a:solidFill>
              <a:latin typeface="Cascadia Mono"/>
              <a:ea typeface="Cascadia Mono"/>
              <a:cs typeface="Cascadia Mono"/>
              <a:sym typeface="Cascadia Mono"/>
            </a:endParaRPr>
          </a:p>
        </p:txBody>
      </p:sp>
      <p:pic>
        <p:nvPicPr>
          <p:cNvPr id="1057" name="Google Shape;1057;p5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5900" y="2622725"/>
            <a:ext cx="6614345" cy="50643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58" name="Google Shape;1058;p50"/>
          <p:cNvCxnSpPr/>
          <p:nvPr/>
        </p:nvCxnSpPr>
        <p:spPr>
          <a:xfrm>
            <a:off x="376820" y="3035653"/>
            <a:ext cx="759831" cy="0"/>
          </a:xfrm>
          <a:prstGeom prst="straightConnector1">
            <a:avLst/>
          </a:prstGeom>
          <a:noFill/>
          <a:ln w="19050" cap="flat" cmpd="sng">
            <a:solidFill>
              <a:srgbClr val="5DFFA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59" name="Google Shape;1059;p50"/>
          <p:cNvSpPr txBox="1"/>
          <p:nvPr/>
        </p:nvSpPr>
        <p:spPr>
          <a:xfrm>
            <a:off x="529940" y="3129160"/>
            <a:ext cx="2457724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rgbClr val="5DFFA6"/>
                </a:solidFill>
                <a:latin typeface="Malgun Gothic"/>
                <a:ea typeface="Malgun Gothic"/>
                <a:cs typeface="Malgun Gothic"/>
                <a:sym typeface="Malgun Gothic"/>
              </a:rPr>
              <a:t>밑줄과 같이 (aip)라는 표시가 뜨면 성공</a:t>
            </a:r>
            <a:endParaRPr sz="1000">
              <a:solidFill>
                <a:srgbClr val="5DFFA6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60" name="Google Shape;1060;p50"/>
          <p:cNvSpPr txBox="1"/>
          <p:nvPr/>
        </p:nvSpPr>
        <p:spPr>
          <a:xfrm>
            <a:off x="215900" y="3728841"/>
            <a:ext cx="9404350" cy="2484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0" i="0">
                <a:solidFill>
                  <a:srgbClr val="E6EDF3"/>
                </a:solidFill>
                <a:latin typeface="Cascadia Mono"/>
                <a:ea typeface="Cascadia Mono"/>
                <a:cs typeface="Cascadia Mono"/>
                <a:sym typeface="Cascadia Mono"/>
              </a:rPr>
              <a:t>다음 명령어를 추가로 실행하여 가상환경에 프로젝트에 필요한 라이브러리 설치</a:t>
            </a:r>
            <a:endParaRPr sz="1800" b="0" i="0">
              <a:solidFill>
                <a:srgbClr val="E6EDF3"/>
              </a:solidFill>
              <a:latin typeface="Cascadia Mono"/>
              <a:ea typeface="Cascadia Mono"/>
              <a:cs typeface="Cascadia Mono"/>
              <a:sym typeface="Cascadia Mono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0" i="0">
                <a:solidFill>
                  <a:srgbClr val="E6EDF3"/>
                </a:solidFill>
                <a:latin typeface="Cascadia Mono"/>
                <a:ea typeface="Cascadia Mono"/>
                <a:cs typeface="Cascadia Mono"/>
                <a:sym typeface="Cascadia Mono"/>
              </a:rPr>
              <a:t>python -m pip install -r requirements.txt</a:t>
            </a:r>
            <a:endParaRPr/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E6EDF3"/>
              </a:solidFill>
              <a:latin typeface="Cascadia Mono"/>
              <a:ea typeface="Cascadia Mono"/>
              <a:cs typeface="Cascadia Mono"/>
              <a:sym typeface="Cascadia Mono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0" i="0">
                <a:solidFill>
                  <a:srgbClr val="E6EDF3"/>
                </a:solidFill>
                <a:latin typeface="Cascadia Mono"/>
                <a:ea typeface="Cascadia Mono"/>
                <a:cs typeface="Cascadia Mono"/>
                <a:sym typeface="Cascadia Mono"/>
              </a:rPr>
              <a:t>설치가 완료 됐다면 가상환경 설치는 완료</a:t>
            </a:r>
            <a:endParaRPr sz="1800" b="0" i="0">
              <a:solidFill>
                <a:srgbClr val="E6EDF3"/>
              </a:solidFill>
              <a:latin typeface="Cascadia Mono"/>
              <a:ea typeface="Cascadia Mono"/>
              <a:cs typeface="Cascadia Mono"/>
              <a:sym typeface="Cascadia Mono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E6EDF3"/>
              </a:solidFill>
              <a:latin typeface="Cascadia Mono"/>
              <a:ea typeface="Cascadia Mono"/>
              <a:cs typeface="Cascadia Mono"/>
              <a:sym typeface="Cascadia Mono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rgbClr val="E6EDF3"/>
                </a:solidFill>
                <a:latin typeface="Cascadia Mono"/>
                <a:ea typeface="Cascadia Mono"/>
                <a:cs typeface="Cascadia Mono"/>
                <a:sym typeface="Cascadia Mono"/>
              </a:rPr>
              <a:t>python -c "import JSBSimWrapper; print('ok')" </a:t>
            </a:r>
            <a:br>
              <a:rPr lang="ko-KR" sz="1800">
                <a:solidFill>
                  <a:srgbClr val="E6EDF3"/>
                </a:solidFill>
                <a:latin typeface="Cascadia Mono"/>
                <a:ea typeface="Cascadia Mono"/>
                <a:cs typeface="Cascadia Mono"/>
                <a:sym typeface="Cascadia Mono"/>
              </a:rPr>
            </a:br>
            <a:r>
              <a:rPr lang="ko-KR" sz="1800">
                <a:solidFill>
                  <a:srgbClr val="E6EDF3"/>
                </a:solidFill>
                <a:latin typeface="Cascadia Mono"/>
                <a:ea typeface="Cascadia Mono"/>
                <a:cs typeface="Cascadia Mono"/>
                <a:sym typeface="Cascadia Mono"/>
              </a:rPr>
              <a:t>명령어로 설치 완료 상태 테스트</a:t>
            </a:r>
            <a:endParaRPr sz="1800" b="0" i="0">
              <a:solidFill>
                <a:srgbClr val="E6EDF3"/>
              </a:solidFill>
              <a:latin typeface="Cascadia Mono"/>
              <a:ea typeface="Cascadia Mono"/>
              <a:cs typeface="Cascadia Mono"/>
              <a:sym typeface="Cascadia Mono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Google Shape;1065;p51"/>
          <p:cNvSpPr txBox="1"/>
          <p:nvPr/>
        </p:nvSpPr>
        <p:spPr>
          <a:xfrm>
            <a:off x="2585327" y="2782669"/>
            <a:ext cx="702134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6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간단한 Behavior Tree 만들어보기</a:t>
            </a:r>
            <a:endParaRPr sz="36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66" name="Google Shape;1066;p51"/>
          <p:cNvSpPr txBox="1"/>
          <p:nvPr/>
        </p:nvSpPr>
        <p:spPr>
          <a:xfrm>
            <a:off x="5789381" y="5566849"/>
            <a:ext cx="5840958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b="1">
                <a:solidFill>
                  <a:srgbClr val="00B0F0"/>
                </a:solidFill>
                <a:latin typeface="Malgun Gothic"/>
                <a:ea typeface="Malgun Gothic"/>
                <a:cs typeface="Malgun Gothic"/>
                <a:sym typeface="Malgun Gothic"/>
              </a:rPr>
              <a:t>Anaconda 설치 및 환경 설정을 하는 동안</a:t>
            </a:r>
            <a:endParaRPr sz="2000" b="1">
              <a:solidFill>
                <a:srgbClr val="00B0F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b="1">
                <a:solidFill>
                  <a:srgbClr val="00B0F0"/>
                </a:solidFill>
                <a:latin typeface="Malgun Gothic"/>
                <a:ea typeface="Malgun Gothic"/>
                <a:cs typeface="Malgun Gothic"/>
                <a:sym typeface="Malgun Gothic"/>
              </a:rPr>
              <a:t>	VisualStudio 를 설치했다고 믿겠습니다..</a:t>
            </a:r>
            <a:endParaRPr sz="2000" b="1">
              <a:solidFill>
                <a:srgbClr val="00B0F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" name="Google Shape;1072;p52"/>
          <p:cNvSpPr/>
          <p:nvPr/>
        </p:nvSpPr>
        <p:spPr>
          <a:xfrm>
            <a:off x="431019" y="2160144"/>
            <a:ext cx="1626376" cy="607273"/>
          </a:xfrm>
          <a:prstGeom prst="rect">
            <a:avLst/>
          </a:prstGeom>
          <a:solidFill>
            <a:srgbClr val="7030A0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Task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Node</a:t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73" name="Google Shape;1073;p52"/>
          <p:cNvSpPr/>
          <p:nvPr/>
        </p:nvSpPr>
        <p:spPr>
          <a:xfrm>
            <a:off x="431019" y="2857284"/>
            <a:ext cx="1626376" cy="607273"/>
          </a:xfrm>
          <a:prstGeom prst="rect">
            <a:avLst/>
          </a:prstGeom>
          <a:solidFill>
            <a:srgbClr val="0070C0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Decorator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Node</a:t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74" name="Google Shape;1074;p52"/>
          <p:cNvSpPr/>
          <p:nvPr/>
        </p:nvSpPr>
        <p:spPr>
          <a:xfrm>
            <a:off x="431019" y="3554424"/>
            <a:ext cx="1626376" cy="607273"/>
          </a:xfrm>
          <a:prstGeom prst="rect">
            <a:avLst/>
          </a:prstGeom>
          <a:solidFill>
            <a:srgbClr val="00B050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Service</a:t>
            </a:r>
            <a:b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Node</a:t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75" name="Google Shape;1075;p52"/>
          <p:cNvSpPr txBox="1"/>
          <p:nvPr/>
        </p:nvSpPr>
        <p:spPr>
          <a:xfrm>
            <a:off x="2342880" y="2279114"/>
            <a:ext cx="79432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객체의 행위 자체를 수행하는 노드, 이 프로젝트에서는 VP를 생성하는 역할</a:t>
            </a:r>
            <a:endParaRPr/>
          </a:p>
        </p:txBody>
      </p:sp>
      <p:sp>
        <p:nvSpPr>
          <p:cNvPr id="1076" name="Google Shape;1076;p52"/>
          <p:cNvSpPr txBox="1"/>
          <p:nvPr/>
        </p:nvSpPr>
        <p:spPr>
          <a:xfrm>
            <a:off x="2342880" y="2976254"/>
            <a:ext cx="970810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다른 노드들에 붙어서 실행 조건을 확인하는 노드, 트리의 조건문, if 문의 조건이라고 보면됨</a:t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77" name="Google Shape;1077;p52"/>
          <p:cNvSpPr txBox="1"/>
          <p:nvPr/>
        </p:nvSpPr>
        <p:spPr>
          <a:xfrm>
            <a:off x="2342880" y="3673394"/>
            <a:ext cx="797846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트리가 지나가는 경로 도중에 실행되는 노드, 주로 상태 업데이트를 위해 씀</a:t>
            </a:r>
            <a:endParaRPr/>
          </a:p>
        </p:txBody>
      </p:sp>
      <p:sp>
        <p:nvSpPr>
          <p:cNvPr id="1078" name="Google Shape;1078;p52"/>
          <p:cNvSpPr txBox="1"/>
          <p:nvPr/>
        </p:nvSpPr>
        <p:spPr>
          <a:xfrm>
            <a:off x="8620" y="1760011"/>
            <a:ext cx="25294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Unreal Content Nodes</a:t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79" name="Google Shape;1079;p52"/>
          <p:cNvSpPr txBox="1"/>
          <p:nvPr/>
        </p:nvSpPr>
        <p:spPr>
          <a:xfrm>
            <a:off x="304019" y="602265"/>
            <a:ext cx="9259201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#AIP 구조에서는 Unreal 구조를 따랐기 때문에 같은 기능을 Action Node를 통해 구현함</a:t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굳이 안따라도 상관없고 더 좋은 구조가 있다고 생각한다면 그 구조대로 만들기를 바람</a:t>
            </a:r>
            <a:endParaRPr/>
          </a:p>
        </p:txBody>
      </p:sp>
      <p:sp>
        <p:nvSpPr>
          <p:cNvPr id="1080" name="Google Shape;1080;p52"/>
          <p:cNvSpPr/>
          <p:nvPr/>
        </p:nvSpPr>
        <p:spPr>
          <a:xfrm>
            <a:off x="431019" y="5419044"/>
            <a:ext cx="1626376" cy="607273"/>
          </a:xfrm>
          <a:prstGeom prst="rect">
            <a:avLst/>
          </a:prstGeom>
          <a:solidFill>
            <a:srgbClr val="7030A0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Action</a:t>
            </a:r>
            <a:b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Node</a:t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81" name="Google Shape;1081;p52"/>
          <p:cNvSpPr/>
          <p:nvPr/>
        </p:nvSpPr>
        <p:spPr>
          <a:xfrm rot="-5400000">
            <a:off x="1001659" y="4629062"/>
            <a:ext cx="485095" cy="322618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1"/>
          </a:solidFill>
          <a:ln w="19050" cap="flat" cmpd="sng">
            <a:solidFill>
              <a:srgbClr val="9FE6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82" name="Google Shape;1082;p52"/>
          <p:cNvSpPr txBox="1"/>
          <p:nvPr/>
        </p:nvSpPr>
        <p:spPr>
          <a:xfrm>
            <a:off x="2231120" y="5538014"/>
            <a:ext cx="530600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Task, Service, Decorator 의 역할을 구현하여 사용</a:t>
            </a:r>
            <a:endParaRPr/>
          </a:p>
        </p:txBody>
      </p:sp>
      <p:sp>
        <p:nvSpPr>
          <p:cNvPr id="1083" name="Google Shape;1083;p52"/>
          <p:cNvSpPr txBox="1"/>
          <p:nvPr/>
        </p:nvSpPr>
        <p:spPr>
          <a:xfrm>
            <a:off x="-1" y="0"/>
            <a:ext cx="12192001" cy="449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algun Gothic"/>
              <a:buNone/>
            </a:pPr>
            <a:r>
              <a:rPr lang="ko-KR" sz="2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Behavior Tree 만들어보기 : 기존 컨셉 설명</a:t>
            </a:r>
            <a:endParaRPr/>
          </a:p>
        </p:txBody>
      </p:sp>
      <p:cxnSp>
        <p:nvCxnSpPr>
          <p:cNvPr id="1084" name="Google Shape;1084;p52"/>
          <p:cNvCxnSpPr/>
          <p:nvPr/>
        </p:nvCxnSpPr>
        <p:spPr>
          <a:xfrm>
            <a:off x="0" y="373189"/>
            <a:ext cx="6661150" cy="0"/>
          </a:xfrm>
          <a:prstGeom prst="straightConnector1">
            <a:avLst/>
          </a:prstGeom>
          <a:noFill/>
          <a:ln w="19050" cap="flat" cmpd="sng">
            <a:solidFill>
              <a:srgbClr val="D810E2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" name="Google Shape;1089;p53"/>
          <p:cNvSpPr/>
          <p:nvPr/>
        </p:nvSpPr>
        <p:spPr>
          <a:xfrm>
            <a:off x="353531" y="2217814"/>
            <a:ext cx="1870364" cy="512618"/>
          </a:xfrm>
          <a:prstGeom prst="rect">
            <a:avLst/>
          </a:prstGeom>
          <a:solidFill>
            <a:srgbClr val="8CD872"/>
          </a:solidFill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노드 Class 생성</a:t>
            </a:r>
            <a:endParaRPr/>
          </a:p>
        </p:txBody>
      </p:sp>
      <p:sp>
        <p:nvSpPr>
          <p:cNvPr id="1090" name="Google Shape;1090;p53"/>
          <p:cNvSpPr/>
          <p:nvPr/>
        </p:nvSpPr>
        <p:spPr>
          <a:xfrm>
            <a:off x="3486387" y="2208958"/>
            <a:ext cx="1870364" cy="512618"/>
          </a:xfrm>
          <a:prstGeom prst="rect">
            <a:avLst/>
          </a:prstGeom>
          <a:solidFill>
            <a:srgbClr val="C370DA"/>
          </a:solidFill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Factory 등록</a:t>
            </a:r>
            <a:endParaRPr/>
          </a:p>
        </p:txBody>
      </p:sp>
      <p:sp>
        <p:nvSpPr>
          <p:cNvPr id="1091" name="Google Shape;1091;p53"/>
          <p:cNvSpPr/>
          <p:nvPr/>
        </p:nvSpPr>
        <p:spPr>
          <a:xfrm>
            <a:off x="6619243" y="2208958"/>
            <a:ext cx="1870364" cy="512618"/>
          </a:xfrm>
          <a:prstGeom prst="rect">
            <a:avLst/>
          </a:prstGeom>
          <a:solidFill>
            <a:srgbClr val="00B0F0"/>
          </a:solidFill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Tree에 추가</a:t>
            </a:r>
            <a:endParaRPr/>
          </a:p>
        </p:txBody>
      </p:sp>
      <p:sp>
        <p:nvSpPr>
          <p:cNvPr id="1092" name="Google Shape;1092;p53"/>
          <p:cNvSpPr txBox="1"/>
          <p:nvPr/>
        </p:nvSpPr>
        <p:spPr>
          <a:xfrm>
            <a:off x="81845" y="801625"/>
            <a:ext cx="52749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C++ Behavior Tree Node를 추가하고 사용해보기</a:t>
            </a:r>
            <a:endParaRPr/>
          </a:p>
        </p:txBody>
      </p:sp>
      <p:sp>
        <p:nvSpPr>
          <p:cNvPr id="1093" name="Google Shape;1093;p53"/>
          <p:cNvSpPr/>
          <p:nvPr/>
        </p:nvSpPr>
        <p:spPr>
          <a:xfrm>
            <a:off x="9752099" y="2208958"/>
            <a:ext cx="1870364" cy="512618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Run Tree</a:t>
            </a:r>
            <a:endParaRPr sz="11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94" name="Google Shape;1094;p53"/>
          <p:cNvSpPr/>
          <p:nvPr/>
        </p:nvSpPr>
        <p:spPr>
          <a:xfrm>
            <a:off x="2632637" y="2333441"/>
            <a:ext cx="445008" cy="263652"/>
          </a:xfrm>
          <a:prstGeom prst="rightArrow">
            <a:avLst>
              <a:gd name="adj1" fmla="val 50000"/>
              <a:gd name="adj2" fmla="val 50000"/>
            </a:avLst>
          </a:prstGeom>
          <a:noFill/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95" name="Google Shape;1095;p53"/>
          <p:cNvSpPr/>
          <p:nvPr/>
        </p:nvSpPr>
        <p:spPr>
          <a:xfrm>
            <a:off x="5779978" y="2333441"/>
            <a:ext cx="445008" cy="263652"/>
          </a:xfrm>
          <a:prstGeom prst="rightArrow">
            <a:avLst>
              <a:gd name="adj1" fmla="val 50000"/>
              <a:gd name="adj2" fmla="val 50000"/>
            </a:avLst>
          </a:prstGeom>
          <a:noFill/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96" name="Google Shape;1096;p53"/>
          <p:cNvSpPr/>
          <p:nvPr/>
        </p:nvSpPr>
        <p:spPr>
          <a:xfrm>
            <a:off x="8907576" y="2345068"/>
            <a:ext cx="445008" cy="263652"/>
          </a:xfrm>
          <a:prstGeom prst="rightArrow">
            <a:avLst>
              <a:gd name="adj1" fmla="val 50000"/>
              <a:gd name="adj2" fmla="val 50000"/>
            </a:avLst>
          </a:prstGeom>
          <a:noFill/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97" name="Google Shape;1097;p53"/>
          <p:cNvSpPr txBox="1"/>
          <p:nvPr/>
        </p:nvSpPr>
        <p:spPr>
          <a:xfrm>
            <a:off x="-1" y="3049341"/>
            <a:ext cx="2697480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5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C++ Class로 구현된 Action Node 생성</a:t>
            </a:r>
            <a:endParaRPr/>
          </a:p>
        </p:txBody>
      </p:sp>
      <p:sp>
        <p:nvSpPr>
          <p:cNvPr id="1098" name="Google Shape;1098;p53"/>
          <p:cNvSpPr txBox="1"/>
          <p:nvPr/>
        </p:nvSpPr>
        <p:spPr>
          <a:xfrm>
            <a:off x="3220850" y="3053188"/>
            <a:ext cx="2401437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5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생성한 노드를 Behavior Tree에 등록</a:t>
            </a:r>
            <a:endParaRPr/>
          </a:p>
        </p:txBody>
      </p:sp>
      <p:sp>
        <p:nvSpPr>
          <p:cNvPr id="1099" name="Google Shape;1099;p53"/>
          <p:cNvSpPr txBox="1"/>
          <p:nvPr/>
        </p:nvSpPr>
        <p:spPr>
          <a:xfrm>
            <a:off x="6865234" y="3021448"/>
            <a:ext cx="1378382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5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Tree XML에서 사용</a:t>
            </a:r>
            <a:endParaRPr/>
          </a:p>
        </p:txBody>
      </p:sp>
      <p:sp>
        <p:nvSpPr>
          <p:cNvPr id="1100" name="Google Shape;1100;p53"/>
          <p:cNvSpPr txBox="1"/>
          <p:nvPr/>
        </p:nvSpPr>
        <p:spPr>
          <a:xfrm>
            <a:off x="10150373" y="3024078"/>
            <a:ext cx="1073816" cy="577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5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Test</a:t>
            </a:r>
            <a:br>
              <a:rPr lang="ko-KR" sz="105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-KR" sz="105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전장서버 접속</a:t>
            </a:r>
            <a:endParaRPr sz="105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5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테스트 교전</a:t>
            </a:r>
            <a:endParaRPr/>
          </a:p>
        </p:txBody>
      </p:sp>
      <p:sp>
        <p:nvSpPr>
          <p:cNvPr id="1101" name="Google Shape;1101;p53"/>
          <p:cNvSpPr txBox="1"/>
          <p:nvPr/>
        </p:nvSpPr>
        <p:spPr>
          <a:xfrm>
            <a:off x="171450" y="1523194"/>
            <a:ext cx="118974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실습 순서</a:t>
            </a:r>
            <a:endParaRPr/>
          </a:p>
        </p:txBody>
      </p:sp>
      <p:sp>
        <p:nvSpPr>
          <p:cNvPr id="1102" name="Google Shape;1102;p53"/>
          <p:cNvSpPr txBox="1"/>
          <p:nvPr/>
        </p:nvSpPr>
        <p:spPr>
          <a:xfrm>
            <a:off x="-1" y="0"/>
            <a:ext cx="12192001" cy="449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algun Gothic"/>
              <a:buNone/>
            </a:pPr>
            <a:r>
              <a:rPr lang="ko-KR" sz="2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Behavior Tree 만들어보기</a:t>
            </a:r>
            <a:endParaRPr/>
          </a:p>
        </p:txBody>
      </p:sp>
      <p:cxnSp>
        <p:nvCxnSpPr>
          <p:cNvPr id="1103" name="Google Shape;1103;p53"/>
          <p:cNvCxnSpPr/>
          <p:nvPr/>
        </p:nvCxnSpPr>
        <p:spPr>
          <a:xfrm>
            <a:off x="0" y="373189"/>
            <a:ext cx="6661150" cy="0"/>
          </a:xfrm>
          <a:prstGeom prst="straightConnector1">
            <a:avLst/>
          </a:prstGeom>
          <a:noFill/>
          <a:ln w="19050" cap="flat" cmpd="sng">
            <a:solidFill>
              <a:srgbClr val="D810E2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8" name="Google Shape;1108;p5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45291" y="976079"/>
            <a:ext cx="1695687" cy="2152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9" name="Google Shape;1109;p54"/>
          <p:cNvPicPr preferRelativeResize="0"/>
          <p:nvPr/>
        </p:nvPicPr>
        <p:blipFill rotWithShape="1">
          <a:blip r:embed="rId4">
            <a:alphaModFix/>
          </a:blip>
          <a:srcRect l="-1" r="71986"/>
          <a:stretch/>
        </p:blipFill>
        <p:spPr>
          <a:xfrm>
            <a:off x="120211" y="1142555"/>
            <a:ext cx="1595206" cy="1625286"/>
          </a:xfrm>
          <a:prstGeom prst="rect">
            <a:avLst/>
          </a:prstGeom>
          <a:noFill/>
          <a:ln>
            <a:noFill/>
          </a:ln>
        </p:spPr>
      </p:pic>
      <p:sp>
        <p:nvSpPr>
          <p:cNvPr id="1110" name="Google Shape;1110;p54"/>
          <p:cNvSpPr txBox="1"/>
          <p:nvPr/>
        </p:nvSpPr>
        <p:spPr>
          <a:xfrm>
            <a:off x="-1" y="0"/>
            <a:ext cx="5733355" cy="449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algun Gothic"/>
              <a:buNone/>
            </a:pPr>
            <a:r>
              <a:rPr lang="ko-KR" sz="2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Behavior Tree Tutorial : Create Node</a:t>
            </a:r>
            <a:endParaRPr sz="24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11" name="Google Shape;1111;p54"/>
          <p:cNvSpPr txBox="1"/>
          <p:nvPr/>
        </p:nvSpPr>
        <p:spPr>
          <a:xfrm>
            <a:off x="0" y="373189"/>
            <a:ext cx="205537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Action Node 생성</a:t>
            </a:r>
            <a:endParaRPr/>
          </a:p>
        </p:txBody>
      </p:sp>
      <p:cxnSp>
        <p:nvCxnSpPr>
          <p:cNvPr id="1112" name="Google Shape;1112;p54"/>
          <p:cNvCxnSpPr/>
          <p:nvPr/>
        </p:nvCxnSpPr>
        <p:spPr>
          <a:xfrm>
            <a:off x="200272" y="1584960"/>
            <a:ext cx="853440" cy="0"/>
          </a:xfrm>
          <a:prstGeom prst="straightConnector1">
            <a:avLst/>
          </a:prstGeom>
          <a:noFill/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113" name="Google Shape;1113;p54"/>
          <p:cNvCxnSpPr/>
          <p:nvPr/>
        </p:nvCxnSpPr>
        <p:spPr>
          <a:xfrm>
            <a:off x="2425086" y="2842084"/>
            <a:ext cx="843261" cy="0"/>
          </a:xfrm>
          <a:prstGeom prst="straightConnector1">
            <a:avLst/>
          </a:prstGeom>
          <a:noFill/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114" name="Google Shape;1114;p54"/>
          <p:cNvSpPr/>
          <p:nvPr/>
        </p:nvSpPr>
        <p:spPr>
          <a:xfrm>
            <a:off x="1724090" y="1843649"/>
            <a:ext cx="445008" cy="263652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2F2F2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115" name="Google Shape;1115;p5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40007" y="425280"/>
            <a:ext cx="7146648" cy="3051672"/>
          </a:xfrm>
          <a:prstGeom prst="rect">
            <a:avLst/>
          </a:prstGeom>
          <a:noFill/>
          <a:ln>
            <a:noFill/>
          </a:ln>
        </p:spPr>
      </p:pic>
      <p:sp>
        <p:nvSpPr>
          <p:cNvPr id="1116" name="Google Shape;1116;p54"/>
          <p:cNvSpPr/>
          <p:nvPr/>
        </p:nvSpPr>
        <p:spPr>
          <a:xfrm>
            <a:off x="4093365" y="1823372"/>
            <a:ext cx="445008" cy="263652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2F2F2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117" name="Google Shape;1117;p5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5137" y="4159967"/>
            <a:ext cx="2736774" cy="83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8" name="Google Shape;1118;p54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983787" y="3791988"/>
            <a:ext cx="2570886" cy="1787847"/>
          </a:xfrm>
          <a:prstGeom prst="rect">
            <a:avLst/>
          </a:prstGeom>
          <a:noFill/>
          <a:ln>
            <a:noFill/>
          </a:ln>
        </p:spPr>
      </p:pic>
      <p:sp>
        <p:nvSpPr>
          <p:cNvPr id="1119" name="Google Shape;1119;p54"/>
          <p:cNvSpPr/>
          <p:nvPr/>
        </p:nvSpPr>
        <p:spPr>
          <a:xfrm>
            <a:off x="3453251" y="4480685"/>
            <a:ext cx="445008" cy="263652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2F2F2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120" name="Google Shape;1120;p54"/>
          <p:cNvCxnSpPr/>
          <p:nvPr/>
        </p:nvCxnSpPr>
        <p:spPr>
          <a:xfrm>
            <a:off x="4309110" y="5500916"/>
            <a:ext cx="1653540" cy="0"/>
          </a:xfrm>
          <a:prstGeom prst="straightConnector1">
            <a:avLst/>
          </a:prstGeom>
          <a:noFill/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121" name="Google Shape;1121;p54"/>
          <p:cNvCxnSpPr/>
          <p:nvPr/>
        </p:nvCxnSpPr>
        <p:spPr>
          <a:xfrm>
            <a:off x="4655213" y="4207294"/>
            <a:ext cx="1218537" cy="0"/>
          </a:xfrm>
          <a:prstGeom prst="straightConnector1">
            <a:avLst/>
          </a:prstGeom>
          <a:noFill/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122" name="Google Shape;1122;p54"/>
          <p:cNvSpPr txBox="1"/>
          <p:nvPr/>
        </p:nvSpPr>
        <p:spPr>
          <a:xfrm>
            <a:off x="7070345" y="4352068"/>
            <a:ext cx="5170469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accent6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프로젝트 설치 위치\ADF_BT_Tool\AIP_DCS\BehaviorTree\BT_Content\Task</a:t>
            </a:r>
            <a:endParaRPr/>
          </a:p>
        </p:txBody>
      </p:sp>
      <p:sp>
        <p:nvSpPr>
          <p:cNvPr id="1123" name="Google Shape;1123;p54"/>
          <p:cNvSpPr txBox="1"/>
          <p:nvPr/>
        </p:nvSpPr>
        <p:spPr>
          <a:xfrm>
            <a:off x="7141009" y="4706212"/>
            <a:ext cx="5170469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헤더 이름은 </a:t>
            </a:r>
            <a:r>
              <a:rPr lang="ko-KR" sz="1100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Task_Pure</a:t>
            </a:r>
            <a:r>
              <a:rPr lang="ko-KR" sz="11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 로 설정</a:t>
            </a:r>
            <a:endParaRPr/>
          </a:p>
        </p:txBody>
      </p:sp>
      <p:sp>
        <p:nvSpPr>
          <p:cNvPr id="1124" name="Google Shape;1124;p54"/>
          <p:cNvSpPr/>
          <p:nvPr/>
        </p:nvSpPr>
        <p:spPr>
          <a:xfrm>
            <a:off x="6625337" y="4535821"/>
            <a:ext cx="445008" cy="263652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2F2F2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25" name="Google Shape;1125;p54"/>
          <p:cNvSpPr txBox="1"/>
          <p:nvPr/>
        </p:nvSpPr>
        <p:spPr>
          <a:xfrm>
            <a:off x="125250" y="5715445"/>
            <a:ext cx="11941499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프로젝트 설치 위치에서 프로젝트를 열고 솔루션 탐색기-&gt; 추가 -&gt; 새항목 -&gt; 헤더(.h) -&gt; 파일이름 원하는거(여기선 </a:t>
            </a:r>
            <a:r>
              <a:rPr lang="ko-KR" sz="1400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Task_Pure</a:t>
            </a:r>
            <a:r>
              <a:rPr lang="ko-KR" sz="1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) -&gt; 생성 위치 설정(Task 폴더)</a:t>
            </a:r>
            <a:endParaRPr sz="14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26" name="Google Shape;1126;p54"/>
          <p:cNvSpPr/>
          <p:nvPr/>
        </p:nvSpPr>
        <p:spPr>
          <a:xfrm>
            <a:off x="125200" y="4469497"/>
            <a:ext cx="445008" cy="263652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2F2F2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27" name="Google Shape;1127;p54"/>
          <p:cNvSpPr txBox="1"/>
          <p:nvPr/>
        </p:nvSpPr>
        <p:spPr>
          <a:xfrm>
            <a:off x="200272" y="6346690"/>
            <a:ext cx="11941499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똑같은 과정으로 .cpp 파일도 생성</a:t>
            </a:r>
            <a:endParaRPr sz="14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Task 노드라서 Task폴더에 생성한것, Decorator나 Service는 해당 폴더에 생성하는 것을 추천</a:t>
            </a:r>
            <a:endParaRPr/>
          </a:p>
        </p:txBody>
      </p:sp>
      <p:cxnSp>
        <p:nvCxnSpPr>
          <p:cNvPr id="1128" name="Google Shape;1128;p54"/>
          <p:cNvCxnSpPr/>
          <p:nvPr/>
        </p:nvCxnSpPr>
        <p:spPr>
          <a:xfrm>
            <a:off x="0" y="373189"/>
            <a:ext cx="6661150" cy="0"/>
          </a:xfrm>
          <a:prstGeom prst="straightConnector1">
            <a:avLst/>
          </a:prstGeom>
          <a:noFill/>
          <a:ln w="19050" cap="flat" cmpd="sng">
            <a:solidFill>
              <a:srgbClr val="D810E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129" name="Google Shape;1129;p54"/>
          <p:cNvSpPr/>
          <p:nvPr/>
        </p:nvSpPr>
        <p:spPr>
          <a:xfrm>
            <a:off x="661288" y="4733149"/>
            <a:ext cx="1062802" cy="269258"/>
          </a:xfrm>
          <a:prstGeom prst="rect">
            <a:avLst/>
          </a:prstGeom>
          <a:noFill/>
          <a:ln w="1905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5" name="Google Shape;1135;p55"/>
          <p:cNvSpPr txBox="1"/>
          <p:nvPr/>
        </p:nvSpPr>
        <p:spPr>
          <a:xfrm>
            <a:off x="-1" y="0"/>
            <a:ext cx="6347405" cy="449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algun Gothic"/>
              <a:buNone/>
            </a:pPr>
            <a:r>
              <a:rPr lang="ko-KR" sz="2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Behavior Tree Tutorial : Create Node</a:t>
            </a:r>
            <a:endParaRPr sz="24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36" name="Google Shape;1136;p55"/>
          <p:cNvSpPr txBox="1"/>
          <p:nvPr/>
        </p:nvSpPr>
        <p:spPr>
          <a:xfrm>
            <a:off x="0" y="373189"/>
            <a:ext cx="412074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C++ Behavior Tree Node의 기본 구조</a:t>
            </a:r>
            <a:endParaRPr/>
          </a:p>
        </p:txBody>
      </p:sp>
      <p:pic>
        <p:nvPicPr>
          <p:cNvPr id="1137" name="Google Shape;1137;p5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834548"/>
            <a:ext cx="12192000" cy="5188903"/>
          </a:xfrm>
          <a:prstGeom prst="rect">
            <a:avLst/>
          </a:prstGeom>
          <a:noFill/>
          <a:ln>
            <a:noFill/>
          </a:ln>
        </p:spPr>
      </p:pic>
      <p:sp>
        <p:nvSpPr>
          <p:cNvPr id="1138" name="Google Shape;1138;p55"/>
          <p:cNvSpPr txBox="1"/>
          <p:nvPr/>
        </p:nvSpPr>
        <p:spPr>
          <a:xfrm>
            <a:off x="250501" y="6127791"/>
            <a:ext cx="1194149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Task_Empty를 복붙해서 작성 하면 편함</a:t>
            </a:r>
            <a:endParaRPr/>
          </a:p>
        </p:txBody>
      </p:sp>
      <p:cxnSp>
        <p:nvCxnSpPr>
          <p:cNvPr id="1139" name="Google Shape;1139;p55"/>
          <p:cNvCxnSpPr/>
          <p:nvPr/>
        </p:nvCxnSpPr>
        <p:spPr>
          <a:xfrm>
            <a:off x="0" y="373189"/>
            <a:ext cx="6661150" cy="0"/>
          </a:xfrm>
          <a:prstGeom prst="straightConnector1">
            <a:avLst/>
          </a:prstGeom>
          <a:noFill/>
          <a:ln w="19050" cap="flat" cmpd="sng">
            <a:solidFill>
              <a:srgbClr val="D810E2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4" name="Google Shape;1144;p5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2816" y="3541175"/>
            <a:ext cx="6897063" cy="2943636"/>
          </a:xfrm>
          <a:prstGeom prst="rect">
            <a:avLst/>
          </a:prstGeom>
          <a:noFill/>
          <a:ln>
            <a:noFill/>
          </a:ln>
        </p:spPr>
      </p:pic>
      <p:sp>
        <p:nvSpPr>
          <p:cNvPr id="1145" name="Google Shape;1145;p56"/>
          <p:cNvSpPr txBox="1"/>
          <p:nvPr/>
        </p:nvSpPr>
        <p:spPr>
          <a:xfrm>
            <a:off x="-1" y="0"/>
            <a:ext cx="6347405" cy="449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algun Gothic"/>
              <a:buNone/>
            </a:pPr>
            <a:r>
              <a:rPr lang="ko-KR" sz="2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Behavior Tree Tutorial : Add Node</a:t>
            </a:r>
            <a:endParaRPr sz="24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46" name="Google Shape;1146;p56"/>
          <p:cNvSpPr txBox="1"/>
          <p:nvPr/>
        </p:nvSpPr>
        <p:spPr>
          <a:xfrm>
            <a:off x="0" y="373189"/>
            <a:ext cx="359316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생성한 노드를 BT Factory에 등록</a:t>
            </a:r>
            <a:endParaRPr/>
          </a:p>
        </p:txBody>
      </p:sp>
      <p:sp>
        <p:nvSpPr>
          <p:cNvPr id="1147" name="Google Shape;1147;p56"/>
          <p:cNvSpPr txBox="1"/>
          <p:nvPr/>
        </p:nvSpPr>
        <p:spPr>
          <a:xfrm>
            <a:off x="352816" y="3123050"/>
            <a:ext cx="614172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CPPBehaviorTree.cpp</a:t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148" name="Google Shape;1148;p56"/>
          <p:cNvCxnSpPr/>
          <p:nvPr/>
        </p:nvCxnSpPr>
        <p:spPr>
          <a:xfrm>
            <a:off x="640080" y="6416040"/>
            <a:ext cx="5448300" cy="0"/>
          </a:xfrm>
          <a:prstGeom prst="straightConnector1">
            <a:avLst/>
          </a:prstGeom>
          <a:noFill/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149" name="Google Shape;1149;p56"/>
          <p:cNvSpPr txBox="1"/>
          <p:nvPr/>
        </p:nvSpPr>
        <p:spPr>
          <a:xfrm>
            <a:off x="5442049" y="6399502"/>
            <a:ext cx="6463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추가</a:t>
            </a:r>
            <a:endParaRPr/>
          </a:p>
        </p:txBody>
      </p:sp>
      <p:pic>
        <p:nvPicPr>
          <p:cNvPr id="1150" name="Google Shape;1150;p5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23821" y="1350458"/>
            <a:ext cx="3219899" cy="1247949"/>
          </a:xfrm>
          <a:prstGeom prst="rect">
            <a:avLst/>
          </a:prstGeom>
          <a:noFill/>
          <a:ln>
            <a:noFill/>
          </a:ln>
        </p:spPr>
      </p:pic>
      <p:sp>
        <p:nvSpPr>
          <p:cNvPr id="1151" name="Google Shape;1151;p56"/>
          <p:cNvSpPr txBox="1"/>
          <p:nvPr/>
        </p:nvSpPr>
        <p:spPr>
          <a:xfrm>
            <a:off x="323821" y="924302"/>
            <a:ext cx="614172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TaskNodes.h</a:t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152" name="Google Shape;1152;p56"/>
          <p:cNvCxnSpPr/>
          <p:nvPr/>
        </p:nvCxnSpPr>
        <p:spPr>
          <a:xfrm>
            <a:off x="701040" y="1896437"/>
            <a:ext cx="1965960" cy="0"/>
          </a:xfrm>
          <a:prstGeom prst="straightConnector1">
            <a:avLst/>
          </a:prstGeom>
          <a:noFill/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153" name="Google Shape;1153;p56"/>
          <p:cNvSpPr txBox="1"/>
          <p:nvPr/>
        </p:nvSpPr>
        <p:spPr>
          <a:xfrm>
            <a:off x="2302609" y="1924825"/>
            <a:ext cx="6463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추가</a:t>
            </a:r>
            <a:endParaRPr/>
          </a:p>
        </p:txBody>
      </p:sp>
      <p:cxnSp>
        <p:nvCxnSpPr>
          <p:cNvPr id="1154" name="Google Shape;1154;p56"/>
          <p:cNvCxnSpPr/>
          <p:nvPr/>
        </p:nvCxnSpPr>
        <p:spPr>
          <a:xfrm>
            <a:off x="0" y="373189"/>
            <a:ext cx="6661150" cy="0"/>
          </a:xfrm>
          <a:prstGeom prst="straightConnector1">
            <a:avLst/>
          </a:prstGeom>
          <a:noFill/>
          <a:ln w="19050" cap="flat" cmpd="sng">
            <a:solidFill>
              <a:srgbClr val="D810E2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9" name="Google Shape;1159;p5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29156" y="826596"/>
            <a:ext cx="2534004" cy="1867161"/>
          </a:xfrm>
          <a:prstGeom prst="rect">
            <a:avLst/>
          </a:prstGeom>
          <a:noFill/>
          <a:ln>
            <a:noFill/>
          </a:ln>
        </p:spPr>
      </p:pic>
      <p:sp>
        <p:nvSpPr>
          <p:cNvPr id="1160" name="Google Shape;1160;p57"/>
          <p:cNvSpPr txBox="1"/>
          <p:nvPr/>
        </p:nvSpPr>
        <p:spPr>
          <a:xfrm>
            <a:off x="-1" y="0"/>
            <a:ext cx="6347405" cy="449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algun Gothic"/>
              <a:buNone/>
            </a:pPr>
            <a:r>
              <a:rPr lang="ko-KR" sz="2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Behavior Tree Tutorial : Add Node</a:t>
            </a:r>
            <a:endParaRPr sz="24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61" name="Google Shape;1161;p57"/>
          <p:cNvSpPr txBox="1"/>
          <p:nvPr/>
        </p:nvSpPr>
        <p:spPr>
          <a:xfrm>
            <a:off x="0" y="373189"/>
            <a:ext cx="359316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생성한 노드를 BT Factory에 등록</a:t>
            </a:r>
            <a:endParaRPr/>
          </a:p>
        </p:txBody>
      </p:sp>
      <p:cxnSp>
        <p:nvCxnSpPr>
          <p:cNvPr id="1162" name="Google Shape;1162;p57"/>
          <p:cNvCxnSpPr/>
          <p:nvPr/>
        </p:nvCxnSpPr>
        <p:spPr>
          <a:xfrm>
            <a:off x="0" y="373189"/>
            <a:ext cx="6661150" cy="0"/>
          </a:xfrm>
          <a:prstGeom prst="straightConnector1">
            <a:avLst/>
          </a:prstGeom>
          <a:noFill/>
          <a:ln w="19050" cap="flat" cmpd="sng">
            <a:solidFill>
              <a:srgbClr val="D810E2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163" name="Google Shape;1163;p5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9530" y="1485041"/>
            <a:ext cx="7868748" cy="99073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64" name="Google Shape;1164;p57"/>
          <p:cNvCxnSpPr/>
          <p:nvPr/>
        </p:nvCxnSpPr>
        <p:spPr>
          <a:xfrm>
            <a:off x="3294412" y="2290721"/>
            <a:ext cx="1965960" cy="0"/>
          </a:xfrm>
          <a:prstGeom prst="straightConnector1">
            <a:avLst/>
          </a:prstGeom>
          <a:noFill/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165" name="Google Shape;1165;p57"/>
          <p:cNvSpPr txBox="1"/>
          <p:nvPr/>
        </p:nvSpPr>
        <p:spPr>
          <a:xfrm>
            <a:off x="189530" y="1115710"/>
            <a:ext cx="614172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CPPBehaviorTree.cpp</a:t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166" name="Google Shape;1166;p57"/>
          <p:cNvCxnSpPr/>
          <p:nvPr/>
        </p:nvCxnSpPr>
        <p:spPr>
          <a:xfrm>
            <a:off x="8671016" y="2475779"/>
            <a:ext cx="1286691" cy="0"/>
          </a:xfrm>
          <a:prstGeom prst="straightConnector1">
            <a:avLst/>
          </a:prstGeom>
          <a:noFill/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167" name="Google Shape;1167;p57"/>
          <p:cNvSpPr txBox="1"/>
          <p:nvPr/>
        </p:nvSpPr>
        <p:spPr>
          <a:xfrm>
            <a:off x="238341" y="3281458"/>
            <a:ext cx="9719366" cy="18004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Rule.xml을 복사하여 CPPBehaviorTree.cpp 에서 설정한 이름, 여기서는 Rule_forTraining.xml 라는 이름으로 Rule.xml 을 복사해 주세요</a:t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Rule_forTraining.xml </a:t>
            </a:r>
            <a:r>
              <a:rPr lang="ko-KR" sz="1100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=&gt;</a:t>
            </a:r>
            <a:r>
              <a:rPr lang="ko-KR" sz="1050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1100" b="1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차후 제출시 구분을 위해서 직접 개발에 들어갈 땐 반드시 여러분의 팀이름과 같이 유니크한 이름으로 바꿔주세요</a:t>
            </a:r>
            <a:endParaRPr sz="1100" b="1">
              <a:solidFill>
                <a:srgbClr val="FF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b="1">
              <a:solidFill>
                <a:srgbClr val="FF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빌드를 수행하여 생성되는 DLL와 CPPBehaviorTree.cpp 에서 설정한 XML 파일은 세트 입니다.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프로젝트를 진행하시면서 버전별로 DLL과 XML의 이름을 잘 설정하여 버전 관리를 잘하시기를 바랍니다.</a:t>
            </a:r>
            <a:endParaRPr/>
          </a:p>
        </p:txBody>
      </p:sp>
      <p:cxnSp>
        <p:nvCxnSpPr>
          <p:cNvPr id="1168" name="Google Shape;1168;p57"/>
          <p:cNvCxnSpPr/>
          <p:nvPr/>
        </p:nvCxnSpPr>
        <p:spPr>
          <a:xfrm>
            <a:off x="5381897" y="2220686"/>
            <a:ext cx="3050177" cy="255093"/>
          </a:xfrm>
          <a:prstGeom prst="straightConnector1">
            <a:avLst/>
          </a:prstGeom>
          <a:noFill/>
          <a:ln w="57150" cap="flat" cmpd="sng">
            <a:solidFill>
              <a:srgbClr val="FF0000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1169" name="Google Shape;1169;p57"/>
          <p:cNvSpPr txBox="1"/>
          <p:nvPr/>
        </p:nvSpPr>
        <p:spPr>
          <a:xfrm rot="363491">
            <a:off x="6196694" y="2436180"/>
            <a:ext cx="142058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이름 불일치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4" name="Google Shape;1174;p5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6259" y="1597603"/>
            <a:ext cx="5720635" cy="4887208"/>
          </a:xfrm>
          <a:prstGeom prst="rect">
            <a:avLst/>
          </a:prstGeom>
          <a:noFill/>
          <a:ln>
            <a:noFill/>
          </a:ln>
        </p:spPr>
      </p:pic>
      <p:sp>
        <p:nvSpPr>
          <p:cNvPr id="1175" name="Google Shape;1175;p58"/>
          <p:cNvSpPr txBox="1"/>
          <p:nvPr/>
        </p:nvSpPr>
        <p:spPr>
          <a:xfrm>
            <a:off x="-1" y="0"/>
            <a:ext cx="6347405" cy="449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algun Gothic"/>
              <a:buNone/>
            </a:pPr>
            <a:r>
              <a:rPr lang="ko-KR" sz="2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Behavior Tree Tutorial : Tree에 추가</a:t>
            </a:r>
            <a:endParaRPr/>
          </a:p>
        </p:txBody>
      </p:sp>
      <p:sp>
        <p:nvSpPr>
          <p:cNvPr id="1176" name="Google Shape;1176;p58"/>
          <p:cNvSpPr txBox="1"/>
          <p:nvPr/>
        </p:nvSpPr>
        <p:spPr>
          <a:xfrm>
            <a:off x="0" y="373189"/>
            <a:ext cx="359316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생성한 노드를 BT Factory에 등록</a:t>
            </a:r>
            <a:endParaRPr/>
          </a:p>
        </p:txBody>
      </p:sp>
      <p:sp>
        <p:nvSpPr>
          <p:cNvPr id="1177" name="Google Shape;1177;p58"/>
          <p:cNvSpPr txBox="1"/>
          <p:nvPr/>
        </p:nvSpPr>
        <p:spPr>
          <a:xfrm>
            <a:off x="205684" y="1014962"/>
            <a:ext cx="971936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Rule_forTraining.xml</a:t>
            </a:r>
            <a:endParaRPr sz="1800" b="1">
              <a:solidFill>
                <a:srgbClr val="FF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178" name="Google Shape;1178;p58"/>
          <p:cNvCxnSpPr/>
          <p:nvPr/>
        </p:nvCxnSpPr>
        <p:spPr>
          <a:xfrm rot="10800000" flipH="1">
            <a:off x="1371600" y="4128742"/>
            <a:ext cx="1988820" cy="16538"/>
          </a:xfrm>
          <a:prstGeom prst="straightConnector1">
            <a:avLst/>
          </a:prstGeom>
          <a:noFill/>
          <a:ln w="12700" cap="flat" cmpd="sng">
            <a:solidFill>
              <a:srgbClr val="FFFF0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179" name="Google Shape;1179;p58"/>
          <p:cNvSpPr txBox="1"/>
          <p:nvPr/>
        </p:nvSpPr>
        <p:spPr>
          <a:xfrm>
            <a:off x="2211169" y="4128742"/>
            <a:ext cx="332494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rgbClr val="FFFF00"/>
                </a:solidFill>
                <a:latin typeface="Malgun Gothic"/>
                <a:ea typeface="Malgun Gothic"/>
                <a:cs typeface="Malgun Gothic"/>
                <a:sym typeface="Malgun Gothic"/>
              </a:rPr>
              <a:t>&lt;Task_Pure name=“Task_Pure” BB={“BB”}/&gt; 으로 변경</a:t>
            </a:r>
            <a:endParaRPr/>
          </a:p>
        </p:txBody>
      </p:sp>
      <p:cxnSp>
        <p:nvCxnSpPr>
          <p:cNvPr id="1180" name="Google Shape;1180;p58"/>
          <p:cNvCxnSpPr/>
          <p:nvPr/>
        </p:nvCxnSpPr>
        <p:spPr>
          <a:xfrm>
            <a:off x="1371600" y="4787052"/>
            <a:ext cx="1988820" cy="0"/>
          </a:xfrm>
          <a:prstGeom prst="straightConnector1">
            <a:avLst/>
          </a:prstGeom>
          <a:noFill/>
          <a:ln w="12700" cap="flat" cmpd="sng">
            <a:solidFill>
              <a:srgbClr val="FFFF0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181" name="Google Shape;1181;p58"/>
          <p:cNvSpPr txBox="1"/>
          <p:nvPr/>
        </p:nvSpPr>
        <p:spPr>
          <a:xfrm>
            <a:off x="2211169" y="4770514"/>
            <a:ext cx="332494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rgbClr val="FFFF00"/>
                </a:solidFill>
                <a:latin typeface="Malgun Gothic"/>
                <a:ea typeface="Malgun Gothic"/>
                <a:cs typeface="Malgun Gothic"/>
                <a:sym typeface="Malgun Gothic"/>
              </a:rPr>
              <a:t>&lt;Task_Pure name=“Task_Pure” BB={“BB”}/&gt; 으로 변경</a:t>
            </a:r>
            <a:endParaRPr/>
          </a:p>
        </p:txBody>
      </p:sp>
      <p:cxnSp>
        <p:nvCxnSpPr>
          <p:cNvPr id="1182" name="Google Shape;1182;p58"/>
          <p:cNvCxnSpPr/>
          <p:nvPr/>
        </p:nvCxnSpPr>
        <p:spPr>
          <a:xfrm>
            <a:off x="0" y="373189"/>
            <a:ext cx="6661150" cy="0"/>
          </a:xfrm>
          <a:prstGeom prst="straightConnector1">
            <a:avLst/>
          </a:prstGeom>
          <a:noFill/>
          <a:ln w="19050" cap="flat" cmpd="sng">
            <a:solidFill>
              <a:srgbClr val="D810E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183" name="Google Shape;1183;p58"/>
          <p:cNvSpPr txBox="1"/>
          <p:nvPr/>
        </p:nvSpPr>
        <p:spPr>
          <a:xfrm>
            <a:off x="6720840" y="1704703"/>
            <a:ext cx="51771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복사해서 새롭게 만든 Rule_forTraing.xml을 수정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8" name="Google Shape;1188;p5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7707" y="3859584"/>
            <a:ext cx="1695687" cy="2114845"/>
          </a:xfrm>
          <a:prstGeom prst="rect">
            <a:avLst/>
          </a:prstGeom>
          <a:noFill/>
          <a:ln>
            <a:noFill/>
          </a:ln>
        </p:spPr>
      </p:pic>
      <p:sp>
        <p:nvSpPr>
          <p:cNvPr id="1189" name="Google Shape;1189;p59"/>
          <p:cNvSpPr txBox="1"/>
          <p:nvPr/>
        </p:nvSpPr>
        <p:spPr>
          <a:xfrm>
            <a:off x="-1" y="0"/>
            <a:ext cx="6347405" cy="449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algun Gothic"/>
              <a:buNone/>
            </a:pPr>
            <a:r>
              <a:rPr lang="ko-KR" sz="2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Behavior Tree Tutorial : 빌드</a:t>
            </a:r>
            <a:endParaRPr/>
          </a:p>
        </p:txBody>
      </p:sp>
      <p:sp>
        <p:nvSpPr>
          <p:cNvPr id="1190" name="Google Shape;1190;p59"/>
          <p:cNvSpPr txBox="1"/>
          <p:nvPr/>
        </p:nvSpPr>
        <p:spPr>
          <a:xfrm>
            <a:off x="5525403" y="1327196"/>
            <a:ext cx="510588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빌드를 하면 </a:t>
            </a:r>
            <a:endParaRPr sz="14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 압축푼프로젝트위치/bin/debug.x64 폴더에 dll파일이 생성됨</a:t>
            </a:r>
            <a:endParaRPr/>
          </a:p>
        </p:txBody>
      </p:sp>
      <p:sp>
        <p:nvSpPr>
          <p:cNvPr id="1191" name="Google Shape;1191;p59"/>
          <p:cNvSpPr txBox="1"/>
          <p:nvPr/>
        </p:nvSpPr>
        <p:spPr>
          <a:xfrm>
            <a:off x="1005840" y="2867469"/>
            <a:ext cx="963186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DLL</a:t>
            </a: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 파일과 트리 </a:t>
            </a:r>
            <a:r>
              <a:rPr lang="ko-KR" sz="1800">
                <a:solidFill>
                  <a:srgbClr val="00B050"/>
                </a:solidFill>
                <a:latin typeface="Malgun Gothic"/>
                <a:ea typeface="Malgun Gothic"/>
                <a:cs typeface="Malgun Gothic"/>
                <a:sym typeface="Malgun Gothic"/>
              </a:rPr>
              <a:t>XML</a:t>
            </a: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 파일을 학습환경(접속기) 폴더에 넣으면 Behavior Tree 개발하기 완료</a:t>
            </a:r>
            <a:endParaRPr/>
          </a:p>
        </p:txBody>
      </p:sp>
      <p:pic>
        <p:nvPicPr>
          <p:cNvPr id="1192" name="Google Shape;1192;p59"/>
          <p:cNvPicPr preferRelativeResize="0"/>
          <p:nvPr/>
        </p:nvPicPr>
        <p:blipFill rotWithShape="1">
          <a:blip r:embed="rId4">
            <a:alphaModFix/>
          </a:blip>
          <a:srcRect l="-1" r="71986"/>
          <a:stretch/>
        </p:blipFill>
        <p:spPr>
          <a:xfrm>
            <a:off x="407948" y="883885"/>
            <a:ext cx="1595206" cy="162528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93" name="Google Shape;1193;p59"/>
          <p:cNvCxnSpPr/>
          <p:nvPr/>
        </p:nvCxnSpPr>
        <p:spPr>
          <a:xfrm>
            <a:off x="428226" y="1552245"/>
            <a:ext cx="853440" cy="0"/>
          </a:xfrm>
          <a:prstGeom prst="straightConnector1">
            <a:avLst/>
          </a:prstGeom>
          <a:noFill/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194" name="Google Shape;1194;p59"/>
          <p:cNvSpPr txBox="1"/>
          <p:nvPr/>
        </p:nvSpPr>
        <p:spPr>
          <a:xfrm>
            <a:off x="4432627" y="4352657"/>
            <a:ext cx="4689320" cy="369332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압축푼프로젝트위치\DogFightEnv\Release 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195" name="Google Shape;1195;p59"/>
          <p:cNvCxnSpPr>
            <a:stCxn id="1196" idx="2"/>
            <a:endCxn id="1194" idx="0"/>
          </p:cNvCxnSpPr>
          <p:nvPr/>
        </p:nvCxnSpPr>
        <p:spPr>
          <a:xfrm rot="-5400000" flipH="1">
            <a:off x="5305071" y="2880429"/>
            <a:ext cx="1173300" cy="1770900"/>
          </a:xfrm>
          <a:prstGeom prst="bentConnector3">
            <a:avLst>
              <a:gd name="adj1" fmla="val 50005"/>
            </a:avLst>
          </a:prstGeom>
          <a:noFill/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197" name="Google Shape;1197;p59"/>
          <p:cNvCxnSpPr/>
          <p:nvPr/>
        </p:nvCxnSpPr>
        <p:spPr>
          <a:xfrm>
            <a:off x="0" y="373189"/>
            <a:ext cx="6661150" cy="0"/>
          </a:xfrm>
          <a:prstGeom prst="straightConnector1">
            <a:avLst/>
          </a:prstGeom>
          <a:noFill/>
          <a:ln w="19050" cap="flat" cmpd="sng">
            <a:solidFill>
              <a:srgbClr val="D810E2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198" name="Google Shape;1198;p5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05889" y="1029685"/>
            <a:ext cx="1800476" cy="133368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99" name="Google Shape;1199;p59"/>
          <p:cNvCxnSpPr>
            <a:stCxn id="1200" idx="2"/>
            <a:endCxn id="1201" idx="0"/>
          </p:cNvCxnSpPr>
          <p:nvPr/>
        </p:nvCxnSpPr>
        <p:spPr>
          <a:xfrm rot="5400000">
            <a:off x="1946617" y="734052"/>
            <a:ext cx="1511100" cy="2841000"/>
          </a:xfrm>
          <a:prstGeom prst="bentConnector3">
            <a:avLst>
              <a:gd name="adj1" fmla="val 75839"/>
            </a:avLst>
          </a:prstGeom>
          <a:noFill/>
          <a:ln w="19050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202" name="Google Shape;1202;p59"/>
          <p:cNvCxnSpPr>
            <a:stCxn id="1203" idx="3"/>
          </p:cNvCxnSpPr>
          <p:nvPr/>
        </p:nvCxnSpPr>
        <p:spPr>
          <a:xfrm rot="10800000" flipH="1">
            <a:off x="1666874" y="3236705"/>
            <a:ext cx="1506900" cy="2451000"/>
          </a:xfrm>
          <a:prstGeom prst="bentConnector2">
            <a:avLst/>
          </a:prstGeom>
          <a:noFill/>
          <a:ln w="19050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203" name="Google Shape;1203;p59"/>
          <p:cNvSpPr/>
          <p:nvPr/>
        </p:nvSpPr>
        <p:spPr>
          <a:xfrm>
            <a:off x="407947" y="5553076"/>
            <a:ext cx="1258927" cy="269258"/>
          </a:xfrm>
          <a:prstGeom prst="rect">
            <a:avLst/>
          </a:prstGeom>
          <a:noFill/>
          <a:ln w="1905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00" name="Google Shape;1200;p59"/>
          <p:cNvSpPr/>
          <p:nvPr/>
        </p:nvSpPr>
        <p:spPr>
          <a:xfrm>
            <a:off x="3451993" y="1129744"/>
            <a:ext cx="1341348" cy="269258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01" name="Google Shape;1201;p59"/>
          <p:cNvSpPr/>
          <p:nvPr/>
        </p:nvSpPr>
        <p:spPr>
          <a:xfrm>
            <a:off x="1005840" y="2909971"/>
            <a:ext cx="551652" cy="269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96" name="Google Shape;1196;p59"/>
          <p:cNvSpPr/>
          <p:nvPr/>
        </p:nvSpPr>
        <p:spPr>
          <a:xfrm>
            <a:off x="4122668" y="2909971"/>
            <a:ext cx="1767205" cy="269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204" name="Google Shape;1204;p59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839336" y="6081024"/>
            <a:ext cx="5258534" cy="552527"/>
          </a:xfrm>
          <a:prstGeom prst="rect">
            <a:avLst/>
          </a:prstGeom>
          <a:noFill/>
          <a:ln>
            <a:noFill/>
          </a:ln>
        </p:spPr>
      </p:pic>
      <p:sp>
        <p:nvSpPr>
          <p:cNvPr id="1205" name="Google Shape;1205;p59"/>
          <p:cNvSpPr txBox="1"/>
          <p:nvPr/>
        </p:nvSpPr>
        <p:spPr>
          <a:xfrm>
            <a:off x="6777287" y="5530804"/>
            <a:ext cx="359091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Vscode : run_unreal_inference.py</a:t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206" name="Google Shape;1206;p59"/>
          <p:cNvCxnSpPr/>
          <p:nvPr/>
        </p:nvCxnSpPr>
        <p:spPr>
          <a:xfrm>
            <a:off x="9245424" y="6357287"/>
            <a:ext cx="1442224" cy="0"/>
          </a:xfrm>
          <a:prstGeom prst="straightConnector1">
            <a:avLst/>
          </a:prstGeom>
          <a:noFill/>
          <a:ln w="19050" cap="flat" cmpd="sng">
            <a:solidFill>
              <a:srgbClr val="FFFF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207" name="Google Shape;1207;p59"/>
          <p:cNvCxnSpPr/>
          <p:nvPr/>
        </p:nvCxnSpPr>
        <p:spPr>
          <a:xfrm>
            <a:off x="9836439" y="6539424"/>
            <a:ext cx="1442224" cy="0"/>
          </a:xfrm>
          <a:prstGeom prst="straightConnector1">
            <a:avLst/>
          </a:prstGeom>
          <a:noFill/>
          <a:ln w="19050" cap="flat" cmpd="sng">
            <a:solidFill>
              <a:srgbClr val="FFFF00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2" name="Google Shape;1212;p60"/>
          <p:cNvSpPr txBox="1"/>
          <p:nvPr/>
        </p:nvSpPr>
        <p:spPr>
          <a:xfrm>
            <a:off x="-1" y="0"/>
            <a:ext cx="8039101" cy="449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algun Gothic"/>
              <a:buNone/>
            </a:pPr>
            <a:r>
              <a:rPr lang="ko-KR" sz="2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Behavior Tree 기반 AI 테스트 해보기</a:t>
            </a:r>
            <a:endParaRPr/>
          </a:p>
        </p:txBody>
      </p:sp>
      <p:cxnSp>
        <p:nvCxnSpPr>
          <p:cNvPr id="1213" name="Google Shape;1213;p60"/>
          <p:cNvCxnSpPr/>
          <p:nvPr/>
        </p:nvCxnSpPr>
        <p:spPr>
          <a:xfrm>
            <a:off x="0" y="373189"/>
            <a:ext cx="7708900" cy="0"/>
          </a:xfrm>
          <a:prstGeom prst="straightConnector1">
            <a:avLst/>
          </a:prstGeom>
          <a:noFill/>
          <a:ln w="19050" cap="flat" cmpd="sng">
            <a:solidFill>
              <a:srgbClr val="D810E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214" name="Google Shape;1214;p60"/>
          <p:cNvSpPr txBox="1"/>
          <p:nvPr/>
        </p:nvSpPr>
        <p:spPr>
          <a:xfrm>
            <a:off x="603250" y="1016000"/>
            <a:ext cx="680506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1) 교전 서버 실행 : 같이 강의를 듣고 있는 팀원 중 아무나 한 명</a:t>
            </a:r>
            <a:endParaRPr/>
          </a:p>
        </p:txBody>
      </p:sp>
      <p:sp>
        <p:nvSpPr>
          <p:cNvPr id="1215" name="Google Shape;1215;p60"/>
          <p:cNvSpPr txBox="1"/>
          <p:nvPr/>
        </p:nvSpPr>
        <p:spPr>
          <a:xfrm>
            <a:off x="603249" y="1767277"/>
            <a:ext cx="517481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2) 원하는 시나리오 설정(이번에는 HABFM 선택)</a:t>
            </a:r>
            <a:endParaRPr/>
          </a:p>
        </p:txBody>
      </p:sp>
      <p:sp>
        <p:nvSpPr>
          <p:cNvPr id="1216" name="Google Shape;1216;p60"/>
          <p:cNvSpPr txBox="1"/>
          <p:nvPr/>
        </p:nvSpPr>
        <p:spPr>
          <a:xfrm>
            <a:off x="603249" y="2333888"/>
            <a:ext cx="277883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3) OpenServer 버튼 클릭</a:t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217" name="Google Shape;1217;p60"/>
          <p:cNvCxnSpPr>
            <a:stCxn id="1215" idx="3"/>
            <a:endCxn id="1216" idx="3"/>
          </p:cNvCxnSpPr>
          <p:nvPr/>
        </p:nvCxnSpPr>
        <p:spPr>
          <a:xfrm flipH="1">
            <a:off x="3381964" y="1951943"/>
            <a:ext cx="2396100" cy="566700"/>
          </a:xfrm>
          <a:prstGeom prst="bentConnector3">
            <a:avLst>
              <a:gd name="adj1" fmla="val -9541"/>
            </a:avLst>
          </a:prstGeom>
          <a:noFill/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218" name="Google Shape;1218;p60"/>
          <p:cNvSpPr txBox="1"/>
          <p:nvPr/>
        </p:nvSpPr>
        <p:spPr>
          <a:xfrm>
            <a:off x="6340200" y="1951943"/>
            <a:ext cx="451758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둘의 순서는 상관없지만 무조건 필요 과정</a:t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19" name="Google Shape;1219;p60"/>
          <p:cNvSpPr txBox="1"/>
          <p:nvPr/>
        </p:nvSpPr>
        <p:spPr>
          <a:xfrm>
            <a:off x="603249" y="3085165"/>
            <a:ext cx="9675149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4) Vscode(학습환경&amp;접속기)에서 접속기 실행</a:t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터미널에서 다음 명령어 실행</a:t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1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python run_unreal_inference.py --mode bt --team-name TestLaptop --server-ip 123.456.789.529 --server-port 9999</a:t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220" name="Google Shape;1220;p60"/>
          <p:cNvCxnSpPr/>
          <p:nvPr/>
        </p:nvCxnSpPr>
        <p:spPr>
          <a:xfrm>
            <a:off x="7264400" y="3937000"/>
            <a:ext cx="1225550" cy="0"/>
          </a:xfrm>
          <a:prstGeom prst="straightConnector1">
            <a:avLst/>
          </a:prstGeom>
          <a:noFill/>
          <a:ln w="19050" cap="flat" cmpd="sng">
            <a:solidFill>
              <a:srgbClr val="FFFF0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221" name="Google Shape;1221;p60"/>
          <p:cNvSpPr txBox="1"/>
          <p:nvPr/>
        </p:nvSpPr>
        <p:spPr>
          <a:xfrm>
            <a:off x="7519566" y="3991846"/>
            <a:ext cx="1039067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rgbClr val="FFFF00"/>
                </a:solidFill>
                <a:latin typeface="Malgun Gothic"/>
                <a:ea typeface="Malgun Gothic"/>
                <a:cs typeface="Malgun Gothic"/>
                <a:sym typeface="Malgun Gothic"/>
              </a:rPr>
              <a:t>교전 서버 IP</a:t>
            </a:r>
            <a:endParaRPr sz="1200">
              <a:solidFill>
                <a:srgbClr val="FFFF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22" name="Google Shape;1222;p60"/>
          <p:cNvSpPr txBox="1"/>
          <p:nvPr/>
        </p:nvSpPr>
        <p:spPr>
          <a:xfrm>
            <a:off x="808370" y="4633884"/>
            <a:ext cx="8249374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rgbClr val="FFFF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최소 2명 필요(서버+접속기, 접속기)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rgbClr val="FFFF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앞에 스위치 허브를 설치해뒀습니다. 서로서로 테스트를 해보시기 바랍니다.</a:t>
            </a:r>
            <a:endParaRPr sz="1800">
              <a:solidFill>
                <a:srgbClr val="FFFF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223" name="Google Shape;1223;p60"/>
          <p:cNvCxnSpPr>
            <a:endCxn id="1218" idx="1"/>
          </p:cNvCxnSpPr>
          <p:nvPr/>
        </p:nvCxnSpPr>
        <p:spPr>
          <a:xfrm>
            <a:off x="6019800" y="2136609"/>
            <a:ext cx="320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224" name="Google Shape;1224;p60"/>
          <p:cNvSpPr txBox="1"/>
          <p:nvPr/>
        </p:nvSpPr>
        <p:spPr>
          <a:xfrm>
            <a:off x="808370" y="5708328"/>
            <a:ext cx="8519779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>
                <a:solidFill>
                  <a:srgbClr val="D810E2"/>
                </a:solidFill>
                <a:latin typeface="Malgun Gothic"/>
                <a:ea typeface="Malgun Gothic"/>
                <a:cs typeface="Malgun Gothic"/>
                <a:sym typeface="Malgun Gothic"/>
              </a:rPr>
              <a:t>지금부터 노드와 트리를 스스로 만들어서 테스트를 진행해주세요</a:t>
            </a:r>
            <a:endParaRPr sz="2000">
              <a:solidFill>
                <a:srgbClr val="D810E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D810E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>
                <a:solidFill>
                  <a:srgbClr val="D810E2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문제가 있는 사람은 조교나 강사들을 호출해주세요</a:t>
            </a:r>
            <a:endParaRPr/>
          </a:p>
        </p:txBody>
      </p:sp>
      <p:cxnSp>
        <p:nvCxnSpPr>
          <p:cNvPr id="1225" name="Google Shape;1225;p60"/>
          <p:cNvCxnSpPr/>
          <p:nvPr/>
        </p:nvCxnSpPr>
        <p:spPr>
          <a:xfrm>
            <a:off x="5440823" y="3944995"/>
            <a:ext cx="801226" cy="0"/>
          </a:xfrm>
          <a:prstGeom prst="straightConnector1">
            <a:avLst/>
          </a:prstGeom>
          <a:noFill/>
          <a:ln w="19050" cap="flat" cmpd="sng">
            <a:solidFill>
              <a:srgbClr val="00B0F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226" name="Google Shape;1226;p60"/>
          <p:cNvSpPr txBox="1"/>
          <p:nvPr/>
        </p:nvSpPr>
        <p:spPr>
          <a:xfrm>
            <a:off x="5459681" y="4008495"/>
            <a:ext cx="700833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rgbClr val="00B0F0"/>
                </a:solidFill>
                <a:latin typeface="Malgun Gothic"/>
                <a:ea typeface="Malgun Gothic"/>
                <a:cs typeface="Malgun Gothic"/>
                <a:sym typeface="Malgun Gothic"/>
              </a:rPr>
              <a:t>팀 이름</a:t>
            </a:r>
            <a:endParaRPr sz="1200">
              <a:solidFill>
                <a:srgbClr val="00B0F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227" name="Google Shape;1227;p6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85990" y="285852"/>
            <a:ext cx="3002760" cy="16893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3958</Words>
  <Application>Microsoft Office PowerPoint</Application>
  <PresentationFormat>와이드스크린</PresentationFormat>
  <Paragraphs>791</Paragraphs>
  <Slides>53</Slides>
  <Notes>53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53</vt:i4>
      </vt:variant>
    </vt:vector>
  </HeadingPairs>
  <TitlesOfParts>
    <vt:vector size="58" baseType="lpstr">
      <vt:lpstr>Noto Sans KR</vt:lpstr>
      <vt:lpstr>Malgun Gothic</vt:lpstr>
      <vt:lpstr>Cascadia Mono</vt:lpstr>
      <vt:lpstr>Arial</vt:lpstr>
      <vt:lpstr>Office 테마</vt:lpstr>
      <vt:lpstr>2026 AI Pilot Top Gun Challenge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chang young jang</dc:creator>
  <cp:lastModifiedBy>류지안(***3***213)</cp:lastModifiedBy>
  <cp:revision>1</cp:revision>
  <dcterms:created xsi:type="dcterms:W3CDTF">2026-04-21T08:21:42Z</dcterms:created>
  <dcterms:modified xsi:type="dcterms:W3CDTF">2026-06-22T10:07:53Z</dcterms:modified>
</cp:coreProperties>
</file>